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c7fe71dd5104cfc" /><Relationship Type="http://schemas.openxmlformats.org/officeDocument/2006/relationships/extended-properties" Target="/docProps/app.xml" Id="R3c68058314f7449e" /><Relationship Type="http://schemas.openxmlformats.org/officeDocument/2006/relationships/officeDocument" Target="/ppt/presentation.xml" Id="R81fe60250551400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8d33002f9a244d9"/>
  </p:sldMasterIdLst>
  <p:notesMasterIdLst>
    <p:notesMasterId xmlns:r="http://schemas.openxmlformats.org/officeDocument/2006/relationships" r:id="R788206af8eed4c8e"/>
  </p:notesMasterIdLst>
  <p:sldIdLst>
    <p:sldId xmlns:r="http://schemas.openxmlformats.org/officeDocument/2006/relationships" id="256" r:id="Ra4dc8e7795a6421d"/>
    <p:sldId xmlns:r="http://schemas.openxmlformats.org/officeDocument/2006/relationships" id="257" r:id="R3d491e1aa72b462d"/>
    <p:sldId xmlns:r="http://schemas.openxmlformats.org/officeDocument/2006/relationships" id="258" r:id="R1be5a2bcd3b54f4a"/>
    <p:sldId xmlns:r="http://schemas.openxmlformats.org/officeDocument/2006/relationships" id="259" r:id="Rfb8a6ebca9e44676"/>
    <p:sldId xmlns:r="http://schemas.openxmlformats.org/officeDocument/2006/relationships" id="260" r:id="Rfbc682d6ec044422"/>
    <p:sldId xmlns:r="http://schemas.openxmlformats.org/officeDocument/2006/relationships" id="261" r:id="Rb4ec1a403250457e"/>
    <p:sldId xmlns:r="http://schemas.openxmlformats.org/officeDocument/2006/relationships" id="262" r:id="Rfd70d4923fef46b0"/>
    <p:sldId xmlns:r="http://schemas.openxmlformats.org/officeDocument/2006/relationships" id="263" r:id="Rb49c0d5b0ca34675"/>
    <p:sldId xmlns:r="http://schemas.openxmlformats.org/officeDocument/2006/relationships" id="264" r:id="R884f1e3174d14908"/>
    <p:sldId xmlns:r="http://schemas.openxmlformats.org/officeDocument/2006/relationships" id="265" r:id="Ra5a2accdaed743e2"/>
    <p:sldId xmlns:r="http://schemas.openxmlformats.org/officeDocument/2006/relationships" id="266" r:id="R6b20d1e089aa4840"/>
    <p:sldId xmlns:r="http://schemas.openxmlformats.org/officeDocument/2006/relationships" id="267" r:id="R0421d9dbbfe243a2"/>
    <p:sldId xmlns:r="http://schemas.openxmlformats.org/officeDocument/2006/relationships" id="268" r:id="R5e37da24326c49fb"/>
    <p:sldId xmlns:r="http://schemas.openxmlformats.org/officeDocument/2006/relationships" id="269" r:id="R207fcb585fc04a01"/>
    <p:sldId xmlns:r="http://schemas.openxmlformats.org/officeDocument/2006/relationships" id="270" r:id="R74f1c7fb278f45c8"/>
    <p:sldId xmlns:r="http://schemas.openxmlformats.org/officeDocument/2006/relationships" id="271" r:id="Rc01a242048c04efc"/>
    <p:sldId xmlns:r="http://schemas.openxmlformats.org/officeDocument/2006/relationships" id="272" r:id="R4f82c2ade0c44e8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581cbd83d24b7d" /><Relationship Type="http://schemas.openxmlformats.org/officeDocument/2006/relationships/slideMaster" Target="/ppt/slideMasters/slideMaster1.xml" Id="R98d33002f9a244d9" /><Relationship Type="http://schemas.openxmlformats.org/officeDocument/2006/relationships/notesMaster" Target="/ppt/notesMasters/notesMaster1.xml" Id="R788206af8eed4c8e" /><Relationship Type="http://schemas.openxmlformats.org/officeDocument/2006/relationships/presProps" Target="/ppt/presProps.xml" Id="R178689e731d749be" /><Relationship Type="http://schemas.openxmlformats.org/officeDocument/2006/relationships/tableStyles" Target="/ppt/tableStyles.xml" Id="Rc413e658faf74ad8" /><Relationship Type="http://schemas.openxmlformats.org/officeDocument/2006/relationships/slide" Target="/ppt/slides/slide1.xml" Id="Ra4dc8e7795a6421d" /><Relationship Type="http://schemas.openxmlformats.org/officeDocument/2006/relationships/slide" Target="/ppt/slides/slide2.xml" Id="R3d491e1aa72b462d" /><Relationship Type="http://schemas.openxmlformats.org/officeDocument/2006/relationships/slide" Target="/ppt/slides/slide3.xml" Id="R1be5a2bcd3b54f4a" /><Relationship Type="http://schemas.openxmlformats.org/officeDocument/2006/relationships/slide" Target="/ppt/slides/slide4.xml" Id="Rfb8a6ebca9e44676" /><Relationship Type="http://schemas.openxmlformats.org/officeDocument/2006/relationships/slide" Target="/ppt/slides/slide5.xml" Id="Rfbc682d6ec044422" /><Relationship Type="http://schemas.openxmlformats.org/officeDocument/2006/relationships/slide" Target="/ppt/slides/slide6.xml" Id="Rb4ec1a403250457e" /><Relationship Type="http://schemas.openxmlformats.org/officeDocument/2006/relationships/slide" Target="/ppt/slides/slide7.xml" Id="Rfd70d4923fef46b0" /><Relationship Type="http://schemas.openxmlformats.org/officeDocument/2006/relationships/slide" Target="/ppt/slides/slide8.xml" Id="Rb49c0d5b0ca34675" /><Relationship Type="http://schemas.openxmlformats.org/officeDocument/2006/relationships/slide" Target="/ppt/slides/slide9.xml" Id="R884f1e3174d14908" /><Relationship Type="http://schemas.openxmlformats.org/officeDocument/2006/relationships/slide" Target="/ppt/slides/slide10.xml" Id="Ra5a2accdaed743e2" /><Relationship Type="http://schemas.openxmlformats.org/officeDocument/2006/relationships/slide" Target="/ppt/slides/slide11.xml" Id="R6b20d1e089aa4840" /><Relationship Type="http://schemas.openxmlformats.org/officeDocument/2006/relationships/slide" Target="/ppt/slides/slide12.xml" Id="R0421d9dbbfe243a2" /><Relationship Type="http://schemas.openxmlformats.org/officeDocument/2006/relationships/slide" Target="/ppt/slides/slide13.xml" Id="R5e37da24326c49fb" /><Relationship Type="http://schemas.openxmlformats.org/officeDocument/2006/relationships/slide" Target="/ppt/slides/slide14.xml" Id="R207fcb585fc04a01" /><Relationship Type="http://schemas.openxmlformats.org/officeDocument/2006/relationships/slide" Target="/ppt/slides/slide15.xml" Id="R74f1c7fb278f45c8" /><Relationship Type="http://schemas.openxmlformats.org/officeDocument/2006/relationships/slide" Target="/ppt/slides/slide16.xml" Id="Rc01a242048c04efc" /><Relationship Type="http://schemas.openxmlformats.org/officeDocument/2006/relationships/slide" Target="/ppt/slides/slide17.xml" Id="R4f82c2ade0c44e8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e549895c9c54e8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9139f1f49444b5e" /><Relationship Type="http://schemas.openxmlformats.org/officeDocument/2006/relationships/notesMaster" Target="/ppt/notesMasters/notesMaster1.xml" Id="R57ae881ab3d8406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07392160ce243ce" /><Relationship Type="http://schemas.openxmlformats.org/officeDocument/2006/relationships/notesMaster" Target="/ppt/notesMasters/notesMaster1.xml" Id="R784062a9b231401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d6fc46f75654c6e" /><Relationship Type="http://schemas.openxmlformats.org/officeDocument/2006/relationships/notesMaster" Target="/ppt/notesMasters/notesMaster1.xml" Id="R60cee8af690a49e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fd6b4fcdca54fbf" /><Relationship Type="http://schemas.openxmlformats.org/officeDocument/2006/relationships/notesMaster" Target="/ppt/notesMasters/notesMaster1.xml" Id="R4c1a4e594fb2414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694077439014b1d" /><Relationship Type="http://schemas.openxmlformats.org/officeDocument/2006/relationships/notesMaster" Target="/ppt/notesMasters/notesMaster1.xml" Id="Rc66db7ad9d274fb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fe2e1215b3c46f8" /><Relationship Type="http://schemas.openxmlformats.org/officeDocument/2006/relationships/notesMaster" Target="/ppt/notesMasters/notesMaster1.xml" Id="R407ddee025694e9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48484ffe1d949b7" /><Relationship Type="http://schemas.openxmlformats.org/officeDocument/2006/relationships/notesMaster" Target="/ppt/notesMasters/notesMaster1.xml" Id="R49c8e5e447cb476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ed4e689c1ec4128" /><Relationship Type="http://schemas.openxmlformats.org/officeDocument/2006/relationships/notesMaster" Target="/ppt/notesMasters/notesMaster1.xml" Id="R3450bcfb3d4b4c1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cd996c94f854e9e" /><Relationship Type="http://schemas.openxmlformats.org/officeDocument/2006/relationships/notesMaster" Target="/ppt/notesMasters/notesMaster1.xml" Id="R41750a408b2b45a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4c40d19fac74702" /><Relationship Type="http://schemas.openxmlformats.org/officeDocument/2006/relationships/notesMaster" Target="/ppt/notesMasters/notesMaster1.xml" Id="R7e267c0abe9243b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7abf7e2f48d4e5f" /><Relationship Type="http://schemas.openxmlformats.org/officeDocument/2006/relationships/notesMaster" Target="/ppt/notesMasters/notesMaster1.xml" Id="R0430908a866449e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8ba4a367d1a42a1" /><Relationship Type="http://schemas.openxmlformats.org/officeDocument/2006/relationships/notesMaster" Target="/ppt/notesMasters/notesMaster1.xml" Id="Rf25ec531993e44a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3434549ff054b4c" /><Relationship Type="http://schemas.openxmlformats.org/officeDocument/2006/relationships/notesMaster" Target="/ppt/notesMasters/notesMaster1.xml" Id="R9d93b5445334457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fb58aa1e8b3437e" /><Relationship Type="http://schemas.openxmlformats.org/officeDocument/2006/relationships/notesMaster" Target="/ppt/notesMasters/notesMaster1.xml" Id="R61a3d8b39b34448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ceb281073d94fc4" /><Relationship Type="http://schemas.openxmlformats.org/officeDocument/2006/relationships/notesMaster" Target="/ppt/notesMasters/notesMaster1.xml" Id="Reb6bb38c120e438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b273ae652854f15" /><Relationship Type="http://schemas.openxmlformats.org/officeDocument/2006/relationships/notesMaster" Target="/ppt/notesMasters/notesMaster1.xml" Id="Rfb7e3aa22f5c48e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1494d50376e4a69" /><Relationship Type="http://schemas.openxmlformats.org/officeDocument/2006/relationships/notesMaster" Target="/ppt/notesMasters/notesMaster1.xml" Id="R6bbb3556a928402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cda96c8a61438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7ae39e8055a425d" /><Relationship Type="http://schemas.openxmlformats.org/officeDocument/2006/relationships/slideLayout" Target="/ppt/slideLayouts/slideLayout1.xml" Id="Rbaedcdced539421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aedcdced539421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3e8111bca64cb1" /><Relationship Type="http://schemas.openxmlformats.org/officeDocument/2006/relationships/image" Target="/ppt/media/image.png" Id="R8d09b657239e41ac" /><Relationship Type="http://schemas.openxmlformats.org/officeDocument/2006/relationships/notesSlide" Target="/ppt/notesSlides/notesSlide1.xml" Id="R85d911af6e744db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94a528f036489c" /><Relationship Type="http://schemas.openxmlformats.org/officeDocument/2006/relationships/notesSlide" Target="/ppt/notesSlides/notesSlide2.xml" Id="R42fdd0414cda4c7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2e2eb60809480a" /><Relationship Type="http://schemas.openxmlformats.org/officeDocument/2006/relationships/image" Target="/ppt/media/image2.png" Id="R81944d00a44d4e14" /><Relationship Type="http://schemas.openxmlformats.org/officeDocument/2006/relationships/notesSlide" Target="/ppt/notesSlides/notesSlide3.xml" Id="Rc95fc8513e7e4c4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1745298c4b4ae1" /><Relationship Type="http://schemas.openxmlformats.org/officeDocument/2006/relationships/notesSlide" Target="/ppt/notesSlides/notesSlide4.xml" Id="R58c66e6c80ec482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bec78b9cac4ff7" /><Relationship Type="http://schemas.openxmlformats.org/officeDocument/2006/relationships/image" Target="/ppt/media/image3.png" Id="Rb6e50e3a6b9246e9" /><Relationship Type="http://schemas.openxmlformats.org/officeDocument/2006/relationships/notesSlide" Target="/ppt/notesSlides/notesSlide5.xml" Id="R52a4435d1a3c4b4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03f786f29e4910" /><Relationship Type="http://schemas.openxmlformats.org/officeDocument/2006/relationships/notesSlide" Target="/ppt/notesSlides/notesSlide6.xml" Id="Ree118cddc5d1448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aa4104e67849c3" /><Relationship Type="http://schemas.openxmlformats.org/officeDocument/2006/relationships/notesSlide" Target="/ppt/notesSlides/notesSlide7.xml" Id="R8bca53ab5f884a1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a0a8b3788d4c30" /><Relationship Type="http://schemas.openxmlformats.org/officeDocument/2006/relationships/image" Target="/ppt/media/image4.png" Id="R68218ad05b324fc1" /><Relationship Type="http://schemas.openxmlformats.org/officeDocument/2006/relationships/image" Target="/ppt/media/image5.png" Id="R1d2b765111fe41ed" /><Relationship Type="http://schemas.openxmlformats.org/officeDocument/2006/relationships/image" Target="/ppt/media/image6.png" Id="Rf0860c830cc24057" /><Relationship Type="http://schemas.openxmlformats.org/officeDocument/2006/relationships/notesSlide" Target="/ppt/notesSlides/notesSlide8.xml" Id="R6f67de4fdc354fa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2bdd5365534991" /><Relationship Type="http://schemas.openxmlformats.org/officeDocument/2006/relationships/image" Target="/ppt/media/image7.png" Id="R57ea3533a4334743" /><Relationship Type="http://schemas.openxmlformats.org/officeDocument/2006/relationships/notesSlide" Target="/ppt/notesSlides/notesSlide9.xml" Id="R0354691a6c134ea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3b210c1b0843e3" /><Relationship Type="http://schemas.openxmlformats.org/officeDocument/2006/relationships/notesSlide" Target="/ppt/notesSlides/notesSlide10.xml" Id="R77db832a471749b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87b21ffff84f38" /><Relationship Type="http://schemas.openxmlformats.org/officeDocument/2006/relationships/notesSlide" Target="/ppt/notesSlides/notesSlide11.xml" Id="R97d312964fb2449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36f5203bf74055" /><Relationship Type="http://schemas.openxmlformats.org/officeDocument/2006/relationships/notesSlide" Target="/ppt/notesSlides/notesSlide12.xml" Id="R13aa6f3bf14c469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a837d9dc414820" /><Relationship Type="http://schemas.openxmlformats.org/officeDocument/2006/relationships/notesSlide" Target="/ppt/notesSlides/notesSlide13.xml" Id="R3366c3295db64fe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c4c0f03b694081" /><Relationship Type="http://schemas.openxmlformats.org/officeDocument/2006/relationships/notesSlide" Target="/ppt/notesSlides/notesSlide14.xml" Id="Ra5096edbcfd949f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a3d3aef9de48cb" /><Relationship Type="http://schemas.openxmlformats.org/officeDocument/2006/relationships/notesSlide" Target="/ppt/notesSlides/notesSlide15.xml" Id="R11a5c67fd811417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b1cf20efbc4b8e" /><Relationship Type="http://schemas.openxmlformats.org/officeDocument/2006/relationships/notesSlide" Target="/ppt/notesSlides/notesSlide16.xml" Id="Rd036908431fc4a2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bc157ae3694dfa" /><Relationship Type="http://schemas.openxmlformats.org/officeDocument/2006/relationships/image" Target="/ppt/media/image8.png" Id="R363edf43dfcb48ee" /><Relationship Type="http://schemas.openxmlformats.org/officeDocument/2006/relationships/notesSlide" Target="/ppt/notesSlides/notesSlide17.xml" Id="Rbfb2f79bba58433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19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09b657239e41ac"/>
          <a:srcRect xmlns:a="http://schemas.openxmlformats.org/drawingml/2006/main" l="12639" t="0" r="1263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67550" y="0"/>
            <a:ext cx="51244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shape-0002">
            <a:extLst xmlns:a="http://schemas.openxmlformats.org/drawingml/2006/main">
              <a:ext uri="{FF2B5EF4-FFF2-40B4-BE49-F238E27FC236}">
                <a16:creationId xmlns:a16="http://schemas.microsoft.com/office/drawing/2014/main" id="{E38FC441-C673-430A-B7E5-A36E8B22B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334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ule-0003">
            <a:extLst xmlns:a="http://schemas.openxmlformats.org/drawingml/2006/main">
              <a:ext uri="{FF2B5EF4-FFF2-40B4-BE49-F238E27FC236}">
                <a16:creationId xmlns:a16="http://schemas.microsoft.com/office/drawing/2014/main" id="{91692C6A-23E4-4C0F-8B47-7CBD825A6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004">
            <a:extLst xmlns:a="http://schemas.openxmlformats.org/drawingml/2006/main">
              <a:ext uri="{FF2B5EF4-FFF2-40B4-BE49-F238E27FC236}">
                <a16:creationId xmlns:a16="http://schemas.microsoft.com/office/drawing/2014/main" id="{86305FB5-2111-494C-9AB1-055FCCFED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6353D"/>
                </a:solidFill>
                <a:latin typeface="Meiryo"/>
                <a:ea typeface="Meiryo"/>
                <a:cs typeface="Meiryo"/>
              </a:defRPr>
            </a:pPr>
            <a:r>
              <a:rPr sz="1200" b="1">
                <a:solidFill>
                  <a:srgbClr val="E6353D"/>
                </a:solidFill>
                <a:latin typeface="Meiryo"/>
                <a:ea typeface="Meiryo"/>
                <a:cs typeface="Meiryo"/>
              </a:rPr>
              <a:t>卒業プロジェクト1 / 中間発表</a:t>
            </a:r>
          </a:p>
        </p:txBody>
      </p:sp>
      <p:sp>
        <p:nvSpPr>
          <p:cNvPr id="5" name="text-0005">
            <a:extLst xmlns:a="http://schemas.openxmlformats.org/drawingml/2006/main">
              <a:ext uri="{FF2B5EF4-FFF2-40B4-BE49-F238E27FC236}">
                <a16:creationId xmlns:a16="http://schemas.microsoft.com/office/drawing/2014/main" id="{E00A4C20-FF40-47CE-8A8C-A0BD5CA4F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19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7F6F1"/>
                </a:solidFill>
                <a:latin typeface="Meiryo"/>
                <a:ea typeface="Meiryo"/>
                <a:cs typeface="Meiryo"/>
              </a:defRPr>
            </a:pPr>
            <a:r>
              <a:rPr sz="4800" b="1">
                <a:solidFill>
                  <a:srgbClr val="F7F6F1"/>
                </a:solidFill>
                <a:latin typeface="Meiryo"/>
                <a:ea typeface="Meiryo"/>
                <a:cs typeface="Meiryo"/>
              </a:rPr>
              <a:t>ChaosDraftParty</a:t>
            </a:r>
          </a:p>
        </p:txBody>
      </p:sp>
      <p:sp>
        <p:nvSpPr>
          <p:cNvPr id="6" name="text-0006">
            <a:extLst xmlns:a="http://schemas.openxmlformats.org/drawingml/2006/main">
              <a:ext uri="{FF2B5EF4-FFF2-40B4-BE49-F238E27FC236}">
                <a16:creationId xmlns:a16="http://schemas.microsoft.com/office/drawing/2014/main" id="{C57E65FF-F046-4089-8B36-06AEDE4CF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66950"/>
            <a:ext cx="5810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F7F6F1"/>
                </a:solidFill>
                <a:latin typeface="Meiryo"/>
                <a:ea typeface="Meiryo"/>
                <a:cs typeface="Meiryo"/>
              </a:defRPr>
            </a:pPr>
            <a:r>
              <a:rPr sz="2550" b="1">
                <a:solidFill>
                  <a:srgbClr val="F7F6F1"/>
                </a:solidFill>
                <a:latin typeface="Meiryo"/>
                <a:ea typeface="Meiryo"/>
                <a:cs typeface="Meiryo"/>
              </a:rPr>
              <a:t>複数AIと進める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F7F6F1"/>
                </a:solidFill>
                <a:latin typeface="Meiryo"/>
                <a:ea typeface="Meiryo"/>
                <a:cs typeface="Meiryo"/>
              </a:defRPr>
            </a:pPr>
            <a:r>
              <a:rPr sz="2550" b="1">
                <a:solidFill>
                  <a:srgbClr val="F7F6F1"/>
                </a:solidFill>
                <a:latin typeface="Meiryo"/>
                <a:ea typeface="Meiryo"/>
                <a:cs typeface="Meiryo"/>
              </a:rPr>
              <a:t>2.5D対戦ゲームの個人制作</a:t>
            </a:r>
          </a:p>
        </p:txBody>
      </p:sp>
      <p:sp>
        <p:nvSpPr>
          <p:cNvPr id="7" name="rule-0007">
            <a:extLst xmlns:a="http://schemas.openxmlformats.org/drawingml/2006/main">
              <a:ext uri="{FF2B5EF4-FFF2-40B4-BE49-F238E27FC236}">
                <a16:creationId xmlns:a16="http://schemas.microsoft.com/office/drawing/2014/main" id="{85FB1EA7-AE06-48C5-AA30-DEA0444AB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90950"/>
            <a:ext cx="1371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0008">
            <a:extLst xmlns:a="http://schemas.openxmlformats.org/drawingml/2006/main">
              <a:ext uri="{FF2B5EF4-FFF2-40B4-BE49-F238E27FC236}">
                <a16:creationId xmlns:a16="http://schemas.microsoft.com/office/drawing/2014/main" id="{D7030338-030A-4639-B045-9AA85BDB2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9BDC1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B9BDC1"/>
                </a:solidFill>
                <a:latin typeface="Meiryo"/>
                <a:ea typeface="Meiryo"/>
                <a:cs typeface="Meiryo"/>
              </a:rPr>
              <a:t>スキルを選ぶ → 走る → ぶつかる → 生き残る</a:t>
            </a:r>
          </a:p>
        </p:txBody>
      </p:sp>
      <p:sp>
        <p:nvSpPr>
          <p:cNvPr id="9" name="text-0009">
            <a:extLst xmlns:a="http://schemas.openxmlformats.org/drawingml/2006/main">
              <a:ext uri="{FF2B5EF4-FFF2-40B4-BE49-F238E27FC236}">
                <a16:creationId xmlns:a16="http://schemas.microsoft.com/office/drawing/2014/main" id="{C95E4372-4F7D-4610-9212-2EB86CDD4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48350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7ADB2"/>
                </a:solidFill>
                <a:latin typeface="Meiryo"/>
                <a:ea typeface="Meiryo"/>
                <a:cs typeface="Meiryo"/>
              </a:defRPr>
            </a:pPr>
            <a:r>
              <a:rPr sz="1125" b="0">
                <a:solidFill>
                  <a:srgbClr val="A7ADB2"/>
                </a:solidFill>
                <a:latin typeface="Meiryo"/>
                <a:ea typeface="Meiryo"/>
                <a:cs typeface="Meiryo"/>
              </a:rPr>
              <a:t>島田 泰成  /  東海大学 情報メディア学科 小坂研究室</a:t>
            </a:r>
          </a:p>
        </p:txBody>
      </p:sp>
      <p:sp>
        <p:nvSpPr>
          <p:cNvPr id="10" name="text-0010">
            <a:extLst xmlns:a="http://schemas.openxmlformats.org/drawingml/2006/main">
              <a:ext uri="{FF2B5EF4-FFF2-40B4-BE49-F238E27FC236}">
                <a16:creationId xmlns:a16="http://schemas.microsoft.com/office/drawing/2014/main" id="{A2599040-A6A4-444E-8EAE-6C0A13022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722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F858A"/>
                </a:solidFill>
                <a:latin typeface="Meiryo"/>
                <a:ea typeface="Meiryo"/>
                <a:cs typeface="Meiryo"/>
              </a:defRPr>
            </a:pPr>
            <a:r>
              <a:rPr sz="975" b="0">
                <a:solidFill>
                  <a:srgbClr val="7F858A"/>
                </a:solidFill>
                <a:latin typeface="Meiryo"/>
                <a:ea typeface="Meiryo"/>
                <a:cs typeface="Meiryo"/>
              </a:rPr>
              <a:t>2026.07.14</a:t>
            </a:r>
          </a:p>
        </p:txBody>
      </p:sp>
    </p:spTree>
    <p:extLst>
      <p:ext uri="{BB962C8B-B14F-4D97-AF65-F5344CB8AC3E}">
        <p14:creationId xmlns:p14="http://schemas.microsoft.com/office/powerpoint/2010/main" val="18025043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ule-0011">
            <a:extLst xmlns:a="http://schemas.openxmlformats.org/drawingml/2006/main">
              <a:ext uri="{FF2B5EF4-FFF2-40B4-BE49-F238E27FC236}">
                <a16:creationId xmlns:a16="http://schemas.microsoft.com/office/drawing/2014/main" id="{48E14DCA-2996-486F-8D90-B4BA4FC2D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4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0012">
            <a:extLst xmlns:a="http://schemas.openxmlformats.org/drawingml/2006/main">
              <a:ext uri="{FF2B5EF4-FFF2-40B4-BE49-F238E27FC236}">
                <a16:creationId xmlns:a16="http://schemas.microsoft.com/office/drawing/2014/main" id="{7233A4B4-9ADF-4BF8-AF92-7603E2F44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10744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研究テーマ</a:t>
            </a:r>
          </a:p>
        </p:txBody>
      </p:sp>
      <p:sp>
        <p:nvSpPr>
          <p:cNvPr id="3" name="rule-0013">
            <a:extLst xmlns:a="http://schemas.openxmlformats.org/drawingml/2006/main">
              <a:ext uri="{FF2B5EF4-FFF2-40B4-BE49-F238E27FC236}">
                <a16:creationId xmlns:a16="http://schemas.microsoft.com/office/drawing/2014/main" id="{2A158E34-41C0-4AE7-A867-753E034BA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014">
            <a:extLst xmlns:a="http://schemas.openxmlformats.org/drawingml/2006/main">
              <a:ext uri="{FF2B5EF4-FFF2-40B4-BE49-F238E27FC236}">
                <a16:creationId xmlns:a16="http://schemas.microsoft.com/office/drawing/2014/main" id="{74EDDD3C-D3C9-42CA-901A-01F3FC7D5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62725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ChaosDraftParty / 島田 泰成</a:t>
            </a:r>
          </a:p>
        </p:txBody>
      </p:sp>
      <p:sp>
        <p:nvSpPr>
          <p:cNvPr id="5" name="text-0015">
            <a:extLst xmlns:a="http://schemas.openxmlformats.org/drawingml/2006/main">
              <a:ext uri="{FF2B5EF4-FFF2-40B4-BE49-F238E27FC236}">
                <a16:creationId xmlns:a16="http://schemas.microsoft.com/office/drawing/2014/main" id="{09304513-088C-4B92-9B98-53E40B731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436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E6353D"/>
                </a:solidFill>
                <a:latin typeface="Meiryo"/>
                <a:ea typeface="Meiryo"/>
                <a:cs typeface="Meiryo"/>
              </a:defRPr>
            </a:pPr>
            <a:r>
              <a:rPr sz="975" b="1">
                <a:solidFill>
                  <a:srgbClr val="E6353D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sp>
        <p:nvSpPr>
          <p:cNvPr id="6" name="text-0016">
            <a:extLst xmlns:a="http://schemas.openxmlformats.org/drawingml/2006/main">
              <a:ext uri="{FF2B5EF4-FFF2-40B4-BE49-F238E27FC236}">
                <a16:creationId xmlns:a16="http://schemas.microsoft.com/office/drawing/2014/main" id="{B49D3A76-DCB1-432B-89E1-E4BB6EB31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106680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525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525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複数のAIを役割分担させ、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3525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525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一人で2.5D対戦ゲームを完成させる。</a:t>
            </a:r>
          </a:p>
        </p:txBody>
      </p:sp>
      <p:sp>
        <p:nvSpPr>
          <p:cNvPr id="7" name="rule-0017">
            <a:extLst xmlns:a="http://schemas.openxmlformats.org/drawingml/2006/main">
              <a:ext uri="{FF2B5EF4-FFF2-40B4-BE49-F238E27FC236}">
                <a16:creationId xmlns:a16="http://schemas.microsoft.com/office/drawing/2014/main" id="{CC107D22-6CC2-4ED3-9A7C-B9DA31EDD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ule-0018">
            <a:extLst xmlns:a="http://schemas.openxmlformats.org/drawingml/2006/main">
              <a:ext uri="{FF2B5EF4-FFF2-40B4-BE49-F238E27FC236}">
                <a16:creationId xmlns:a16="http://schemas.microsoft.com/office/drawing/2014/main" id="{DDC48051-309B-48A6-B775-24A065EBB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1143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0019">
            <a:extLst xmlns:a="http://schemas.openxmlformats.org/drawingml/2006/main">
              <a:ext uri="{FF2B5EF4-FFF2-40B4-BE49-F238E27FC236}">
                <a16:creationId xmlns:a16="http://schemas.microsoft.com/office/drawing/2014/main" id="{347E2C81-99A1-4C46-9818-17B0630D1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195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6353D"/>
                </a:solidFill>
                <a:latin typeface="Meiryo"/>
                <a:ea typeface="Meiryo"/>
                <a:cs typeface="Meiryo"/>
              </a:defRPr>
            </a:pPr>
            <a:r>
              <a:rPr sz="1500" b="1">
                <a:solidFill>
                  <a:srgbClr val="E6353D"/>
                </a:solidFill>
                <a:latin typeface="Meiryo"/>
                <a:ea typeface="Meiryo"/>
                <a:cs typeface="Meiryo"/>
              </a:rPr>
              <a:t>ゲームの問い</a:t>
            </a:r>
          </a:p>
        </p:txBody>
      </p:sp>
      <p:sp>
        <p:nvSpPr>
          <p:cNvPr id="10" name="text-0020">
            <a:extLst xmlns:a="http://schemas.openxmlformats.org/drawingml/2006/main">
              <a:ext uri="{FF2B5EF4-FFF2-40B4-BE49-F238E27FC236}">
                <a16:creationId xmlns:a16="http://schemas.microsoft.com/office/drawing/2014/main" id="{3DE62C31-F7A4-4C47-A50E-9F6BDEB28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875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横から見ただけで目的が伝わり、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875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自然にプレイヤー同士がぶつかるか。</a:t>
            </a:r>
          </a:p>
        </p:txBody>
      </p:sp>
      <p:sp>
        <p:nvSpPr>
          <p:cNvPr id="11" name="rule-0021">
            <a:extLst xmlns:a="http://schemas.openxmlformats.org/drawingml/2006/main">
              <a:ext uri="{FF2B5EF4-FFF2-40B4-BE49-F238E27FC236}">
                <a16:creationId xmlns:a16="http://schemas.microsoft.com/office/drawing/2014/main" id="{1BB750EF-E64A-463E-83BC-955CE76F0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1143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0022">
            <a:extLst xmlns:a="http://schemas.openxmlformats.org/drawingml/2006/main">
              <a:ext uri="{FF2B5EF4-FFF2-40B4-BE49-F238E27FC236}">
                <a16:creationId xmlns:a16="http://schemas.microsoft.com/office/drawing/2014/main" id="{A309F3DF-5906-4065-A33B-1DB846F4D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720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A6CE"/>
                </a:solidFill>
                <a:latin typeface="Meiryo"/>
                <a:ea typeface="Meiryo"/>
                <a:cs typeface="Meiryo"/>
              </a:defRPr>
            </a:pPr>
            <a:r>
              <a:rPr sz="1500" b="1">
                <a:solidFill>
                  <a:srgbClr val="00A6CE"/>
                </a:solidFill>
                <a:latin typeface="Meiryo"/>
                <a:ea typeface="Meiryo"/>
                <a:cs typeface="Meiryo"/>
              </a:rPr>
              <a:t>制作方法の問い</a:t>
            </a:r>
          </a:p>
        </p:txBody>
      </p:sp>
      <p:sp>
        <p:nvSpPr>
          <p:cNvPr id="13" name="text-0023">
            <a:extLst xmlns:a="http://schemas.openxmlformats.org/drawingml/2006/main">
              <a:ext uri="{FF2B5EF4-FFF2-40B4-BE49-F238E27FC236}">
                <a16:creationId xmlns:a16="http://schemas.microsoft.com/office/drawing/2014/main" id="{20E4ADA1-B480-4B4F-9556-78804A7BA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530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875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AIに「作る・確かめる・記録する」を分けると、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875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一人開発の手戻りを減らせるか。</a:t>
            </a:r>
          </a:p>
        </p:txBody>
      </p:sp>
    </p:spTree>
    <p:extLst>
      <p:ext uri="{BB962C8B-B14F-4D97-AF65-F5344CB8AC3E}">
        <p14:creationId xmlns:p14="http://schemas.microsoft.com/office/powerpoint/2010/main" val="21318202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ule-0024">
            <a:extLst xmlns:a="http://schemas.openxmlformats.org/drawingml/2006/main">
              <a:ext uri="{FF2B5EF4-FFF2-40B4-BE49-F238E27FC236}">
                <a16:creationId xmlns:a16="http://schemas.microsoft.com/office/drawing/2014/main" id="{912AE44C-015D-4436-95DE-6B87CBBC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4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8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0025">
            <a:extLst xmlns:a="http://schemas.openxmlformats.org/drawingml/2006/main">
              <a:ext uri="{FF2B5EF4-FFF2-40B4-BE49-F238E27FC236}">
                <a16:creationId xmlns:a16="http://schemas.microsoft.com/office/drawing/2014/main" id="{E38676FB-73D1-437E-B593-3528658FB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10744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どんなゲームか</a:t>
            </a:r>
          </a:p>
        </p:txBody>
      </p:sp>
      <p:sp>
        <p:nvSpPr>
          <p:cNvPr id="3" name="rule-0026">
            <a:extLst xmlns:a="http://schemas.openxmlformats.org/drawingml/2006/main">
              <a:ext uri="{FF2B5EF4-FFF2-40B4-BE49-F238E27FC236}">
                <a16:creationId xmlns:a16="http://schemas.microsoft.com/office/drawing/2014/main" id="{8B26C7BA-FFD2-4370-8E8E-918F695F9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027">
            <a:extLst xmlns:a="http://schemas.openxmlformats.org/drawingml/2006/main">
              <a:ext uri="{FF2B5EF4-FFF2-40B4-BE49-F238E27FC236}">
                <a16:creationId xmlns:a16="http://schemas.microsoft.com/office/drawing/2014/main" id="{03CA0D82-232D-4F6D-8117-B0318FDAD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62725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ChaosDraftParty / 島田 泰成</a:t>
            </a:r>
          </a:p>
        </p:txBody>
      </p:sp>
      <p:sp>
        <p:nvSpPr>
          <p:cNvPr id="5" name="text-0028">
            <a:extLst xmlns:a="http://schemas.openxmlformats.org/drawingml/2006/main">
              <a:ext uri="{FF2B5EF4-FFF2-40B4-BE49-F238E27FC236}">
                <a16:creationId xmlns:a16="http://schemas.microsoft.com/office/drawing/2014/main" id="{5CEE0F2F-B62B-4973-BF20-A184EE307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436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8A85A"/>
                </a:solidFill>
                <a:latin typeface="Meiryo"/>
                <a:ea typeface="Meiryo"/>
                <a:cs typeface="Meiryo"/>
              </a:defRPr>
            </a:pPr>
            <a:r>
              <a:rPr sz="975" b="1">
                <a:solidFill>
                  <a:srgbClr val="08A85A"/>
                </a:solidFill>
                <a:latin typeface="Meiryo"/>
                <a:ea typeface="Meiryo"/>
                <a:cs typeface="Meiryo"/>
              </a:rPr>
              <a:t>03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944d00a44d4e14"/>
          <a:srcRect xmlns:a="http://schemas.openxmlformats.org/drawingml/2006/main" l="1830" t="0" r="18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619250"/>
            <a:ext cx="6896100" cy="4048125"/>
          </a:xfrm>
          <a:prstGeom xmlns:a="http://schemas.openxmlformats.org/drawingml/2006/main" prst="rect">
            <a:avLst/>
          </a:prstGeom>
        </p:spPr>
      </p:pic>
      <p:sp>
        <p:nvSpPr>
          <p:cNvPr id="7" name="image-border-0030">
            <a:extLst xmlns:a="http://schemas.openxmlformats.org/drawingml/2006/main">
              <a:ext uri="{FF2B5EF4-FFF2-40B4-BE49-F238E27FC236}">
                <a16:creationId xmlns:a16="http://schemas.microsoft.com/office/drawing/2014/main" id="{1EEC438F-8827-4EDC-BAB8-147D82A4A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19250"/>
            <a:ext cx="6896100" cy="404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191B"/>
            </a:solidFill>
            <a:prstDash val="solid"/>
          </a:ln>
        </p:spPr>
      </p:sp>
      <p:sp>
        <p:nvSpPr>
          <p:cNvPr id="8" name="text-0031">
            <a:extLst xmlns:a="http://schemas.openxmlformats.org/drawingml/2006/main">
              <a:ext uri="{FF2B5EF4-FFF2-40B4-BE49-F238E27FC236}">
                <a16:creationId xmlns:a16="http://schemas.microsoft.com/office/drawing/2014/main" id="{EF9558C0-B261-4CE4-AA06-D1ED729E7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53100"/>
            <a:ext cx="689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975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Unity版「縮む島」試作 / 2026年6月</a:t>
            </a:r>
          </a:p>
        </p:txBody>
      </p:sp>
      <p:sp>
        <p:nvSpPr>
          <p:cNvPr id="9" name="text-0032">
            <a:extLst xmlns:a="http://schemas.openxmlformats.org/drawingml/2006/main">
              <a:ext uri="{FF2B5EF4-FFF2-40B4-BE49-F238E27FC236}">
                <a16:creationId xmlns:a16="http://schemas.microsoft.com/office/drawing/2014/main" id="{3293F05E-C680-4BFD-97AD-0F366A598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638300"/>
            <a:ext cx="3429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255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スキルを選んで、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255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短いミニゲームで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255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生き残る。</a:t>
            </a:r>
          </a:p>
        </p:txBody>
      </p:sp>
      <p:sp>
        <p:nvSpPr>
          <p:cNvPr id="10" name="rule-0033">
            <a:extLst xmlns:a="http://schemas.openxmlformats.org/drawingml/2006/main">
              <a:ext uri="{FF2B5EF4-FFF2-40B4-BE49-F238E27FC236}">
                <a16:creationId xmlns:a16="http://schemas.microsoft.com/office/drawing/2014/main" id="{26BAEE83-DA06-4716-9A3C-A348C8927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2004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0034">
            <a:extLst xmlns:a="http://schemas.openxmlformats.org/drawingml/2006/main">
              <a:ext uri="{FF2B5EF4-FFF2-40B4-BE49-F238E27FC236}">
                <a16:creationId xmlns:a16="http://schemas.microsoft.com/office/drawing/2014/main" id="{FF3588F3-3933-44A6-9E00-296CCE2F4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31470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A85A"/>
                </a:solidFill>
                <a:latin typeface="Meiryo"/>
                <a:ea typeface="Meiryo"/>
                <a:cs typeface="Meiryo"/>
              </a:defRPr>
            </a:pPr>
            <a:r>
              <a:rPr sz="1425" b="1">
                <a:solidFill>
                  <a:srgbClr val="08A85A"/>
                </a:solidFill>
                <a:latin typeface="Meiryo"/>
                <a:ea typeface="Meiryo"/>
                <a:cs typeface="Meiryo"/>
              </a:rPr>
              <a:t>2〜4人</a:t>
            </a:r>
          </a:p>
        </p:txBody>
      </p:sp>
      <p:sp>
        <p:nvSpPr>
          <p:cNvPr id="12" name="text-0035">
            <a:extLst xmlns:a="http://schemas.openxmlformats.org/drawingml/2006/main">
              <a:ext uri="{FF2B5EF4-FFF2-40B4-BE49-F238E27FC236}">
                <a16:creationId xmlns:a16="http://schemas.microsoft.com/office/drawing/2014/main" id="{B608957F-6E4D-4A49-8BA0-93DBFF708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2956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友達とオンライン対戦</a:t>
            </a:r>
          </a:p>
        </p:txBody>
      </p:sp>
      <p:sp>
        <p:nvSpPr>
          <p:cNvPr id="13" name="rule-0036">
            <a:extLst xmlns:a="http://schemas.openxmlformats.org/drawingml/2006/main">
              <a:ext uri="{FF2B5EF4-FFF2-40B4-BE49-F238E27FC236}">
                <a16:creationId xmlns:a16="http://schemas.microsoft.com/office/drawing/2014/main" id="{2FD6FA13-003A-4802-AE14-6B39B0D92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0005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0037">
            <a:extLst xmlns:a="http://schemas.openxmlformats.org/drawingml/2006/main">
              <a:ext uri="{FF2B5EF4-FFF2-40B4-BE49-F238E27FC236}">
                <a16:creationId xmlns:a16="http://schemas.microsoft.com/office/drawing/2014/main" id="{246F5A0B-8475-458F-A098-3B2A9291E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11480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A85A"/>
                </a:solidFill>
                <a:latin typeface="Meiryo"/>
                <a:ea typeface="Meiryo"/>
                <a:cs typeface="Meiryo"/>
              </a:defRPr>
            </a:pPr>
            <a:r>
              <a:rPr sz="1425" b="1">
                <a:solidFill>
                  <a:srgbClr val="08A85A"/>
                </a:solidFill>
                <a:latin typeface="Meiryo"/>
                <a:ea typeface="Meiryo"/>
                <a:cs typeface="Meiryo"/>
              </a:rPr>
              <a:t>約8分</a:t>
            </a:r>
          </a:p>
        </p:txBody>
      </p:sp>
      <p:sp>
        <p:nvSpPr>
          <p:cNvPr id="15" name="text-0038">
            <a:extLst xmlns:a="http://schemas.openxmlformats.org/drawingml/2006/main">
              <a:ext uri="{FF2B5EF4-FFF2-40B4-BE49-F238E27FC236}">
                <a16:creationId xmlns:a16="http://schemas.microsoft.com/office/drawing/2014/main" id="{C2E1F32B-4CBB-432D-92E0-FF3D9F7D0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0957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1試合を短く遊べる</a:t>
            </a:r>
          </a:p>
        </p:txBody>
      </p:sp>
      <p:sp>
        <p:nvSpPr>
          <p:cNvPr id="16" name="rule-0039">
            <a:extLst xmlns:a="http://schemas.openxmlformats.org/drawingml/2006/main">
              <a:ext uri="{FF2B5EF4-FFF2-40B4-BE49-F238E27FC236}">
                <a16:creationId xmlns:a16="http://schemas.microsoft.com/office/drawing/2014/main" id="{6DA85A52-16A0-4DD7-A05A-B72242065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800600"/>
            <a:ext cx="342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-0040">
            <a:extLst xmlns:a="http://schemas.openxmlformats.org/drawingml/2006/main">
              <a:ext uri="{FF2B5EF4-FFF2-40B4-BE49-F238E27FC236}">
                <a16:creationId xmlns:a16="http://schemas.microsoft.com/office/drawing/2014/main" id="{35492270-9AF7-4DBF-9CA1-957DD0ED7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91490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A85A"/>
                </a:solidFill>
                <a:latin typeface="Meiryo"/>
                <a:ea typeface="Meiryo"/>
                <a:cs typeface="Meiryo"/>
              </a:defRPr>
            </a:pPr>
            <a:r>
              <a:rPr sz="1425" b="1">
                <a:solidFill>
                  <a:srgbClr val="08A85A"/>
                </a:solidFill>
                <a:latin typeface="Meiryo"/>
                <a:ea typeface="Meiryo"/>
                <a:cs typeface="Meiryo"/>
              </a:rPr>
              <a:t>毎ラウンド</a:t>
            </a:r>
          </a:p>
        </p:txBody>
      </p:sp>
      <p:sp>
        <p:nvSpPr>
          <p:cNvPr id="18" name="text-0041">
            <a:extLst xmlns:a="http://schemas.openxmlformats.org/drawingml/2006/main">
              <a:ext uri="{FF2B5EF4-FFF2-40B4-BE49-F238E27FC236}">
                <a16:creationId xmlns:a16="http://schemas.microsoft.com/office/drawing/2014/main" id="{650BE2B9-DCD7-4EF2-AF82-B3CE33474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8958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次に使うスキルを1つ選ぶ</a:t>
            </a:r>
          </a:p>
        </p:txBody>
      </p:sp>
    </p:spTree>
    <p:extLst>
      <p:ext uri="{BB962C8B-B14F-4D97-AF65-F5344CB8AC3E}">
        <p14:creationId xmlns:p14="http://schemas.microsoft.com/office/powerpoint/2010/main" val="8299172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ule-0042">
            <a:extLst xmlns:a="http://schemas.openxmlformats.org/drawingml/2006/main">
              <a:ext uri="{FF2B5EF4-FFF2-40B4-BE49-F238E27FC236}">
                <a16:creationId xmlns:a16="http://schemas.microsoft.com/office/drawing/2014/main" id="{BAEF1227-39E4-4ADE-8EB0-3F4D2F53D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4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0043">
            <a:extLst xmlns:a="http://schemas.openxmlformats.org/drawingml/2006/main">
              <a:ext uri="{FF2B5EF4-FFF2-40B4-BE49-F238E27FC236}">
                <a16:creationId xmlns:a16="http://schemas.microsoft.com/office/drawing/2014/main" id="{A1E9BD9C-6945-4E33-B735-DED4CF781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10744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遊び方は5つ</a:t>
            </a:r>
          </a:p>
        </p:txBody>
      </p:sp>
      <p:sp>
        <p:nvSpPr>
          <p:cNvPr id="3" name="rule-0044">
            <a:extLst xmlns:a="http://schemas.openxmlformats.org/drawingml/2006/main">
              <a:ext uri="{FF2B5EF4-FFF2-40B4-BE49-F238E27FC236}">
                <a16:creationId xmlns:a16="http://schemas.microsoft.com/office/drawing/2014/main" id="{18555A73-D3D4-4CBB-8C92-AA6813B15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045">
            <a:extLst xmlns:a="http://schemas.openxmlformats.org/drawingml/2006/main">
              <a:ext uri="{FF2B5EF4-FFF2-40B4-BE49-F238E27FC236}">
                <a16:creationId xmlns:a16="http://schemas.microsoft.com/office/drawing/2014/main" id="{B6B2B8B8-744D-4E02-846C-2ADB6FD3E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62725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ChaosDraftParty / 島田 泰成</a:t>
            </a:r>
          </a:p>
        </p:txBody>
      </p:sp>
      <p:sp>
        <p:nvSpPr>
          <p:cNvPr id="5" name="text-0046">
            <a:extLst xmlns:a="http://schemas.openxmlformats.org/drawingml/2006/main">
              <a:ext uri="{FF2B5EF4-FFF2-40B4-BE49-F238E27FC236}">
                <a16:creationId xmlns:a16="http://schemas.microsoft.com/office/drawing/2014/main" id="{9F350C2E-48E7-4FE8-9A89-2A128E0B8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436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4B400"/>
                </a:solidFill>
                <a:latin typeface="Meiryo"/>
                <a:ea typeface="Meiryo"/>
                <a:cs typeface="Meiryo"/>
              </a:defRPr>
            </a:pPr>
            <a:r>
              <a:rPr sz="975" b="1">
                <a:solidFill>
                  <a:srgbClr val="F4B400"/>
                </a:solidFill>
                <a:latin typeface="Meiryo"/>
                <a:ea typeface="Meiryo"/>
                <a:cs typeface="Meiryo"/>
              </a:rPr>
              <a:t>04</a:t>
            </a:r>
          </a:p>
        </p:txBody>
      </p:sp>
      <p:sp>
        <p:nvSpPr>
          <p:cNvPr id="6" name="shape-0047">
            <a:extLst xmlns:a="http://schemas.openxmlformats.org/drawingml/2006/main">
              <a:ext uri="{FF2B5EF4-FFF2-40B4-BE49-F238E27FC236}">
                <a16:creationId xmlns:a16="http://schemas.microsoft.com/office/drawing/2014/main" id="{8C9CA4BE-25CD-4B63-AC19-36AD6FDE0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3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0048">
            <a:extLst xmlns:a="http://schemas.openxmlformats.org/drawingml/2006/main">
              <a:ext uri="{FF2B5EF4-FFF2-40B4-BE49-F238E27FC236}">
                <a16:creationId xmlns:a16="http://schemas.microsoft.com/office/drawing/2014/main" id="{6C225ED1-B049-4A40-B303-E57759BE9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</a:t>
            </a:r>
          </a:p>
        </p:txBody>
      </p:sp>
      <p:sp>
        <p:nvSpPr>
          <p:cNvPr id="8" name="text-0049">
            <a:extLst xmlns:a="http://schemas.openxmlformats.org/drawingml/2006/main">
              <a:ext uri="{FF2B5EF4-FFF2-40B4-BE49-F238E27FC236}">
                <a16:creationId xmlns:a16="http://schemas.microsoft.com/office/drawing/2014/main" id="{D97A9543-00C3-4ADA-BED6-CD44E97F9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86050"/>
            <a:ext cx="169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21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選ぶ</a:t>
            </a:r>
          </a:p>
        </p:txBody>
      </p:sp>
      <p:sp>
        <p:nvSpPr>
          <p:cNvPr id="9" name="text-0050">
            <a:extLst xmlns:a="http://schemas.openxmlformats.org/drawingml/2006/main">
              <a:ext uri="{FF2B5EF4-FFF2-40B4-BE49-F238E27FC236}">
                <a16:creationId xmlns:a16="http://schemas.microsoft.com/office/drawing/2014/main" id="{912F655D-5F25-46D0-A12E-B1E0CFDC4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57550"/>
            <a:ext cx="1695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35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3つの候補から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35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スキルを1つ</a:t>
            </a:r>
          </a:p>
        </p:txBody>
      </p:sp>
      <p:sp>
        <p:nvSpPr>
          <p:cNvPr id="10" name="text-0051">
            <a:extLst xmlns:a="http://schemas.openxmlformats.org/drawingml/2006/main">
              <a:ext uri="{FF2B5EF4-FFF2-40B4-BE49-F238E27FC236}">
                <a16:creationId xmlns:a16="http://schemas.microsoft.com/office/drawing/2014/main" id="{3ACBDA4B-EA79-4B12-945B-C0B541A2C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6193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D8D6CF"/>
                </a:solidFill>
                <a:latin typeface="Meiryo"/>
                <a:ea typeface="Meiryo"/>
                <a:cs typeface="Meiryo"/>
              </a:defRPr>
            </a:pPr>
            <a:r>
              <a:rPr sz="2550" b="1">
                <a:solidFill>
                  <a:srgbClr val="D8D6CF"/>
                </a:solidFill>
                <a:latin typeface="Meiryo"/>
                <a:ea typeface="Meiryo"/>
                <a:cs typeface="Meiryo"/>
              </a:rPr>
              <a:t>→</a:t>
            </a:r>
          </a:p>
        </p:txBody>
      </p:sp>
      <p:sp>
        <p:nvSpPr>
          <p:cNvPr id="11" name="shape-0052">
            <a:extLst xmlns:a="http://schemas.openxmlformats.org/drawingml/2006/main">
              <a:ext uri="{FF2B5EF4-FFF2-40B4-BE49-F238E27FC236}">
                <a16:creationId xmlns:a16="http://schemas.microsoft.com/office/drawing/2014/main" id="{916EAB41-9CF6-4132-B1CA-645240D33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9240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8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0053">
            <a:extLst xmlns:a="http://schemas.openxmlformats.org/drawingml/2006/main">
              <a:ext uri="{FF2B5EF4-FFF2-40B4-BE49-F238E27FC236}">
                <a16:creationId xmlns:a16="http://schemas.microsoft.com/office/drawing/2014/main" id="{7263D295-6559-4F18-ADF0-C492B5078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9240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2</a:t>
            </a:r>
          </a:p>
        </p:txBody>
      </p:sp>
      <p:sp>
        <p:nvSpPr>
          <p:cNvPr id="13" name="text-0054">
            <a:extLst xmlns:a="http://schemas.openxmlformats.org/drawingml/2006/main">
              <a:ext uri="{FF2B5EF4-FFF2-40B4-BE49-F238E27FC236}">
                <a16:creationId xmlns:a16="http://schemas.microsoft.com/office/drawing/2014/main" id="{92C2226D-2496-45DA-84CF-7B01D5AB1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686050"/>
            <a:ext cx="169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21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走る</a:t>
            </a:r>
          </a:p>
        </p:txBody>
      </p:sp>
      <p:sp>
        <p:nvSpPr>
          <p:cNvPr id="14" name="text-0055">
            <a:extLst xmlns:a="http://schemas.openxmlformats.org/drawingml/2006/main">
              <a:ext uri="{FF2B5EF4-FFF2-40B4-BE49-F238E27FC236}">
                <a16:creationId xmlns:a16="http://schemas.microsoft.com/office/drawing/2014/main" id="{40749512-D0C4-4BC4-843C-8671830B3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257550"/>
            <a:ext cx="1695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35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横移動・ジャンプで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35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安全地帯へ</a:t>
            </a:r>
          </a:p>
        </p:txBody>
      </p:sp>
      <p:sp>
        <p:nvSpPr>
          <p:cNvPr id="15" name="text-0056">
            <a:extLst xmlns:a="http://schemas.openxmlformats.org/drawingml/2006/main">
              <a:ext uri="{FF2B5EF4-FFF2-40B4-BE49-F238E27FC236}">
                <a16:creationId xmlns:a16="http://schemas.microsoft.com/office/drawing/2014/main" id="{67273EC3-4991-4C07-822A-A91179342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193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D8D6CF"/>
                </a:solidFill>
                <a:latin typeface="Meiryo"/>
                <a:ea typeface="Meiryo"/>
                <a:cs typeface="Meiryo"/>
              </a:defRPr>
            </a:pPr>
            <a:r>
              <a:rPr sz="2550" b="1">
                <a:solidFill>
                  <a:srgbClr val="D8D6CF"/>
                </a:solidFill>
                <a:latin typeface="Meiryo"/>
                <a:ea typeface="Meiryo"/>
                <a:cs typeface="Meiryo"/>
              </a:rPr>
              <a:t>→</a:t>
            </a:r>
          </a:p>
        </p:txBody>
      </p:sp>
      <p:sp>
        <p:nvSpPr>
          <p:cNvPr id="16" name="shape-0057">
            <a:extLst xmlns:a="http://schemas.openxmlformats.org/drawingml/2006/main">
              <a:ext uri="{FF2B5EF4-FFF2-40B4-BE49-F238E27FC236}">
                <a16:creationId xmlns:a16="http://schemas.microsoft.com/office/drawing/2014/main" id="{163CFF44-3B05-4721-8443-2B5201780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9240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-0058">
            <a:extLst xmlns:a="http://schemas.openxmlformats.org/drawingml/2006/main">
              <a:ext uri="{FF2B5EF4-FFF2-40B4-BE49-F238E27FC236}">
                <a16:creationId xmlns:a16="http://schemas.microsoft.com/office/drawing/2014/main" id="{CDE1F612-924E-4359-80B7-8BF3CDAAD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9240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3</a:t>
            </a:r>
          </a:p>
        </p:txBody>
      </p:sp>
      <p:sp>
        <p:nvSpPr>
          <p:cNvPr id="18" name="text-0059">
            <a:extLst xmlns:a="http://schemas.openxmlformats.org/drawingml/2006/main">
              <a:ext uri="{FF2B5EF4-FFF2-40B4-BE49-F238E27FC236}">
                <a16:creationId xmlns:a16="http://schemas.microsoft.com/office/drawing/2014/main" id="{58D4EEDC-41DC-4154-80D1-2B953B75A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686050"/>
            <a:ext cx="169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21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消える</a:t>
            </a:r>
          </a:p>
        </p:txBody>
      </p:sp>
      <p:sp>
        <p:nvSpPr>
          <p:cNvPr id="19" name="text-0060">
            <a:extLst xmlns:a="http://schemas.openxmlformats.org/drawingml/2006/main">
              <a:ext uri="{FF2B5EF4-FFF2-40B4-BE49-F238E27FC236}">
                <a16:creationId xmlns:a16="http://schemas.microsoft.com/office/drawing/2014/main" id="{6849AF4B-5B93-4A53-BF01-C8023D9C3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257550"/>
            <a:ext cx="1695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35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警告の後に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35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足場が落ちる</a:t>
            </a:r>
          </a:p>
        </p:txBody>
      </p:sp>
      <p:sp>
        <p:nvSpPr>
          <p:cNvPr id="20" name="text-0061">
            <a:extLst xmlns:a="http://schemas.openxmlformats.org/drawingml/2006/main">
              <a:ext uri="{FF2B5EF4-FFF2-40B4-BE49-F238E27FC236}">
                <a16:creationId xmlns:a16="http://schemas.microsoft.com/office/drawing/2014/main" id="{D1EC9466-E9E4-4F6A-8AC9-796FCDD96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6193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D8D6CF"/>
                </a:solidFill>
                <a:latin typeface="Meiryo"/>
                <a:ea typeface="Meiryo"/>
                <a:cs typeface="Meiryo"/>
              </a:defRPr>
            </a:pPr>
            <a:r>
              <a:rPr sz="2550" b="1">
                <a:solidFill>
                  <a:srgbClr val="D8D6CF"/>
                </a:solidFill>
                <a:latin typeface="Meiryo"/>
                <a:ea typeface="Meiryo"/>
                <a:cs typeface="Meiryo"/>
              </a:rPr>
              <a:t>→</a:t>
            </a:r>
          </a:p>
        </p:txBody>
      </p:sp>
      <p:sp>
        <p:nvSpPr>
          <p:cNvPr id="21" name="shape-0062">
            <a:extLst xmlns:a="http://schemas.openxmlformats.org/drawingml/2006/main">
              <a:ext uri="{FF2B5EF4-FFF2-40B4-BE49-F238E27FC236}">
                <a16:creationId xmlns:a16="http://schemas.microsoft.com/office/drawing/2014/main" id="{F8B06581-E08A-4999-90E1-5A8415791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9240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0063">
            <a:extLst xmlns:a="http://schemas.openxmlformats.org/drawingml/2006/main">
              <a:ext uri="{FF2B5EF4-FFF2-40B4-BE49-F238E27FC236}">
                <a16:creationId xmlns:a16="http://schemas.microsoft.com/office/drawing/2014/main" id="{1C91C750-1255-4A7F-ACC5-FAC497EC2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9240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4</a:t>
            </a:r>
          </a:p>
        </p:txBody>
      </p:sp>
      <p:sp>
        <p:nvSpPr>
          <p:cNvPr id="23" name="text-0064">
            <a:extLst xmlns:a="http://schemas.openxmlformats.org/drawingml/2006/main">
              <a:ext uri="{FF2B5EF4-FFF2-40B4-BE49-F238E27FC236}">
                <a16:creationId xmlns:a16="http://schemas.microsoft.com/office/drawing/2014/main" id="{43EBEE8A-D001-480F-AA65-62A6A3D80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686050"/>
            <a:ext cx="169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21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ぶつかる</a:t>
            </a:r>
          </a:p>
        </p:txBody>
      </p:sp>
      <p:sp>
        <p:nvSpPr>
          <p:cNvPr id="24" name="text-0065">
            <a:extLst xmlns:a="http://schemas.openxmlformats.org/drawingml/2006/main">
              <a:ext uri="{FF2B5EF4-FFF2-40B4-BE49-F238E27FC236}">
                <a16:creationId xmlns:a16="http://schemas.microsoft.com/office/drawing/2014/main" id="{F1570364-BF2B-4C12-B6BE-80537505A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257550"/>
            <a:ext cx="1695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35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押す・避ける・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35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スキルで返す</a:t>
            </a:r>
          </a:p>
        </p:txBody>
      </p:sp>
      <p:sp>
        <p:nvSpPr>
          <p:cNvPr id="25" name="text-0066">
            <a:extLst xmlns:a="http://schemas.openxmlformats.org/drawingml/2006/main">
              <a:ext uri="{FF2B5EF4-FFF2-40B4-BE49-F238E27FC236}">
                <a16:creationId xmlns:a16="http://schemas.microsoft.com/office/drawing/2014/main" id="{FC080BFC-BF54-4BC5-818B-99270052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6193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D8D6CF"/>
                </a:solidFill>
                <a:latin typeface="Meiryo"/>
                <a:ea typeface="Meiryo"/>
                <a:cs typeface="Meiryo"/>
              </a:defRPr>
            </a:pPr>
            <a:r>
              <a:rPr sz="2550" b="1">
                <a:solidFill>
                  <a:srgbClr val="D8D6CF"/>
                </a:solidFill>
                <a:latin typeface="Meiryo"/>
                <a:ea typeface="Meiryo"/>
                <a:cs typeface="Meiryo"/>
              </a:rPr>
              <a:t>→</a:t>
            </a:r>
          </a:p>
        </p:txBody>
      </p:sp>
      <p:sp>
        <p:nvSpPr>
          <p:cNvPr id="26" name="shape-0067">
            <a:extLst xmlns:a="http://schemas.openxmlformats.org/drawingml/2006/main">
              <a:ext uri="{FF2B5EF4-FFF2-40B4-BE49-F238E27FC236}">
                <a16:creationId xmlns:a16="http://schemas.microsoft.com/office/drawing/2014/main" id="{08A27D9D-0505-4DAC-9EC3-1E5E59705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9240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4CC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-0068">
            <a:extLst xmlns:a="http://schemas.openxmlformats.org/drawingml/2006/main">
              <a:ext uri="{FF2B5EF4-FFF2-40B4-BE49-F238E27FC236}">
                <a16:creationId xmlns:a16="http://schemas.microsoft.com/office/drawing/2014/main" id="{B015FFCF-3C64-442B-A980-FC899752F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9240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5</a:t>
            </a:r>
          </a:p>
        </p:txBody>
      </p:sp>
      <p:sp>
        <p:nvSpPr>
          <p:cNvPr id="28" name="text-0069">
            <a:extLst xmlns:a="http://schemas.openxmlformats.org/drawingml/2006/main">
              <a:ext uri="{FF2B5EF4-FFF2-40B4-BE49-F238E27FC236}">
                <a16:creationId xmlns:a16="http://schemas.microsoft.com/office/drawing/2014/main" id="{947885A9-D24A-4F2E-AE83-05CB307E5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86050"/>
            <a:ext cx="169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21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生き残る</a:t>
            </a:r>
          </a:p>
        </p:txBody>
      </p:sp>
      <p:sp>
        <p:nvSpPr>
          <p:cNvPr id="29" name="text-0070">
            <a:extLst xmlns:a="http://schemas.openxmlformats.org/drawingml/2006/main">
              <a:ext uri="{FF2B5EF4-FFF2-40B4-BE49-F238E27FC236}">
                <a16:creationId xmlns:a16="http://schemas.microsoft.com/office/drawing/2014/main" id="{A382023F-5FC7-4A44-9ED8-3B17C05A6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57550"/>
            <a:ext cx="1695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35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最後まで残れば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35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ポイント</a:t>
            </a:r>
          </a:p>
        </p:txBody>
      </p:sp>
      <p:sp>
        <p:nvSpPr>
          <p:cNvPr id="30" name="shape-0071">
            <a:extLst xmlns:a="http://schemas.openxmlformats.org/drawingml/2006/main">
              <a:ext uri="{FF2B5EF4-FFF2-40B4-BE49-F238E27FC236}">
                <a16:creationId xmlns:a16="http://schemas.microsoft.com/office/drawing/2014/main" id="{3E8E6C55-7A0F-4593-8F11-EAB0A4037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0"/>
            <a:ext cx="11125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ext-0072">
            <a:extLst xmlns:a="http://schemas.openxmlformats.org/drawingml/2006/main">
              <a:ext uri="{FF2B5EF4-FFF2-40B4-BE49-F238E27FC236}">
                <a16:creationId xmlns:a16="http://schemas.microsoft.com/office/drawing/2014/main" id="{0E71B2D1-09AD-40E4-A802-701A2919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91100"/>
            <a:ext cx="10515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7F6F1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F7F6F1"/>
                </a:solidFill>
                <a:latin typeface="Meiryo"/>
                <a:ea typeface="Meiryo"/>
                <a:cs typeface="Meiryo"/>
              </a:rPr>
              <a:t>スキル選択と操作の上手さの両方が、生存率に影響する。</a:t>
            </a:r>
          </a:p>
        </p:txBody>
      </p:sp>
    </p:spTree>
    <p:extLst>
      <p:ext uri="{BB962C8B-B14F-4D97-AF65-F5344CB8AC3E}">
        <p14:creationId xmlns:p14="http://schemas.microsoft.com/office/powerpoint/2010/main" val="9749969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719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e50e3a6b9246e9"/>
          <a:srcRect xmlns:a="http://schemas.openxmlformats.org/drawingml/2006/main" l="15833" t="0" r="158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05250" y="0"/>
            <a:ext cx="8286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shape-0074">
            <a:extLst xmlns:a="http://schemas.openxmlformats.org/drawingml/2006/main">
              <a:ext uri="{FF2B5EF4-FFF2-40B4-BE49-F238E27FC236}">
                <a16:creationId xmlns:a16="http://schemas.microsoft.com/office/drawing/2014/main" id="{4E0530C8-072B-422F-9636-92376A945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686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0075">
            <a:extLst xmlns:a="http://schemas.openxmlformats.org/drawingml/2006/main">
              <a:ext uri="{FF2B5EF4-FFF2-40B4-BE49-F238E27FC236}">
                <a16:creationId xmlns:a16="http://schemas.microsoft.com/office/drawing/2014/main" id="{3BBAA4B5-5547-48CB-8476-B588F3A47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7F6F1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F7F6F1"/>
                </a:solidFill>
                <a:latin typeface="Meiryo"/>
                <a:ea typeface="Meiryo"/>
                <a:cs typeface="Meiryo"/>
              </a:rPr>
              <a:t>例: 縮む島</a:t>
            </a:r>
          </a:p>
        </p:txBody>
      </p:sp>
      <p:sp>
        <p:nvSpPr>
          <p:cNvPr id="4" name="text-0076">
            <a:extLst xmlns:a="http://schemas.openxmlformats.org/drawingml/2006/main">
              <a:ext uri="{FF2B5EF4-FFF2-40B4-BE49-F238E27FC236}">
                <a16:creationId xmlns:a16="http://schemas.microsoft.com/office/drawing/2014/main" id="{02145C66-4963-4658-B01D-E0702F15D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35814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1">
                <a:solidFill>
                  <a:srgbClr val="F7F6F1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F7F6F1"/>
                </a:solidFill>
                <a:latin typeface="Meiryo"/>
                <a:ea typeface="Meiryo"/>
                <a:cs typeface="Meiryo"/>
              </a:rPr>
              <a:t>床が順番に消える。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1">
                <a:solidFill>
                  <a:srgbClr val="F7F6F1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F7F6F1"/>
                </a:solidFill>
                <a:latin typeface="Meiryo"/>
                <a:ea typeface="Meiryo"/>
                <a:cs typeface="Meiryo"/>
              </a:rPr>
              <a:t>安全な中央へ逃げるほど、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1">
                <a:solidFill>
                  <a:srgbClr val="F7F6F1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F7F6F1"/>
                </a:solidFill>
                <a:latin typeface="Meiryo"/>
                <a:ea typeface="Meiryo"/>
                <a:cs typeface="Meiryo"/>
              </a:rPr>
              <a:t>他のプレイヤーと会う。</a:t>
            </a:r>
          </a:p>
        </p:txBody>
      </p:sp>
      <p:sp>
        <p:nvSpPr>
          <p:cNvPr id="5" name="shape-0077">
            <a:extLst xmlns:a="http://schemas.openxmlformats.org/drawingml/2006/main">
              <a:ext uri="{FF2B5EF4-FFF2-40B4-BE49-F238E27FC236}">
                <a16:creationId xmlns:a16="http://schemas.microsoft.com/office/drawing/2014/main" id="{1088B1AB-3CBE-4181-8DDD-4EF1EF77C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861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0078">
            <a:extLst xmlns:a="http://schemas.openxmlformats.org/drawingml/2006/main">
              <a:ext uri="{FF2B5EF4-FFF2-40B4-BE49-F238E27FC236}">
                <a16:creationId xmlns:a16="http://schemas.microsoft.com/office/drawing/2014/main" id="{D009DABC-20CB-411C-8652-2870F413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6F1"/>
                </a:solidFill>
                <a:latin typeface="Meiryo"/>
                <a:ea typeface="Meiryo"/>
                <a:cs typeface="Meiryo"/>
              </a:defRPr>
            </a:pPr>
            <a:r>
              <a:rPr sz="1350" b="1">
                <a:solidFill>
                  <a:srgbClr val="F7F6F1"/>
                </a:solidFill>
                <a:latin typeface="Meiryo"/>
                <a:ea typeface="Meiryo"/>
                <a:cs typeface="Meiryo"/>
              </a:rPr>
              <a:t>オレンジ</a:t>
            </a:r>
          </a:p>
        </p:txBody>
      </p:sp>
      <p:sp>
        <p:nvSpPr>
          <p:cNvPr id="7" name="text-0079">
            <a:extLst xmlns:a="http://schemas.openxmlformats.org/drawingml/2006/main">
              <a:ext uri="{FF2B5EF4-FFF2-40B4-BE49-F238E27FC236}">
                <a16:creationId xmlns:a16="http://schemas.microsoft.com/office/drawing/2014/main" id="{4A089EA2-D659-4CE6-8CC3-BF3DE9454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028950"/>
            <a:ext cx="2324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8BDC1"/>
                </a:solidFill>
                <a:latin typeface="Meiryo"/>
                <a:ea typeface="Meiryo"/>
                <a:cs typeface="Meiryo"/>
              </a:defRPr>
            </a:pPr>
            <a:r>
              <a:rPr sz="1200" b="0">
                <a:solidFill>
                  <a:srgbClr val="B8BDC1"/>
                </a:solidFill>
                <a:latin typeface="Meiryo"/>
                <a:ea typeface="Meiryo"/>
                <a:cs typeface="Meiryo"/>
              </a:rPr>
              <a:t>まもなく消える床</a:t>
            </a:r>
          </a:p>
        </p:txBody>
      </p:sp>
      <p:sp>
        <p:nvSpPr>
          <p:cNvPr id="8" name="shape-0080">
            <a:extLst xmlns:a="http://schemas.openxmlformats.org/drawingml/2006/main">
              <a:ext uri="{FF2B5EF4-FFF2-40B4-BE49-F238E27FC236}">
                <a16:creationId xmlns:a16="http://schemas.microsoft.com/office/drawing/2014/main" id="{5AF6B9E0-94AF-4D15-852A-415629E8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9095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E0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0081">
            <a:extLst xmlns:a="http://schemas.openxmlformats.org/drawingml/2006/main">
              <a:ext uri="{FF2B5EF4-FFF2-40B4-BE49-F238E27FC236}">
                <a16:creationId xmlns:a16="http://schemas.microsoft.com/office/drawing/2014/main" id="{3BDACAA1-D547-4628-9CC3-A0E919DE2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3380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6F1"/>
                </a:solidFill>
                <a:latin typeface="Meiryo"/>
                <a:ea typeface="Meiryo"/>
                <a:cs typeface="Meiryo"/>
              </a:defRPr>
            </a:pPr>
            <a:r>
              <a:rPr sz="1350" b="1">
                <a:solidFill>
                  <a:srgbClr val="F7F6F1"/>
                </a:solidFill>
                <a:latin typeface="Meiryo"/>
                <a:ea typeface="Meiryo"/>
                <a:cs typeface="Meiryo"/>
              </a:rPr>
              <a:t>緑</a:t>
            </a:r>
          </a:p>
        </p:txBody>
      </p:sp>
      <p:sp>
        <p:nvSpPr>
          <p:cNvPr id="10" name="text-0082">
            <a:extLst xmlns:a="http://schemas.openxmlformats.org/drawingml/2006/main">
              <a:ext uri="{FF2B5EF4-FFF2-40B4-BE49-F238E27FC236}">
                <a16:creationId xmlns:a16="http://schemas.microsoft.com/office/drawing/2014/main" id="{F1B34ED8-7436-45EB-BCEF-9B0773622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733800"/>
            <a:ext cx="2324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8BDC1"/>
                </a:solidFill>
                <a:latin typeface="Meiryo"/>
                <a:ea typeface="Meiryo"/>
                <a:cs typeface="Meiryo"/>
              </a:defRPr>
            </a:pPr>
            <a:r>
              <a:rPr sz="1200" b="0">
                <a:solidFill>
                  <a:srgbClr val="B8BDC1"/>
                </a:solidFill>
                <a:latin typeface="Meiryo"/>
                <a:ea typeface="Meiryo"/>
                <a:cs typeface="Meiryo"/>
              </a:rPr>
              <a:t>今は安全な床</a:t>
            </a:r>
          </a:p>
        </p:txBody>
      </p:sp>
      <p:sp>
        <p:nvSpPr>
          <p:cNvPr id="11" name="shape-0083">
            <a:extLst xmlns:a="http://schemas.openxmlformats.org/drawingml/2006/main">
              <a:ext uri="{FF2B5EF4-FFF2-40B4-BE49-F238E27FC236}">
                <a16:creationId xmlns:a16="http://schemas.microsoft.com/office/drawing/2014/main" id="{F23C43A5-6994-47CE-B918-45C28EF1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958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0084">
            <a:extLst xmlns:a="http://schemas.openxmlformats.org/drawingml/2006/main">
              <a:ext uri="{FF2B5EF4-FFF2-40B4-BE49-F238E27FC236}">
                <a16:creationId xmlns:a16="http://schemas.microsoft.com/office/drawing/2014/main" id="{F3AB1636-D20F-4A1C-94D1-68A3B11D3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3865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6F1"/>
                </a:solidFill>
                <a:latin typeface="Meiryo"/>
                <a:ea typeface="Meiryo"/>
                <a:cs typeface="Meiryo"/>
              </a:defRPr>
            </a:pPr>
            <a:r>
              <a:rPr sz="1350" b="1">
                <a:solidFill>
                  <a:srgbClr val="F7F6F1"/>
                </a:solidFill>
                <a:latin typeface="Meiryo"/>
                <a:ea typeface="Meiryo"/>
                <a:cs typeface="Meiryo"/>
              </a:rPr>
              <a:t>水色</a:t>
            </a:r>
          </a:p>
        </p:txBody>
      </p:sp>
      <p:sp>
        <p:nvSpPr>
          <p:cNvPr id="13" name="text-0085">
            <a:extLst xmlns:a="http://schemas.openxmlformats.org/drawingml/2006/main">
              <a:ext uri="{FF2B5EF4-FFF2-40B4-BE49-F238E27FC236}">
                <a16:creationId xmlns:a16="http://schemas.microsoft.com/office/drawing/2014/main" id="{C5E5DADE-512B-4E61-93BD-3F3BF113B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438650"/>
            <a:ext cx="2324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8BDC1"/>
                </a:solidFill>
                <a:latin typeface="Meiryo"/>
                <a:ea typeface="Meiryo"/>
                <a:cs typeface="Meiryo"/>
              </a:defRPr>
            </a:pPr>
            <a:r>
              <a:rPr sz="1200" b="0">
                <a:solidFill>
                  <a:srgbClr val="B8BDC1"/>
                </a:solidFill>
                <a:latin typeface="Meiryo"/>
                <a:ea typeface="Meiryo"/>
                <a:cs typeface="Meiryo"/>
              </a:rPr>
              <a:t>ショートカットや復帰地点</a:t>
            </a:r>
          </a:p>
        </p:txBody>
      </p:sp>
      <p:sp>
        <p:nvSpPr>
          <p:cNvPr id="14" name="rule-0086">
            <a:extLst xmlns:a="http://schemas.openxmlformats.org/drawingml/2006/main">
              <a:ext uri="{FF2B5EF4-FFF2-40B4-BE49-F238E27FC236}">
                <a16:creationId xmlns:a16="http://schemas.microsoft.com/office/drawing/2014/main" id="{F871A6D2-A66B-4BB7-BC43-D603CBF8C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76850"/>
            <a:ext cx="323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9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0087">
            <a:extLst xmlns:a="http://schemas.openxmlformats.org/drawingml/2006/main">
              <a:ext uri="{FF2B5EF4-FFF2-40B4-BE49-F238E27FC236}">
                <a16:creationId xmlns:a16="http://schemas.microsoft.com/office/drawing/2014/main" id="{ED1DEFDE-677E-4DC6-A81D-620D20EF8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67350"/>
            <a:ext cx="3390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4B400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F4B400"/>
                </a:solidFill>
                <a:latin typeface="Meiryo"/>
                <a:ea typeface="Meiryo"/>
                <a:cs typeface="Meiryo"/>
              </a:rPr>
              <a:t>安全に逃げるほど、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4B400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F4B400"/>
                </a:solidFill>
                <a:latin typeface="Meiryo"/>
                <a:ea typeface="Meiryo"/>
                <a:cs typeface="Meiryo"/>
              </a:rPr>
              <a:t>他のプレイヤーと会う。</a:t>
            </a:r>
          </a:p>
        </p:txBody>
      </p:sp>
      <p:sp>
        <p:nvSpPr>
          <p:cNvPr id="16" name="rule-0088">
            <a:extLst xmlns:a="http://schemas.openxmlformats.org/drawingml/2006/main">
              <a:ext uri="{FF2B5EF4-FFF2-40B4-BE49-F238E27FC236}">
                <a16:creationId xmlns:a16="http://schemas.microsoft.com/office/drawing/2014/main" id="{C70CAE0D-F1B2-4A90-B925-8861AA7B4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E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-0089">
            <a:extLst xmlns:a="http://schemas.openxmlformats.org/drawingml/2006/main">
              <a:ext uri="{FF2B5EF4-FFF2-40B4-BE49-F238E27FC236}">
                <a16:creationId xmlns:a16="http://schemas.microsoft.com/office/drawing/2014/main" id="{19D2D282-1287-4842-A789-10C1C8724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62725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AA0A6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9AA0A6"/>
                </a:solidFill>
                <a:latin typeface="Meiryo"/>
                <a:ea typeface="Meiryo"/>
                <a:cs typeface="Meiryo"/>
              </a:rPr>
              <a:t>ChaosDraftParty / 島田 泰成</a:t>
            </a:r>
          </a:p>
        </p:txBody>
      </p:sp>
      <p:sp>
        <p:nvSpPr>
          <p:cNvPr id="18" name="text-0090">
            <a:extLst xmlns:a="http://schemas.openxmlformats.org/drawingml/2006/main">
              <a:ext uri="{FF2B5EF4-FFF2-40B4-BE49-F238E27FC236}">
                <a16:creationId xmlns:a16="http://schemas.microsoft.com/office/drawing/2014/main" id="{36C4A412-D1C2-474E-A51F-CED6F86EE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436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4B400"/>
                </a:solidFill>
                <a:latin typeface="Meiryo"/>
                <a:ea typeface="Meiryo"/>
                <a:cs typeface="Meiryo"/>
              </a:defRPr>
            </a:pPr>
            <a:r>
              <a:rPr sz="975" b="1">
                <a:solidFill>
                  <a:srgbClr val="F4B400"/>
                </a:solidFill>
                <a:latin typeface="Meiryo"/>
                <a:ea typeface="Meiryo"/>
                <a:cs typeface="Meiry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830481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719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ule-0091">
            <a:extLst xmlns:a="http://schemas.openxmlformats.org/drawingml/2006/main">
              <a:ext uri="{FF2B5EF4-FFF2-40B4-BE49-F238E27FC236}">
                <a16:creationId xmlns:a16="http://schemas.microsoft.com/office/drawing/2014/main" id="{380F3CA3-75F9-45BB-94DF-143B3044D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4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0092">
            <a:extLst xmlns:a="http://schemas.openxmlformats.org/drawingml/2006/main">
              <a:ext uri="{FF2B5EF4-FFF2-40B4-BE49-F238E27FC236}">
                <a16:creationId xmlns:a16="http://schemas.microsoft.com/office/drawing/2014/main" id="{0161AF03-2643-44FE-B2DE-4D9632630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107442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450" b="1">
                <a:solidFill>
                  <a:srgbClr val="F7F6F1"/>
                </a:solidFill>
                <a:latin typeface="Meiryo"/>
                <a:ea typeface="Meiryo"/>
                <a:cs typeface="Meiryo"/>
              </a:defRPr>
            </a:pPr>
            <a:r>
              <a:rPr sz="3450" b="1">
                <a:solidFill>
                  <a:srgbClr val="F7F6F1"/>
                </a:solidFill>
                <a:latin typeface="Meiryo"/>
                <a:ea typeface="Meiryo"/>
                <a:cs typeface="Meiryo"/>
              </a:rPr>
              <a:t>プレイテストで見えた問題</a:t>
            </a:r>
          </a:p>
        </p:txBody>
      </p:sp>
      <p:sp>
        <p:nvSpPr>
          <p:cNvPr id="3" name="rule-0093">
            <a:extLst xmlns:a="http://schemas.openxmlformats.org/drawingml/2006/main">
              <a:ext uri="{FF2B5EF4-FFF2-40B4-BE49-F238E27FC236}">
                <a16:creationId xmlns:a16="http://schemas.microsoft.com/office/drawing/2014/main" id="{6BEBEA22-4794-468F-8F1B-3792787DF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E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094">
            <a:extLst xmlns:a="http://schemas.openxmlformats.org/drawingml/2006/main">
              <a:ext uri="{FF2B5EF4-FFF2-40B4-BE49-F238E27FC236}">
                <a16:creationId xmlns:a16="http://schemas.microsoft.com/office/drawing/2014/main" id="{01CDBC8C-6B17-4CDB-9D36-3629CEEE8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62725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AA0A6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9AA0A6"/>
                </a:solidFill>
                <a:latin typeface="Meiryo"/>
                <a:ea typeface="Meiryo"/>
                <a:cs typeface="Meiryo"/>
              </a:rPr>
              <a:t>ChaosDraftParty / 島田 泰成</a:t>
            </a:r>
          </a:p>
        </p:txBody>
      </p:sp>
      <p:sp>
        <p:nvSpPr>
          <p:cNvPr id="5" name="text-0095">
            <a:extLst xmlns:a="http://schemas.openxmlformats.org/drawingml/2006/main">
              <a:ext uri="{FF2B5EF4-FFF2-40B4-BE49-F238E27FC236}">
                <a16:creationId xmlns:a16="http://schemas.microsoft.com/office/drawing/2014/main" id="{2387BC48-1FAD-4246-B65F-0450C15F3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436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E6353D"/>
                </a:solidFill>
                <a:latin typeface="Meiryo"/>
                <a:ea typeface="Meiryo"/>
                <a:cs typeface="Meiryo"/>
              </a:defRPr>
            </a:pPr>
            <a:r>
              <a:rPr sz="975" b="1">
                <a:solidFill>
                  <a:srgbClr val="E6353D"/>
                </a:solidFill>
                <a:latin typeface="Meiryo"/>
                <a:ea typeface="Meiryo"/>
                <a:cs typeface="Meiryo"/>
              </a:rPr>
              <a:t>06</a:t>
            </a:r>
          </a:p>
        </p:txBody>
      </p:sp>
      <p:sp>
        <p:nvSpPr>
          <p:cNvPr id="6" name="text-0096">
            <a:extLst xmlns:a="http://schemas.openxmlformats.org/drawingml/2006/main">
              <a:ext uri="{FF2B5EF4-FFF2-40B4-BE49-F238E27FC236}">
                <a16:creationId xmlns:a16="http://schemas.microsoft.com/office/drawing/2014/main" id="{EA2C699D-3948-42C2-85B4-3A24531A0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7F6F1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F7F6F1"/>
                </a:solidFill>
                <a:latin typeface="Meiryo"/>
                <a:ea typeface="Meiryo"/>
                <a:cs typeface="Meiryo"/>
              </a:rPr>
              <a:t>「これ、</a:t>
            </a:r>
          </a:p>
        </p:txBody>
      </p:sp>
      <p:sp>
        <p:nvSpPr>
          <p:cNvPr id="7" name="text-0097">
            <a:extLst xmlns:a="http://schemas.openxmlformats.org/drawingml/2006/main">
              <a:ext uri="{FF2B5EF4-FFF2-40B4-BE49-F238E27FC236}">
                <a16:creationId xmlns:a16="http://schemas.microsoft.com/office/drawing/2014/main" id="{4CD59496-2FAE-4D9B-A10C-A75E04F97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562100"/>
            <a:ext cx="371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E6353D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E6353D"/>
                </a:solidFill>
                <a:latin typeface="Meiryo"/>
                <a:ea typeface="Meiryo"/>
                <a:cs typeface="Meiryo"/>
              </a:rPr>
              <a:t>何のゲーム？</a:t>
            </a:r>
          </a:p>
        </p:txBody>
      </p:sp>
      <p:sp>
        <p:nvSpPr>
          <p:cNvPr id="8" name="text-0098">
            <a:extLst xmlns:a="http://schemas.openxmlformats.org/drawingml/2006/main">
              <a:ext uri="{FF2B5EF4-FFF2-40B4-BE49-F238E27FC236}">
                <a16:creationId xmlns:a16="http://schemas.microsoft.com/office/drawing/2014/main" id="{D8EC719D-F402-4500-8F44-396031DE3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562100"/>
            <a:ext cx="400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7F6F1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F7F6F1"/>
                </a:solidFill>
                <a:latin typeface="Meiryo"/>
                <a:ea typeface="Meiryo"/>
                <a:cs typeface="Meiryo"/>
              </a:rPr>
              <a:t>」</a:t>
            </a:r>
          </a:p>
        </p:txBody>
      </p:sp>
      <p:sp>
        <p:nvSpPr>
          <p:cNvPr id="9" name="text-0099">
            <a:extLst xmlns:a="http://schemas.openxmlformats.org/drawingml/2006/main">
              <a:ext uri="{FF2B5EF4-FFF2-40B4-BE49-F238E27FC236}">
                <a16:creationId xmlns:a16="http://schemas.microsoft.com/office/drawing/2014/main" id="{2C46932B-C946-4802-AA0C-3E8D875DE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860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E959B"/>
                </a:solidFill>
                <a:latin typeface="Meiryo"/>
                <a:ea typeface="Meiryo"/>
                <a:cs typeface="Meiryo"/>
              </a:defRPr>
            </a:pPr>
            <a:r>
              <a:rPr sz="1050" b="0">
                <a:solidFill>
                  <a:srgbClr val="8E959B"/>
                </a:solidFill>
                <a:latin typeface="Meiryo"/>
                <a:ea typeface="Meiryo"/>
                <a:cs typeface="Meiryo"/>
              </a:rPr>
              <a:t>2026年6月の中間発表・プレイテスト</a:t>
            </a:r>
          </a:p>
        </p:txBody>
      </p:sp>
      <p:sp>
        <p:nvSpPr>
          <p:cNvPr id="10" name="rule-0100">
            <a:extLst xmlns:a="http://schemas.openxmlformats.org/drawingml/2006/main">
              <a:ext uri="{FF2B5EF4-FFF2-40B4-BE49-F238E27FC236}">
                <a16:creationId xmlns:a16="http://schemas.microsoft.com/office/drawing/2014/main" id="{0C40FCCD-F9E6-464B-9158-993709202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95600"/>
            <a:ext cx="19050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F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0101">
            <a:extLst xmlns:a="http://schemas.openxmlformats.org/drawingml/2006/main">
              <a:ext uri="{FF2B5EF4-FFF2-40B4-BE49-F238E27FC236}">
                <a16:creationId xmlns:a16="http://schemas.microsoft.com/office/drawing/2014/main" id="{56393E0D-AF54-408C-8EA0-9673FE825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7F6F1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F7F6F1"/>
                </a:solidFill>
                <a:latin typeface="Meiryo"/>
                <a:ea typeface="Meiryo"/>
                <a:cs typeface="Meiryo"/>
              </a:rPr>
              <a:t>3D TPSでは</a:t>
            </a:r>
          </a:p>
        </p:txBody>
      </p:sp>
      <p:sp>
        <p:nvSpPr>
          <p:cNvPr id="12" name="text-0102">
            <a:extLst xmlns:a="http://schemas.openxmlformats.org/drawingml/2006/main">
              <a:ext uri="{FF2B5EF4-FFF2-40B4-BE49-F238E27FC236}">
                <a16:creationId xmlns:a16="http://schemas.microsoft.com/office/drawing/2014/main" id="{82F0825B-0302-4085-AB72-E80E93BF3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9090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B8BDC1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B8BDC1"/>
                </a:solidFill>
                <a:latin typeface="Meiryo"/>
                <a:ea typeface="Meiryo"/>
                <a:cs typeface="Meiryo"/>
              </a:rPr>
              <a:t>プレイヤーが広がり、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B8BDC1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B8BDC1"/>
                </a:solidFill>
                <a:latin typeface="Meiryo"/>
                <a:ea typeface="Meiryo"/>
                <a:cs typeface="Meiryo"/>
              </a:rPr>
              <a:t>カメラ外の出来事が見えにくい。</a:t>
            </a:r>
          </a:p>
        </p:txBody>
      </p:sp>
      <p:sp>
        <p:nvSpPr>
          <p:cNvPr id="13" name="shape-0103">
            <a:extLst xmlns:a="http://schemas.openxmlformats.org/drawingml/2006/main">
              <a:ext uri="{FF2B5EF4-FFF2-40B4-BE49-F238E27FC236}">
                <a16:creationId xmlns:a16="http://schemas.microsoft.com/office/drawing/2014/main" id="{BBCFA6A5-BC62-4F9A-A500-37F86BA97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767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5D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hape-0104">
            <a:extLst xmlns:a="http://schemas.openxmlformats.org/drawingml/2006/main">
              <a:ext uri="{FF2B5EF4-FFF2-40B4-BE49-F238E27FC236}">
                <a16:creationId xmlns:a16="http://schemas.microsoft.com/office/drawing/2014/main" id="{3A2798F4-70DA-4E05-8BE8-60EA0A449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910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5D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hape-0105">
            <a:extLst xmlns:a="http://schemas.openxmlformats.org/drawingml/2006/main">
              <a:ext uri="{FF2B5EF4-FFF2-40B4-BE49-F238E27FC236}">
                <a16:creationId xmlns:a16="http://schemas.microsoft.com/office/drawing/2014/main" id="{192BE2E0-1866-4921-9B31-0BD1EBF3E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808" y="4000500"/>
            <a:ext cx="224028" cy="2240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353D"/>
          </a:solidFill>
          <a:ln xmlns:a="http://schemas.openxmlformats.org/drawingml/2006/main" w="19050">
            <a:solidFill>
              <a:srgbClr val="17191B"/>
            </a:solidFill>
            <a:prstDash val="solid"/>
          </a:ln>
        </p:spPr>
      </p:sp>
      <p:sp>
        <p:nvSpPr>
          <p:cNvPr id="16" name="shape-0106">
            <a:extLst xmlns:a="http://schemas.openxmlformats.org/drawingml/2006/main">
              <a:ext uri="{FF2B5EF4-FFF2-40B4-BE49-F238E27FC236}">
                <a16:creationId xmlns:a16="http://schemas.microsoft.com/office/drawing/2014/main" id="{1C3BA5E9-08A6-4189-8A3B-D44750DDB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81856"/>
            <a:ext cx="352044" cy="277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353D"/>
          </a:solidFill>
          <a:ln xmlns:a="http://schemas.openxmlformats.org/drawingml/2006/main" w="19050">
            <a:solidFill>
              <a:srgbClr val="17191B"/>
            </a:solidFill>
            <a:prstDash val="solid"/>
          </a:ln>
        </p:spPr>
      </p:sp>
      <p:sp>
        <p:nvSpPr>
          <p:cNvPr id="17" name="shape-0107">
            <a:extLst xmlns:a="http://schemas.openxmlformats.org/drawingml/2006/main">
              <a:ext uri="{FF2B5EF4-FFF2-40B4-BE49-F238E27FC236}">
                <a16:creationId xmlns:a16="http://schemas.microsoft.com/office/drawing/2014/main" id="{29B9C5F3-19EA-4116-AF4F-E52C4C163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5958" y="3695700"/>
            <a:ext cx="224028" cy="2240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6CE"/>
          </a:solidFill>
          <a:ln xmlns:a="http://schemas.openxmlformats.org/drawingml/2006/main" w="19050">
            <a:solidFill>
              <a:srgbClr val="17191B"/>
            </a:solidFill>
            <a:prstDash val="solid"/>
          </a:ln>
        </p:spPr>
      </p:sp>
      <p:sp>
        <p:nvSpPr>
          <p:cNvPr id="18" name="shape-0108">
            <a:extLst xmlns:a="http://schemas.openxmlformats.org/drawingml/2006/main">
              <a:ext uri="{FF2B5EF4-FFF2-40B4-BE49-F238E27FC236}">
                <a16:creationId xmlns:a16="http://schemas.microsoft.com/office/drawing/2014/main" id="{0AFC8BA0-A88E-4E81-A6A7-A0F8BB86B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877056"/>
            <a:ext cx="352044" cy="277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6CE"/>
          </a:solidFill>
          <a:ln xmlns:a="http://schemas.openxmlformats.org/drawingml/2006/main" w="19050">
            <a:solidFill>
              <a:srgbClr val="17191B"/>
            </a:solidFill>
            <a:prstDash val="solid"/>
          </a:ln>
        </p:spPr>
      </p:sp>
      <p:sp>
        <p:nvSpPr>
          <p:cNvPr id="19" name="text-0109">
            <a:extLst xmlns:a="http://schemas.openxmlformats.org/drawingml/2006/main">
              <a:ext uri="{FF2B5EF4-FFF2-40B4-BE49-F238E27FC236}">
                <a16:creationId xmlns:a16="http://schemas.microsoft.com/office/drawing/2014/main" id="{8169E3D8-1AF5-41A8-BD41-62F6800AA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0292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6353D"/>
                </a:solidFill>
                <a:latin typeface="Meiryo"/>
                <a:ea typeface="Meiryo"/>
                <a:cs typeface="Meiryo"/>
              </a:defRPr>
            </a:pPr>
            <a:r>
              <a:rPr sz="1500" b="1">
                <a:solidFill>
                  <a:srgbClr val="E6353D"/>
                </a:solidFill>
                <a:latin typeface="Meiryo"/>
                <a:ea typeface="Meiryo"/>
                <a:cs typeface="Meiryo"/>
              </a:rPr>
              <a:t>離れる</a:t>
            </a:r>
          </a:p>
        </p:txBody>
      </p:sp>
      <p:sp>
        <p:nvSpPr>
          <p:cNvPr id="20" name="text-0110">
            <a:extLst xmlns:a="http://schemas.openxmlformats.org/drawingml/2006/main">
              <a:ext uri="{FF2B5EF4-FFF2-40B4-BE49-F238E27FC236}">
                <a16:creationId xmlns:a16="http://schemas.microsoft.com/office/drawing/2014/main" id="{540D2F32-990B-4548-A528-F9C5F3AF7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52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7F6F1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F7F6F1"/>
                </a:solidFill>
                <a:latin typeface="Meiryo"/>
                <a:ea typeface="Meiryo"/>
                <a:cs typeface="Meiryo"/>
              </a:rPr>
              <a:t>2.5Dでは</a:t>
            </a:r>
          </a:p>
        </p:txBody>
      </p:sp>
      <p:sp>
        <p:nvSpPr>
          <p:cNvPr id="21" name="text-0111">
            <a:extLst xmlns:a="http://schemas.openxmlformats.org/drawingml/2006/main">
              <a:ext uri="{FF2B5EF4-FFF2-40B4-BE49-F238E27FC236}">
                <a16:creationId xmlns:a16="http://schemas.microsoft.com/office/drawing/2014/main" id="{8322B6D4-418D-4A6B-B1BD-1C7D377F3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90900"/>
            <a:ext cx="438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B8BDC1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B8BDC1"/>
                </a:solidFill>
                <a:latin typeface="Meiryo"/>
                <a:ea typeface="Meiryo"/>
                <a:cs typeface="Meiryo"/>
              </a:rPr>
              <a:t>全員が同じ画面に入り、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B8BDC1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B8BDC1"/>
                </a:solidFill>
                <a:latin typeface="Meiryo"/>
                <a:ea typeface="Meiryo"/>
                <a:cs typeface="Meiryo"/>
              </a:rPr>
              <a:t>舞台の形で中央へ集められる。</a:t>
            </a:r>
          </a:p>
        </p:txBody>
      </p:sp>
      <p:sp>
        <p:nvSpPr>
          <p:cNvPr id="22" name="shape-0112">
            <a:extLst xmlns:a="http://schemas.openxmlformats.org/drawingml/2006/main">
              <a:ext uri="{FF2B5EF4-FFF2-40B4-BE49-F238E27FC236}">
                <a16:creationId xmlns:a16="http://schemas.microsoft.com/office/drawing/2014/main" id="{8CC7648A-EBB2-4E39-9A5C-2D91B4EE9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66725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7B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hape-0113">
            <a:extLst xmlns:a="http://schemas.openxmlformats.org/drawingml/2006/main">
              <a:ext uri="{FF2B5EF4-FFF2-40B4-BE49-F238E27FC236}">
                <a16:creationId xmlns:a16="http://schemas.microsoft.com/office/drawing/2014/main" id="{873899CC-EA61-440D-A9D6-7474CB43E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2652" y="4019550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353D"/>
          </a:solidFill>
          <a:ln xmlns:a="http://schemas.openxmlformats.org/drawingml/2006/main" w="19050">
            <a:solidFill>
              <a:srgbClr val="17191B"/>
            </a:solidFill>
            <a:prstDash val="solid"/>
          </a:ln>
        </p:spPr>
      </p:sp>
      <p:sp>
        <p:nvSpPr>
          <p:cNvPr id="24" name="shape-0114">
            <a:extLst xmlns:a="http://schemas.openxmlformats.org/drawingml/2006/main">
              <a:ext uri="{FF2B5EF4-FFF2-40B4-BE49-F238E27FC236}">
                <a16:creationId xmlns:a16="http://schemas.microsoft.com/office/drawing/2014/main" id="{4BA6BED8-7BB7-4974-B957-DB3AD66D9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26814"/>
            <a:ext cx="402336" cy="3169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353D"/>
          </a:solidFill>
          <a:ln xmlns:a="http://schemas.openxmlformats.org/drawingml/2006/main" w="19050">
            <a:solidFill>
              <a:srgbClr val="17191B"/>
            </a:solidFill>
            <a:prstDash val="solid"/>
          </a:ln>
        </p:spPr>
      </p:sp>
      <p:sp>
        <p:nvSpPr>
          <p:cNvPr id="25" name="shape-0115">
            <a:extLst xmlns:a="http://schemas.openxmlformats.org/drawingml/2006/main">
              <a:ext uri="{FF2B5EF4-FFF2-40B4-BE49-F238E27FC236}">
                <a16:creationId xmlns:a16="http://schemas.microsoft.com/office/drawing/2014/main" id="{20030108-1F5E-4526-8D7C-3B322CC6A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7502" y="4019550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85A"/>
          </a:solidFill>
          <a:ln xmlns:a="http://schemas.openxmlformats.org/drawingml/2006/main" w="19050">
            <a:solidFill>
              <a:srgbClr val="17191B"/>
            </a:solidFill>
            <a:prstDash val="solid"/>
          </a:ln>
        </p:spPr>
      </p:sp>
      <p:sp>
        <p:nvSpPr>
          <p:cNvPr id="26" name="shape-0116">
            <a:extLst xmlns:a="http://schemas.openxmlformats.org/drawingml/2006/main">
              <a:ext uri="{FF2B5EF4-FFF2-40B4-BE49-F238E27FC236}">
                <a16:creationId xmlns:a16="http://schemas.microsoft.com/office/drawing/2014/main" id="{3C7020DC-167E-4289-A3F6-EF5DE7EBB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26814"/>
            <a:ext cx="402336" cy="3169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85A"/>
          </a:solidFill>
          <a:ln xmlns:a="http://schemas.openxmlformats.org/drawingml/2006/main" w="19050">
            <a:solidFill>
              <a:srgbClr val="17191B"/>
            </a:solidFill>
            <a:prstDash val="solid"/>
          </a:ln>
        </p:spPr>
      </p:sp>
      <p:sp>
        <p:nvSpPr>
          <p:cNvPr id="27" name="shape-0117">
            <a:extLst xmlns:a="http://schemas.openxmlformats.org/drawingml/2006/main">
              <a:ext uri="{FF2B5EF4-FFF2-40B4-BE49-F238E27FC236}">
                <a16:creationId xmlns:a16="http://schemas.microsoft.com/office/drawing/2014/main" id="{021C9406-949B-4534-8E0C-7AEB8A042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2352" y="4019550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6CE"/>
          </a:solidFill>
          <a:ln xmlns:a="http://schemas.openxmlformats.org/drawingml/2006/main" w="19050">
            <a:solidFill>
              <a:srgbClr val="17191B"/>
            </a:solidFill>
            <a:prstDash val="solid"/>
          </a:ln>
        </p:spPr>
      </p:sp>
      <p:sp>
        <p:nvSpPr>
          <p:cNvPr id="28" name="shape-0118">
            <a:extLst xmlns:a="http://schemas.openxmlformats.org/drawingml/2006/main">
              <a:ext uri="{FF2B5EF4-FFF2-40B4-BE49-F238E27FC236}">
                <a16:creationId xmlns:a16="http://schemas.microsoft.com/office/drawing/2014/main" id="{F056623B-A6B9-4A3E-BD3F-248F4CB84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226814"/>
            <a:ext cx="402336" cy="3169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6CE"/>
          </a:solidFill>
          <a:ln xmlns:a="http://schemas.openxmlformats.org/drawingml/2006/main" w="19050">
            <a:solidFill>
              <a:srgbClr val="17191B"/>
            </a:solidFill>
            <a:prstDash val="solid"/>
          </a:ln>
        </p:spPr>
      </p:sp>
      <p:sp>
        <p:nvSpPr>
          <p:cNvPr id="29" name="shape-0119">
            <a:extLst xmlns:a="http://schemas.openxmlformats.org/drawingml/2006/main">
              <a:ext uri="{FF2B5EF4-FFF2-40B4-BE49-F238E27FC236}">
                <a16:creationId xmlns:a16="http://schemas.microsoft.com/office/drawing/2014/main" id="{47E43702-167B-4C53-A7AD-B5DF80A3D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7202" y="4019550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400"/>
          </a:solidFill>
          <a:ln xmlns:a="http://schemas.openxmlformats.org/drawingml/2006/main" w="19050">
            <a:solidFill>
              <a:srgbClr val="17191B"/>
            </a:solidFill>
            <a:prstDash val="solid"/>
          </a:ln>
        </p:spPr>
      </p:sp>
      <p:sp>
        <p:nvSpPr>
          <p:cNvPr id="30" name="shape-0120">
            <a:extLst xmlns:a="http://schemas.openxmlformats.org/drawingml/2006/main">
              <a:ext uri="{FF2B5EF4-FFF2-40B4-BE49-F238E27FC236}">
                <a16:creationId xmlns:a16="http://schemas.microsoft.com/office/drawing/2014/main" id="{27167FF3-51D8-4D9F-B0A0-48DC74A30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226814"/>
            <a:ext cx="402336" cy="3169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400"/>
          </a:solidFill>
          <a:ln xmlns:a="http://schemas.openxmlformats.org/drawingml/2006/main" w="19050">
            <a:solidFill>
              <a:srgbClr val="17191B"/>
            </a:solidFill>
            <a:prstDash val="solid"/>
          </a:ln>
        </p:spPr>
      </p:sp>
      <p:sp>
        <p:nvSpPr>
          <p:cNvPr id="31" name="text-0121">
            <a:extLst xmlns:a="http://schemas.openxmlformats.org/drawingml/2006/main">
              <a:ext uri="{FF2B5EF4-FFF2-40B4-BE49-F238E27FC236}">
                <a16:creationId xmlns:a16="http://schemas.microsoft.com/office/drawing/2014/main" id="{4E85EBFA-FAF4-4E60-BEA4-0927CF2C1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219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8A85A"/>
                </a:solidFill>
                <a:latin typeface="Meiryo"/>
                <a:ea typeface="Meiryo"/>
                <a:cs typeface="Meiryo"/>
              </a:defRPr>
            </a:pPr>
            <a:r>
              <a:rPr sz="1500" b="1">
                <a:solidFill>
                  <a:srgbClr val="08A85A"/>
                </a:solidFill>
                <a:latin typeface="Meiryo"/>
                <a:ea typeface="Meiryo"/>
                <a:cs typeface="Meiryo"/>
              </a:rPr>
              <a:t>集まる → ぶつかる</a:t>
            </a:r>
          </a:p>
        </p:txBody>
      </p:sp>
    </p:spTree>
    <p:extLst>
      <p:ext uri="{BB962C8B-B14F-4D97-AF65-F5344CB8AC3E}">
        <p14:creationId xmlns:p14="http://schemas.microsoft.com/office/powerpoint/2010/main" val="14397839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ule-0122">
            <a:extLst xmlns:a="http://schemas.openxmlformats.org/drawingml/2006/main">
              <a:ext uri="{FF2B5EF4-FFF2-40B4-BE49-F238E27FC236}">
                <a16:creationId xmlns:a16="http://schemas.microsoft.com/office/drawing/2014/main" id="{E8EA2B3F-6AD7-4AC3-B184-FC56AFC6B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4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0123">
            <a:extLst xmlns:a="http://schemas.openxmlformats.org/drawingml/2006/main">
              <a:ext uri="{FF2B5EF4-FFF2-40B4-BE49-F238E27FC236}">
                <a16:creationId xmlns:a16="http://schemas.microsoft.com/office/drawing/2014/main" id="{15C04A9A-EE8C-438D-8331-D7A42BE53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10744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2.5Dとは？</a:t>
            </a:r>
          </a:p>
        </p:txBody>
      </p:sp>
      <p:sp>
        <p:nvSpPr>
          <p:cNvPr id="3" name="rule-0124">
            <a:extLst xmlns:a="http://schemas.openxmlformats.org/drawingml/2006/main">
              <a:ext uri="{FF2B5EF4-FFF2-40B4-BE49-F238E27FC236}">
                <a16:creationId xmlns:a16="http://schemas.microsoft.com/office/drawing/2014/main" id="{01785AF6-4BE9-47EE-925C-8D8DF6620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125">
            <a:extLst xmlns:a="http://schemas.openxmlformats.org/drawingml/2006/main">
              <a:ext uri="{FF2B5EF4-FFF2-40B4-BE49-F238E27FC236}">
                <a16:creationId xmlns:a16="http://schemas.microsoft.com/office/drawing/2014/main" id="{DEC2EF50-B0DB-44F6-B8E4-179B8F608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62725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ChaosDraftParty / 島田 泰成</a:t>
            </a:r>
          </a:p>
        </p:txBody>
      </p:sp>
      <p:sp>
        <p:nvSpPr>
          <p:cNvPr id="5" name="text-0126">
            <a:extLst xmlns:a="http://schemas.openxmlformats.org/drawingml/2006/main">
              <a:ext uri="{FF2B5EF4-FFF2-40B4-BE49-F238E27FC236}">
                <a16:creationId xmlns:a16="http://schemas.microsoft.com/office/drawing/2014/main" id="{9394C9FD-AD02-41CC-8624-DEB4E9213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436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0A6CE"/>
                </a:solidFill>
                <a:latin typeface="Meiryo"/>
                <a:ea typeface="Meiryo"/>
                <a:cs typeface="Meiryo"/>
              </a:defRPr>
            </a:pPr>
            <a:r>
              <a:rPr sz="975" b="1">
                <a:solidFill>
                  <a:srgbClr val="00A6CE"/>
                </a:solidFill>
                <a:latin typeface="Meiryo"/>
                <a:ea typeface="Meiryo"/>
                <a:cs typeface="Meiryo"/>
              </a:rPr>
              <a:t>07</a:t>
            </a:r>
          </a:p>
        </p:txBody>
      </p:sp>
      <p:sp>
        <p:nvSpPr>
          <p:cNvPr id="6" name="text-0127">
            <a:extLst xmlns:a="http://schemas.openxmlformats.org/drawingml/2006/main">
              <a:ext uri="{FF2B5EF4-FFF2-40B4-BE49-F238E27FC236}">
                <a16:creationId xmlns:a16="http://schemas.microsoft.com/office/drawing/2014/main" id="{341487BC-FE57-46ED-BEFF-D6143430D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15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見た目は3D。移動は左右と上下。</a:t>
            </a:r>
          </a:p>
        </p:txBody>
      </p:sp>
      <p:sp>
        <p:nvSpPr>
          <p:cNvPr id="7" name="shape-0128">
            <a:extLst xmlns:a="http://schemas.openxmlformats.org/drawingml/2006/main">
              <a:ext uri="{FF2B5EF4-FFF2-40B4-BE49-F238E27FC236}">
                <a16:creationId xmlns:a16="http://schemas.microsoft.com/office/drawing/2014/main" id="{81081B20-102E-48EC-B65F-00D7AC863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6858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7191B"/>
            </a:solidFill>
            <a:prstDash val="solid"/>
          </a:ln>
        </p:spPr>
      </p:sp>
      <p:sp>
        <p:nvSpPr>
          <p:cNvPr id="8" name="text-0129">
            <a:extLst xmlns:a="http://schemas.openxmlformats.org/drawingml/2006/main">
              <a:ext uri="{FF2B5EF4-FFF2-40B4-BE49-F238E27FC236}">
                <a16:creationId xmlns:a16="http://schemas.microsoft.com/office/drawing/2014/main" id="{86E3D61B-81EF-4FD7-9730-2EBC4453C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527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A6CE"/>
                </a:solidFill>
                <a:latin typeface="Meiryo"/>
                <a:ea typeface="Meiryo"/>
                <a:cs typeface="Meiryo"/>
              </a:defRPr>
            </a:pPr>
            <a:r>
              <a:rPr sz="1200" b="1">
                <a:solidFill>
                  <a:srgbClr val="00A6CE"/>
                </a:solidFill>
                <a:latin typeface="Meiryo"/>
                <a:ea typeface="Meiryo"/>
                <a:cs typeface="Meiryo"/>
              </a:rPr>
              <a:t>共有カメラの範囲</a:t>
            </a:r>
          </a:p>
        </p:txBody>
      </p:sp>
      <p:sp>
        <p:nvSpPr>
          <p:cNvPr id="9" name="shape-0130">
            <a:extLst xmlns:a="http://schemas.openxmlformats.org/drawingml/2006/main">
              <a:ext uri="{FF2B5EF4-FFF2-40B4-BE49-F238E27FC236}">
                <a16:creationId xmlns:a16="http://schemas.microsoft.com/office/drawing/2014/main" id="{FD0D1350-2B07-4B9E-B112-A98BC874D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86300"/>
            <a:ext cx="5943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3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hape-0131">
            <a:extLst xmlns:a="http://schemas.openxmlformats.org/drawingml/2006/main">
              <a:ext uri="{FF2B5EF4-FFF2-40B4-BE49-F238E27FC236}">
                <a16:creationId xmlns:a16="http://schemas.microsoft.com/office/drawing/2014/main" id="{BBECE255-CA44-41DA-B4E8-9D8671294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095750"/>
            <a:ext cx="2019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7F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hape-0132">
            <a:extLst xmlns:a="http://schemas.openxmlformats.org/drawingml/2006/main">
              <a:ext uri="{FF2B5EF4-FFF2-40B4-BE49-F238E27FC236}">
                <a16:creationId xmlns:a16="http://schemas.microsoft.com/office/drawing/2014/main" id="{6FC8BAD0-E0AB-452E-9F12-13AD53A77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7246" y="3943350"/>
            <a:ext cx="288036" cy="2880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353D"/>
          </a:solidFill>
          <a:ln xmlns:a="http://schemas.openxmlformats.org/drawingml/2006/main" w="19050">
            <a:solidFill>
              <a:srgbClr val="17191B"/>
            </a:solidFill>
            <a:prstDash val="solid"/>
          </a:ln>
        </p:spPr>
      </p:sp>
      <p:sp>
        <p:nvSpPr>
          <p:cNvPr id="12" name="shape-0133">
            <a:extLst xmlns:a="http://schemas.openxmlformats.org/drawingml/2006/main">
              <a:ext uri="{FF2B5EF4-FFF2-40B4-BE49-F238E27FC236}">
                <a16:creationId xmlns:a16="http://schemas.microsoft.com/office/drawing/2014/main" id="{235AB93A-2A3F-4399-9D44-3F1437E1D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176522"/>
            <a:ext cx="452628" cy="3566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353D"/>
          </a:solidFill>
          <a:ln xmlns:a="http://schemas.openxmlformats.org/drawingml/2006/main" w="19050">
            <a:solidFill>
              <a:srgbClr val="17191B"/>
            </a:solidFill>
            <a:prstDash val="solid"/>
          </a:ln>
        </p:spPr>
      </p:sp>
      <p:sp>
        <p:nvSpPr>
          <p:cNvPr id="13" name="shape-0134">
            <a:extLst xmlns:a="http://schemas.openxmlformats.org/drawingml/2006/main">
              <a:ext uri="{FF2B5EF4-FFF2-40B4-BE49-F238E27FC236}">
                <a16:creationId xmlns:a16="http://schemas.microsoft.com/office/drawing/2014/main" id="{38824043-FA18-4FB4-952C-745C5CCDF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7896" y="3390900"/>
            <a:ext cx="288036" cy="2880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85A"/>
          </a:solidFill>
          <a:ln xmlns:a="http://schemas.openxmlformats.org/drawingml/2006/main" w="19050">
            <a:solidFill>
              <a:srgbClr val="17191B"/>
            </a:solidFill>
            <a:prstDash val="solid"/>
          </a:ln>
        </p:spPr>
      </p:sp>
      <p:sp>
        <p:nvSpPr>
          <p:cNvPr id="14" name="shape-0135">
            <a:extLst xmlns:a="http://schemas.openxmlformats.org/drawingml/2006/main">
              <a:ext uri="{FF2B5EF4-FFF2-40B4-BE49-F238E27FC236}">
                <a16:creationId xmlns:a16="http://schemas.microsoft.com/office/drawing/2014/main" id="{95890704-F4ED-490E-AB98-CF24AB01D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624072"/>
            <a:ext cx="452628" cy="3566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85A"/>
          </a:solidFill>
          <a:ln xmlns:a="http://schemas.openxmlformats.org/drawingml/2006/main" w="19050">
            <a:solidFill>
              <a:srgbClr val="17191B"/>
            </a:solidFill>
            <a:prstDash val="solid"/>
          </a:ln>
        </p:spPr>
      </p:sp>
      <p:sp>
        <p:nvSpPr>
          <p:cNvPr id="15" name="shape-0136">
            <a:extLst xmlns:a="http://schemas.openxmlformats.org/drawingml/2006/main">
              <a:ext uri="{FF2B5EF4-FFF2-40B4-BE49-F238E27FC236}">
                <a16:creationId xmlns:a16="http://schemas.microsoft.com/office/drawing/2014/main" id="{2B07E47F-FDEB-47E8-BEB1-A5A741376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146" y="3390900"/>
            <a:ext cx="288036" cy="2880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6CE"/>
          </a:solidFill>
          <a:ln xmlns:a="http://schemas.openxmlformats.org/drawingml/2006/main" w="19050">
            <a:solidFill>
              <a:srgbClr val="17191B"/>
            </a:solidFill>
            <a:prstDash val="solid"/>
          </a:ln>
        </p:spPr>
      </p:sp>
      <p:sp>
        <p:nvSpPr>
          <p:cNvPr id="16" name="shape-0137">
            <a:extLst xmlns:a="http://schemas.openxmlformats.org/drawingml/2006/main">
              <a:ext uri="{FF2B5EF4-FFF2-40B4-BE49-F238E27FC236}">
                <a16:creationId xmlns:a16="http://schemas.microsoft.com/office/drawing/2014/main" id="{4FCCEE4F-293D-4C6A-BF36-AF85C79E8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624072"/>
            <a:ext cx="452628" cy="3566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6CE"/>
          </a:solidFill>
          <a:ln xmlns:a="http://schemas.openxmlformats.org/drawingml/2006/main" w="19050">
            <a:solidFill>
              <a:srgbClr val="17191B"/>
            </a:solidFill>
            <a:prstDash val="solid"/>
          </a:ln>
        </p:spPr>
      </p:sp>
      <p:sp>
        <p:nvSpPr>
          <p:cNvPr id="17" name="shape-0138">
            <a:extLst xmlns:a="http://schemas.openxmlformats.org/drawingml/2006/main">
              <a:ext uri="{FF2B5EF4-FFF2-40B4-BE49-F238E27FC236}">
                <a16:creationId xmlns:a16="http://schemas.microsoft.com/office/drawing/2014/main" id="{FF986ABF-F556-4964-80C5-157DBDC38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3046" y="3943350"/>
            <a:ext cx="288036" cy="2880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400"/>
          </a:solidFill>
          <a:ln xmlns:a="http://schemas.openxmlformats.org/drawingml/2006/main" w="19050">
            <a:solidFill>
              <a:srgbClr val="17191B"/>
            </a:solidFill>
            <a:prstDash val="solid"/>
          </a:ln>
        </p:spPr>
      </p:sp>
      <p:sp>
        <p:nvSpPr>
          <p:cNvPr id="18" name="shape-0139">
            <a:extLst xmlns:a="http://schemas.openxmlformats.org/drawingml/2006/main">
              <a:ext uri="{FF2B5EF4-FFF2-40B4-BE49-F238E27FC236}">
                <a16:creationId xmlns:a16="http://schemas.microsoft.com/office/drawing/2014/main" id="{4B0DD7F5-0C4A-430A-B0D0-59A5E1F36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176522"/>
            <a:ext cx="452628" cy="3566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400"/>
          </a:solidFill>
          <a:ln xmlns:a="http://schemas.openxmlformats.org/drawingml/2006/main" w="19050">
            <a:solidFill>
              <a:srgbClr val="17191B"/>
            </a:solidFill>
            <a:prstDash val="solid"/>
          </a:ln>
        </p:spPr>
      </p:sp>
      <p:sp>
        <p:nvSpPr>
          <p:cNvPr id="19" name="text-0140">
            <a:extLst xmlns:a="http://schemas.openxmlformats.org/drawingml/2006/main">
              <a:ext uri="{FF2B5EF4-FFF2-40B4-BE49-F238E27FC236}">
                <a16:creationId xmlns:a16="http://schemas.microsoft.com/office/drawing/2014/main" id="{A3BFC5B7-9B00-4867-A3EE-C51946FF9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2197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350" b="1">
                <a:solidFill>
                  <a:srgbClr val="5C6268"/>
                </a:solidFill>
                <a:latin typeface="Meiryo"/>
                <a:ea typeface="Meiryo"/>
                <a:cs typeface="Meiryo"/>
              </a:rPr>
              <a:t>左右の線上で戦う</a:t>
            </a:r>
          </a:p>
        </p:txBody>
      </p:sp>
      <p:sp>
        <p:nvSpPr>
          <p:cNvPr id="20" name="rule-0141">
            <a:extLst xmlns:a="http://schemas.openxmlformats.org/drawingml/2006/main">
              <a:ext uri="{FF2B5EF4-FFF2-40B4-BE49-F238E27FC236}">
                <a16:creationId xmlns:a16="http://schemas.microsoft.com/office/drawing/2014/main" id="{8BE164F5-F9DC-4DEF-AD5D-E4D5AEBDE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28900"/>
            <a:ext cx="114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-0142">
            <a:extLst xmlns:a="http://schemas.openxmlformats.org/drawingml/2006/main">
              <a:ext uri="{FF2B5EF4-FFF2-40B4-BE49-F238E27FC236}">
                <a16:creationId xmlns:a16="http://schemas.microsoft.com/office/drawing/2014/main" id="{3A6C1571-ECCE-4924-A65D-6770B5840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289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725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全員が見える</a:t>
            </a:r>
          </a:p>
        </p:txBody>
      </p:sp>
      <p:sp>
        <p:nvSpPr>
          <p:cNvPr id="22" name="text-0143">
            <a:extLst xmlns:a="http://schemas.openxmlformats.org/drawingml/2006/main">
              <a:ext uri="{FF2B5EF4-FFF2-40B4-BE49-F238E27FC236}">
                <a16:creationId xmlns:a16="http://schemas.microsoft.com/office/drawing/2014/main" id="{B40241DD-02C9-4178-A586-9DBED7160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289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誰がどこにいるか一目で分かる</a:t>
            </a:r>
          </a:p>
        </p:txBody>
      </p:sp>
      <p:sp>
        <p:nvSpPr>
          <p:cNvPr id="23" name="rule-0144">
            <a:extLst xmlns:a="http://schemas.openxmlformats.org/drawingml/2006/main">
              <a:ext uri="{FF2B5EF4-FFF2-40B4-BE49-F238E27FC236}">
                <a16:creationId xmlns:a16="http://schemas.microsoft.com/office/drawing/2014/main" id="{502D92B3-80CE-4E05-A755-EF9EA6F24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57600"/>
            <a:ext cx="114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8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-0145">
            <a:extLst xmlns:a="http://schemas.openxmlformats.org/drawingml/2006/main">
              <a:ext uri="{FF2B5EF4-FFF2-40B4-BE49-F238E27FC236}">
                <a16:creationId xmlns:a16="http://schemas.microsoft.com/office/drawing/2014/main" id="{AD3D4F4B-A6AB-4B8A-85CA-7645F6EA0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576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725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出会いやすい</a:t>
            </a:r>
          </a:p>
        </p:txBody>
      </p:sp>
      <p:sp>
        <p:nvSpPr>
          <p:cNvPr id="25" name="text-0146">
            <a:extLst xmlns:a="http://schemas.openxmlformats.org/drawingml/2006/main">
              <a:ext uri="{FF2B5EF4-FFF2-40B4-BE49-F238E27FC236}">
                <a16:creationId xmlns:a16="http://schemas.microsoft.com/office/drawing/2014/main" id="{097C4F2A-C7BB-4D54-B98E-EEF5AD34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576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安全地帯と通路を同じ線上に置ける</a:t>
            </a:r>
          </a:p>
        </p:txBody>
      </p:sp>
      <p:sp>
        <p:nvSpPr>
          <p:cNvPr id="26" name="rule-0147">
            <a:extLst xmlns:a="http://schemas.openxmlformats.org/drawingml/2006/main">
              <a:ext uri="{FF2B5EF4-FFF2-40B4-BE49-F238E27FC236}">
                <a16:creationId xmlns:a16="http://schemas.microsoft.com/office/drawing/2014/main" id="{7134219A-E8BD-4476-A23C-003B0CB8A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686300"/>
            <a:ext cx="114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-0148">
            <a:extLst xmlns:a="http://schemas.openxmlformats.org/drawingml/2006/main">
              <a:ext uri="{FF2B5EF4-FFF2-40B4-BE49-F238E27FC236}">
                <a16:creationId xmlns:a16="http://schemas.microsoft.com/office/drawing/2014/main" id="{178928E3-4560-40D3-88B6-5F0177639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6863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725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操作を磨ける</a:t>
            </a:r>
          </a:p>
        </p:txBody>
      </p:sp>
      <p:sp>
        <p:nvSpPr>
          <p:cNvPr id="28" name="text-0149">
            <a:extLst xmlns:a="http://schemas.openxmlformats.org/drawingml/2006/main">
              <a:ext uri="{FF2B5EF4-FFF2-40B4-BE49-F238E27FC236}">
                <a16:creationId xmlns:a16="http://schemas.microsoft.com/office/drawing/2014/main" id="{85C777B4-B0A5-4424-9FCB-255C46F51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0863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移動の軸を絞り、ジャンプや衝突に集中</a:t>
            </a:r>
          </a:p>
        </p:txBody>
      </p:sp>
    </p:spTree>
    <p:extLst>
      <p:ext uri="{BB962C8B-B14F-4D97-AF65-F5344CB8AC3E}">
        <p14:creationId xmlns:p14="http://schemas.microsoft.com/office/powerpoint/2010/main" val="3524485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ule-0150">
            <a:extLst xmlns:a="http://schemas.openxmlformats.org/drawingml/2006/main">
              <a:ext uri="{FF2B5EF4-FFF2-40B4-BE49-F238E27FC236}">
                <a16:creationId xmlns:a16="http://schemas.microsoft.com/office/drawing/2014/main" id="{B544C249-81A3-40C7-9845-7FCC717D1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4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8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0151">
            <a:extLst xmlns:a="http://schemas.openxmlformats.org/drawingml/2006/main">
              <a:ext uri="{FF2B5EF4-FFF2-40B4-BE49-F238E27FC236}">
                <a16:creationId xmlns:a16="http://schemas.microsoft.com/office/drawing/2014/main" id="{0134673F-3EF6-4594-A28E-B10E6B699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10744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15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15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Unityで作ったものは、Unrealでも生かす</a:t>
            </a:r>
          </a:p>
        </p:txBody>
      </p:sp>
      <p:sp>
        <p:nvSpPr>
          <p:cNvPr id="3" name="rule-0152">
            <a:extLst xmlns:a="http://schemas.openxmlformats.org/drawingml/2006/main">
              <a:ext uri="{FF2B5EF4-FFF2-40B4-BE49-F238E27FC236}">
                <a16:creationId xmlns:a16="http://schemas.microsoft.com/office/drawing/2014/main" id="{23F9B729-657F-40D6-BFB4-527535ECA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153">
            <a:extLst xmlns:a="http://schemas.openxmlformats.org/drawingml/2006/main">
              <a:ext uri="{FF2B5EF4-FFF2-40B4-BE49-F238E27FC236}">
                <a16:creationId xmlns:a16="http://schemas.microsoft.com/office/drawing/2014/main" id="{98728E62-B0C7-423D-955A-7869FD6F6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62725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ChaosDraftParty / 島田 泰成</a:t>
            </a:r>
          </a:p>
        </p:txBody>
      </p:sp>
      <p:sp>
        <p:nvSpPr>
          <p:cNvPr id="5" name="text-0154">
            <a:extLst xmlns:a="http://schemas.openxmlformats.org/drawingml/2006/main">
              <a:ext uri="{FF2B5EF4-FFF2-40B4-BE49-F238E27FC236}">
                <a16:creationId xmlns:a16="http://schemas.microsoft.com/office/drawing/2014/main" id="{C6838F60-ECF2-482E-8745-262245FAF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436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8A85A"/>
                </a:solidFill>
                <a:latin typeface="Meiryo"/>
                <a:ea typeface="Meiryo"/>
                <a:cs typeface="Meiryo"/>
              </a:defRPr>
            </a:pPr>
            <a:r>
              <a:rPr sz="975" b="1">
                <a:solidFill>
                  <a:srgbClr val="08A85A"/>
                </a:solidFill>
                <a:latin typeface="Meiryo"/>
                <a:ea typeface="Meiryo"/>
                <a:cs typeface="Meiryo"/>
              </a:rPr>
              <a:t>08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218ad05b324fc1"/>
          <a:srcRect xmlns:a="http://schemas.openxmlformats.org/drawingml/2006/main" l="0" t="14000" r="0" b="14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619250"/>
            <a:ext cx="3333750" cy="2400300"/>
          </a:xfrm>
          <a:prstGeom xmlns:a="http://schemas.openxmlformats.org/drawingml/2006/main" prst="rect">
            <a:avLst/>
          </a:prstGeom>
        </p:spPr>
      </p:pic>
      <p:sp>
        <p:nvSpPr>
          <p:cNvPr id="7" name="image-border-0156">
            <a:extLst xmlns:a="http://schemas.openxmlformats.org/drawingml/2006/main">
              <a:ext uri="{FF2B5EF4-FFF2-40B4-BE49-F238E27FC236}">
                <a16:creationId xmlns:a16="http://schemas.microsoft.com/office/drawing/2014/main" id="{B65DC865-F2D5-48C1-B91E-BF55CB680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19250"/>
            <a:ext cx="333375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191B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2b765111fe41ed"/>
          <a:srcRect xmlns:a="http://schemas.openxmlformats.org/drawingml/2006/main" l="10727" t="0" r="1072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38650" y="1619250"/>
            <a:ext cx="3333750" cy="2400300"/>
          </a:xfrm>
          <a:prstGeom xmlns:a="http://schemas.openxmlformats.org/drawingml/2006/main" prst="rect">
            <a:avLst/>
          </a:prstGeom>
        </p:spPr>
      </p:pic>
      <p:sp>
        <p:nvSpPr>
          <p:cNvPr id="9" name="image-border-0158">
            <a:extLst xmlns:a="http://schemas.openxmlformats.org/drawingml/2006/main">
              <a:ext uri="{FF2B5EF4-FFF2-40B4-BE49-F238E27FC236}">
                <a16:creationId xmlns:a16="http://schemas.microsoft.com/office/drawing/2014/main" id="{E89B676B-7A0A-4F03-AFB5-C26926C18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619250"/>
            <a:ext cx="333375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191B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860c830cc24057"/>
          <a:srcRect xmlns:a="http://schemas.openxmlformats.org/drawingml/2006/main" l="10082" t="0" r="1008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43900" y="1619250"/>
            <a:ext cx="3314700" cy="2400300"/>
          </a:xfrm>
          <a:prstGeom xmlns:a="http://schemas.openxmlformats.org/drawingml/2006/main" prst="rect">
            <a:avLst/>
          </a:prstGeom>
        </p:spPr>
      </p:pic>
      <p:sp>
        <p:nvSpPr>
          <p:cNvPr id="11" name="image-border-0160">
            <a:extLst xmlns:a="http://schemas.openxmlformats.org/drawingml/2006/main">
              <a:ext uri="{FF2B5EF4-FFF2-40B4-BE49-F238E27FC236}">
                <a16:creationId xmlns:a16="http://schemas.microsoft.com/office/drawing/2014/main" id="{1FE065BF-39B6-4CC7-B404-E771A19E9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19250"/>
            <a:ext cx="331470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191B"/>
            </a:solidFill>
            <a:prstDash val="solid"/>
          </a:ln>
        </p:spPr>
      </p:sp>
      <p:sp>
        <p:nvSpPr>
          <p:cNvPr id="12" name="rule-0161">
            <a:extLst xmlns:a="http://schemas.openxmlformats.org/drawingml/2006/main">
              <a:ext uri="{FF2B5EF4-FFF2-40B4-BE49-F238E27FC236}">
                <a16:creationId xmlns:a16="http://schemas.microsoft.com/office/drawing/2014/main" id="{18C6DE94-8FED-404F-AD86-9F901C145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05300"/>
            <a:ext cx="3333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0162">
            <a:extLst xmlns:a="http://schemas.openxmlformats.org/drawingml/2006/main">
              <a:ext uri="{FF2B5EF4-FFF2-40B4-BE49-F238E27FC236}">
                <a16:creationId xmlns:a16="http://schemas.microsoft.com/office/drawing/2014/main" id="{E74E627A-F0EE-459C-A1EE-BBFA4E097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3390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875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キャラクター</a:t>
            </a:r>
          </a:p>
        </p:txBody>
      </p:sp>
      <p:sp>
        <p:nvSpPr>
          <p:cNvPr id="14" name="text-0163">
            <a:extLst xmlns:a="http://schemas.openxmlformats.org/drawingml/2006/main">
              <a:ext uri="{FF2B5EF4-FFF2-40B4-BE49-F238E27FC236}">
                <a16:creationId xmlns:a16="http://schemas.microsoft.com/office/drawing/2014/main" id="{E206284C-8A61-49E2-A0AD-A3583E9B9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91100"/>
            <a:ext cx="333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35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EGGYBOTの形、動き、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35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カメラ近くでの見え方</a:t>
            </a:r>
          </a:p>
        </p:txBody>
      </p:sp>
      <p:sp>
        <p:nvSpPr>
          <p:cNvPr id="15" name="rule-0164">
            <a:extLst xmlns:a="http://schemas.openxmlformats.org/drawingml/2006/main">
              <a:ext uri="{FF2B5EF4-FFF2-40B4-BE49-F238E27FC236}">
                <a16:creationId xmlns:a16="http://schemas.microsoft.com/office/drawing/2014/main" id="{D9254AA7-1D57-44B5-9B12-668807DBC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305300"/>
            <a:ext cx="3333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8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0165">
            <a:extLst xmlns:a="http://schemas.openxmlformats.org/drawingml/2006/main">
              <a:ext uri="{FF2B5EF4-FFF2-40B4-BE49-F238E27FC236}">
                <a16:creationId xmlns:a16="http://schemas.microsoft.com/office/drawing/2014/main" id="{207FFE1D-B661-4C55-B6A9-85DC7B47F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53390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875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遊びの検証</a:t>
            </a:r>
          </a:p>
        </p:txBody>
      </p:sp>
      <p:sp>
        <p:nvSpPr>
          <p:cNvPr id="17" name="text-0166">
            <a:extLst xmlns:a="http://schemas.openxmlformats.org/drawingml/2006/main">
              <a:ext uri="{FF2B5EF4-FFF2-40B4-BE49-F238E27FC236}">
                <a16:creationId xmlns:a16="http://schemas.microsoft.com/office/drawing/2014/main" id="{A7BFDF8E-B228-46E2-A6DB-C2D0AB9F5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991100"/>
            <a:ext cx="333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35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広すぎると会えない、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35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中央へ集めると事故が起きる</a:t>
            </a:r>
          </a:p>
        </p:txBody>
      </p:sp>
      <p:sp>
        <p:nvSpPr>
          <p:cNvPr id="18" name="rule-0167">
            <a:extLst xmlns:a="http://schemas.openxmlformats.org/drawingml/2006/main">
              <a:ext uri="{FF2B5EF4-FFF2-40B4-BE49-F238E27FC236}">
                <a16:creationId xmlns:a16="http://schemas.microsoft.com/office/drawing/2014/main" id="{EE15E6D3-B38C-42CC-93B9-2E27B71E1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305300"/>
            <a:ext cx="3333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0168">
            <a:extLst xmlns:a="http://schemas.openxmlformats.org/drawingml/2006/main">
              <a:ext uri="{FF2B5EF4-FFF2-40B4-BE49-F238E27FC236}">
                <a16:creationId xmlns:a16="http://schemas.microsoft.com/office/drawing/2014/main" id="{54D2CD43-46A3-411D-B10D-83379EEF9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3390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875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Unrealへ移行</a:t>
            </a:r>
          </a:p>
        </p:txBody>
      </p:sp>
      <p:sp>
        <p:nvSpPr>
          <p:cNvPr id="20" name="text-0169">
            <a:extLst xmlns:a="http://schemas.openxmlformats.org/drawingml/2006/main">
              <a:ext uri="{FF2B5EF4-FFF2-40B4-BE49-F238E27FC236}">
                <a16:creationId xmlns:a16="http://schemas.microsoft.com/office/drawing/2014/main" id="{EFB899A2-EB43-4F94-9052-6579AA3AC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991100"/>
            <a:ext cx="333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35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ファイルを移すだけでなく、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35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得た設計判断を作り直す</a:t>
            </a:r>
          </a:p>
        </p:txBody>
      </p:sp>
      <p:sp>
        <p:nvSpPr>
          <p:cNvPr id="21" name="text-0170">
            <a:extLst xmlns:a="http://schemas.openxmlformats.org/drawingml/2006/main">
              <a:ext uri="{FF2B5EF4-FFF2-40B4-BE49-F238E27FC236}">
                <a16:creationId xmlns:a16="http://schemas.microsoft.com/office/drawing/2014/main" id="{A359A889-9EF8-40C0-AB9E-9E9C9DA13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6265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35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移行で引き継ぐのは、ゲームのデータと「なぜそう作ったか」の記録。</a:t>
            </a:r>
          </a:p>
        </p:txBody>
      </p:sp>
    </p:spTree>
    <p:extLst>
      <p:ext uri="{BB962C8B-B14F-4D97-AF65-F5344CB8AC3E}">
        <p14:creationId xmlns:p14="http://schemas.microsoft.com/office/powerpoint/2010/main" val="53604268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719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ule-0171">
            <a:extLst xmlns:a="http://schemas.openxmlformats.org/drawingml/2006/main">
              <a:ext uri="{FF2B5EF4-FFF2-40B4-BE49-F238E27FC236}">
                <a16:creationId xmlns:a16="http://schemas.microsoft.com/office/drawing/2014/main" id="{10524C8E-DEEB-44D7-A475-56902BAC9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4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0172">
            <a:extLst xmlns:a="http://schemas.openxmlformats.org/drawingml/2006/main">
              <a:ext uri="{FF2B5EF4-FFF2-40B4-BE49-F238E27FC236}">
                <a16:creationId xmlns:a16="http://schemas.microsoft.com/office/drawing/2014/main" id="{9E2BDEEB-0957-43D5-B364-A049D0E58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107442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450" b="1">
                <a:solidFill>
                  <a:srgbClr val="F7F6F1"/>
                </a:solidFill>
                <a:latin typeface="Meiryo"/>
                <a:ea typeface="Meiryo"/>
                <a:cs typeface="Meiryo"/>
              </a:defRPr>
            </a:pPr>
            <a:r>
              <a:rPr sz="3450" b="1">
                <a:solidFill>
                  <a:srgbClr val="F7F6F1"/>
                </a:solidFill>
                <a:latin typeface="Meiryo"/>
                <a:ea typeface="Meiryo"/>
                <a:cs typeface="Meiryo"/>
              </a:rPr>
              <a:t>Unreal Engineでの現在地</a:t>
            </a:r>
          </a:p>
        </p:txBody>
      </p:sp>
      <p:sp>
        <p:nvSpPr>
          <p:cNvPr id="3" name="rule-0173">
            <a:extLst xmlns:a="http://schemas.openxmlformats.org/drawingml/2006/main">
              <a:ext uri="{FF2B5EF4-FFF2-40B4-BE49-F238E27FC236}">
                <a16:creationId xmlns:a16="http://schemas.microsoft.com/office/drawing/2014/main" id="{CDE6238E-8121-45B5-9AC4-BB803C9B6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E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174">
            <a:extLst xmlns:a="http://schemas.openxmlformats.org/drawingml/2006/main">
              <a:ext uri="{FF2B5EF4-FFF2-40B4-BE49-F238E27FC236}">
                <a16:creationId xmlns:a16="http://schemas.microsoft.com/office/drawing/2014/main" id="{CC798F1E-EA0C-4864-9399-CD95D5C7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62725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AA0A6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9AA0A6"/>
                </a:solidFill>
                <a:latin typeface="Meiryo"/>
                <a:ea typeface="Meiryo"/>
                <a:cs typeface="Meiryo"/>
              </a:rPr>
              <a:t>ChaosDraftParty / 島田 泰成</a:t>
            </a:r>
          </a:p>
        </p:txBody>
      </p:sp>
      <p:sp>
        <p:nvSpPr>
          <p:cNvPr id="5" name="text-0175">
            <a:extLst xmlns:a="http://schemas.openxmlformats.org/drawingml/2006/main">
              <a:ext uri="{FF2B5EF4-FFF2-40B4-BE49-F238E27FC236}">
                <a16:creationId xmlns:a16="http://schemas.microsoft.com/office/drawing/2014/main" id="{97374727-2EDB-432B-9F6C-088B1A78C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436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0A6CE"/>
                </a:solidFill>
                <a:latin typeface="Meiryo"/>
                <a:ea typeface="Meiryo"/>
                <a:cs typeface="Meiryo"/>
              </a:defRPr>
            </a:pPr>
            <a:r>
              <a:rPr sz="975" b="1">
                <a:solidFill>
                  <a:srgbClr val="00A6CE"/>
                </a:solidFill>
                <a:latin typeface="Meiryo"/>
                <a:ea typeface="Meiryo"/>
                <a:cs typeface="Meiryo"/>
              </a:rPr>
              <a:t>09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ea3533a4334743"/>
          <a:srcRect xmlns:a="http://schemas.openxmlformats.org/drawingml/2006/main" l="0" t="1067" r="0" b="10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619250"/>
            <a:ext cx="7239000" cy="4095750"/>
          </a:xfrm>
          <a:prstGeom xmlns:a="http://schemas.openxmlformats.org/drawingml/2006/main" prst="rect">
            <a:avLst/>
          </a:prstGeom>
        </p:spPr>
      </p:pic>
      <p:sp>
        <p:nvSpPr>
          <p:cNvPr id="7" name="image-border-0177">
            <a:extLst xmlns:a="http://schemas.openxmlformats.org/drawingml/2006/main">
              <a:ext uri="{FF2B5EF4-FFF2-40B4-BE49-F238E27FC236}">
                <a16:creationId xmlns:a16="http://schemas.microsoft.com/office/drawing/2014/main" id="{54237745-2BA0-4ECF-86D6-AF9B3A000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19250"/>
            <a:ext cx="7239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B7278"/>
            </a:solidFill>
            <a:prstDash val="solid"/>
          </a:ln>
        </p:spPr>
      </p:sp>
      <p:sp>
        <p:nvSpPr>
          <p:cNvPr id="8" name="text-0178">
            <a:extLst xmlns:a="http://schemas.openxmlformats.org/drawingml/2006/main">
              <a:ext uri="{FF2B5EF4-FFF2-40B4-BE49-F238E27FC236}">
                <a16:creationId xmlns:a16="http://schemas.microsoft.com/office/drawing/2014/main" id="{18321A8E-60DE-4E05-9D85-0CA03CFA8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49BA1"/>
                </a:solidFill>
                <a:latin typeface="Meiryo"/>
                <a:ea typeface="Meiryo"/>
                <a:cs typeface="Meiryo"/>
              </a:defRPr>
            </a:pPr>
            <a:r>
              <a:rPr sz="975" b="0">
                <a:solidFill>
                  <a:srgbClr val="949BA1"/>
                </a:solidFill>
                <a:latin typeface="Meiryo"/>
                <a:ea typeface="Meiryo"/>
                <a:cs typeface="Meiryo"/>
              </a:rPr>
              <a:t>Unreal Engine 5.8 / 2.5D用仮アリーナ</a:t>
            </a:r>
          </a:p>
        </p:txBody>
      </p:sp>
      <p:sp>
        <p:nvSpPr>
          <p:cNvPr id="9" name="text-0179">
            <a:extLst xmlns:a="http://schemas.openxmlformats.org/drawingml/2006/main">
              <a:ext uri="{FF2B5EF4-FFF2-40B4-BE49-F238E27FC236}">
                <a16:creationId xmlns:a16="http://schemas.microsoft.com/office/drawing/2014/main" id="{89B10762-16CA-4773-B5A8-7E7B931DB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573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8A85A"/>
                </a:solidFill>
                <a:latin typeface="Meiryo"/>
                <a:ea typeface="Meiryo"/>
                <a:cs typeface="Meiryo"/>
              </a:defRPr>
            </a:pPr>
            <a:r>
              <a:rPr sz="1725" b="1">
                <a:solidFill>
                  <a:srgbClr val="08A85A"/>
                </a:solidFill>
                <a:latin typeface="Meiryo"/>
                <a:ea typeface="Meiryo"/>
                <a:cs typeface="Meiryo"/>
              </a:rPr>
              <a:t>できた</a:t>
            </a:r>
          </a:p>
        </p:txBody>
      </p:sp>
      <p:sp>
        <p:nvSpPr>
          <p:cNvPr id="10" name="text-0180">
            <a:extLst xmlns:a="http://schemas.openxmlformats.org/drawingml/2006/main">
              <a:ext uri="{FF2B5EF4-FFF2-40B4-BE49-F238E27FC236}">
                <a16:creationId xmlns:a16="http://schemas.microsoft.com/office/drawing/2014/main" id="{ADF44CBC-3F69-403C-997C-3D187CC0F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95500"/>
            <a:ext cx="32194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 b="0">
                <a:solidFill>
                  <a:srgbClr val="F7F6F1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F7F6F1"/>
                </a:solidFill>
                <a:latin typeface="Meiryo"/>
                <a:ea typeface="Meiryo"/>
                <a:cs typeface="Meiryo"/>
              </a:rPr>
              <a:t>・UnrealプロジェクトとAI操作の接続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350" b="0">
                <a:solidFill>
                  <a:srgbClr val="F7F6F1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F7F6F1"/>
                </a:solidFill>
                <a:latin typeface="Meiryo"/>
                <a:ea typeface="Meiryo"/>
                <a:cs typeface="Meiryo"/>
              </a:rPr>
              <a:t>・EGGYBOTの取り込み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350" b="0">
                <a:solidFill>
                  <a:srgbClr val="F7F6F1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F7F6F1"/>
                </a:solidFill>
                <a:latin typeface="Meiryo"/>
                <a:ea typeface="Meiryo"/>
                <a:cs typeface="Meiryo"/>
              </a:rPr>
              <a:t>・左右移動・ジャンプ・ダッシュの骨組み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350" b="0">
                <a:solidFill>
                  <a:srgbClr val="F7F6F1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F7F6F1"/>
                </a:solidFill>
                <a:latin typeface="Meiryo"/>
                <a:ea typeface="Meiryo"/>
                <a:cs typeface="Meiryo"/>
              </a:rPr>
              <a:t>・2.5D用の仮ステージ</a:t>
            </a:r>
          </a:p>
        </p:txBody>
      </p:sp>
      <p:sp>
        <p:nvSpPr>
          <p:cNvPr id="11" name="rule-0181">
            <a:extLst xmlns:a="http://schemas.openxmlformats.org/drawingml/2006/main">
              <a:ext uri="{FF2B5EF4-FFF2-40B4-BE49-F238E27FC236}">
                <a16:creationId xmlns:a16="http://schemas.microsoft.com/office/drawing/2014/main" id="{849F88E3-89BB-46E5-B07F-1F05D71AC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57600"/>
            <a:ext cx="3219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4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0182">
            <a:extLst xmlns:a="http://schemas.openxmlformats.org/drawingml/2006/main">
              <a:ext uri="{FF2B5EF4-FFF2-40B4-BE49-F238E27FC236}">
                <a16:creationId xmlns:a16="http://schemas.microsoft.com/office/drawing/2014/main" id="{74937B80-0121-4239-A730-802D14B12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9052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B400"/>
                </a:solidFill>
                <a:latin typeface="Meiryo"/>
                <a:ea typeface="Meiryo"/>
                <a:cs typeface="Meiryo"/>
              </a:defRPr>
            </a:pPr>
            <a:r>
              <a:rPr sz="1725" b="1">
                <a:solidFill>
                  <a:srgbClr val="F4B400"/>
                </a:solidFill>
                <a:latin typeface="Meiryo"/>
                <a:ea typeface="Meiryo"/>
                <a:cs typeface="Meiryo"/>
              </a:rPr>
              <a:t>検証中</a:t>
            </a:r>
          </a:p>
        </p:txBody>
      </p:sp>
      <p:sp>
        <p:nvSpPr>
          <p:cNvPr id="13" name="text-0183">
            <a:extLst xmlns:a="http://schemas.openxmlformats.org/drawingml/2006/main">
              <a:ext uri="{FF2B5EF4-FFF2-40B4-BE49-F238E27FC236}">
                <a16:creationId xmlns:a16="http://schemas.microsoft.com/office/drawing/2014/main" id="{8976AAD0-BCCD-47CF-99D9-64853AA7D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343400"/>
            <a:ext cx="32194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 b="0">
                <a:solidFill>
                  <a:srgbClr val="F7F6F1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F7F6F1"/>
                </a:solidFill>
                <a:latin typeface="Meiryo"/>
                <a:ea typeface="Meiryo"/>
                <a:cs typeface="Meiryo"/>
              </a:rPr>
              <a:t>・実際のキー入力での操作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350" b="0">
                <a:solidFill>
                  <a:srgbClr val="F7F6F1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F7F6F1"/>
                </a:solidFill>
                <a:latin typeface="Meiryo"/>
                <a:ea typeface="Meiryo"/>
                <a:cs typeface="Meiryo"/>
              </a:rPr>
              <a:t>・全員を入れる共有カメラ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350" b="0">
                <a:solidFill>
                  <a:srgbClr val="F7F6F1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F7F6F1"/>
                </a:solidFill>
                <a:latin typeface="Meiryo"/>
                <a:ea typeface="Meiryo"/>
                <a:cs typeface="Meiryo"/>
              </a:rPr>
              <a:t>・2人対戦とラウンド完走</a:t>
            </a:r>
          </a:p>
        </p:txBody>
      </p:sp>
      <p:sp>
        <p:nvSpPr>
          <p:cNvPr id="14" name="text-0184">
            <a:extLst xmlns:a="http://schemas.openxmlformats.org/drawingml/2006/main">
              <a:ext uri="{FF2B5EF4-FFF2-40B4-BE49-F238E27FC236}">
                <a16:creationId xmlns:a16="http://schemas.microsoft.com/office/drawing/2014/main" id="{07DCE039-1177-4AB5-9F27-4DD139FF1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524500"/>
            <a:ext cx="3219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00A6CE"/>
                </a:solidFill>
                <a:latin typeface="Meiryo"/>
                <a:ea typeface="Meiryo"/>
                <a:cs typeface="Meiryo"/>
              </a:defRPr>
            </a:pPr>
            <a:r>
              <a:rPr sz="1275" b="1">
                <a:solidFill>
                  <a:srgbClr val="00A6CE"/>
                </a:solidFill>
                <a:latin typeface="Meiryo"/>
                <a:ea typeface="Meiryo"/>
                <a:cs typeface="Meiryo"/>
              </a:rPr>
              <a:t>「動くはず」ではなく、画面とログで確認して完了にする。</a:t>
            </a:r>
          </a:p>
        </p:txBody>
      </p:sp>
    </p:spTree>
    <p:extLst>
      <p:ext uri="{BB962C8B-B14F-4D97-AF65-F5344CB8AC3E}">
        <p14:creationId xmlns:p14="http://schemas.microsoft.com/office/powerpoint/2010/main" val="141425938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ule-0185">
            <a:extLst xmlns:a="http://schemas.openxmlformats.org/drawingml/2006/main">
              <a:ext uri="{FF2B5EF4-FFF2-40B4-BE49-F238E27FC236}">
                <a16:creationId xmlns:a16="http://schemas.microsoft.com/office/drawing/2014/main" id="{8D2FA30E-8D55-458F-BBFC-91990211A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4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0186">
            <a:extLst xmlns:a="http://schemas.openxmlformats.org/drawingml/2006/main">
              <a:ext uri="{FF2B5EF4-FFF2-40B4-BE49-F238E27FC236}">
                <a16:creationId xmlns:a16="http://schemas.microsoft.com/office/drawing/2014/main" id="{7A421C71-62A2-4446-B05F-29573C131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10744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75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075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AIは「質問相手」ではなく、制作チームとして使う</a:t>
            </a:r>
          </a:p>
        </p:txBody>
      </p:sp>
      <p:sp>
        <p:nvSpPr>
          <p:cNvPr id="3" name="rule-0187">
            <a:extLst xmlns:a="http://schemas.openxmlformats.org/drawingml/2006/main">
              <a:ext uri="{FF2B5EF4-FFF2-40B4-BE49-F238E27FC236}">
                <a16:creationId xmlns:a16="http://schemas.microsoft.com/office/drawing/2014/main" id="{632AFD93-007C-4198-BFB6-3F9F73715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188">
            <a:extLst xmlns:a="http://schemas.openxmlformats.org/drawingml/2006/main">
              <a:ext uri="{FF2B5EF4-FFF2-40B4-BE49-F238E27FC236}">
                <a16:creationId xmlns:a16="http://schemas.microsoft.com/office/drawing/2014/main" id="{B3977C48-EA80-49D1-8F04-51F115BF4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62725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ChaosDraftParty / 島田 泰成</a:t>
            </a:r>
          </a:p>
        </p:txBody>
      </p:sp>
      <p:sp>
        <p:nvSpPr>
          <p:cNvPr id="5" name="text-0189">
            <a:extLst xmlns:a="http://schemas.openxmlformats.org/drawingml/2006/main">
              <a:ext uri="{FF2B5EF4-FFF2-40B4-BE49-F238E27FC236}">
                <a16:creationId xmlns:a16="http://schemas.microsoft.com/office/drawing/2014/main" id="{3C3D2878-5B30-4716-9648-6517D9233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436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E6353D"/>
                </a:solidFill>
                <a:latin typeface="Meiryo"/>
                <a:ea typeface="Meiryo"/>
                <a:cs typeface="Meiryo"/>
              </a:defRPr>
            </a:pPr>
            <a:r>
              <a:rPr sz="975" b="1">
                <a:solidFill>
                  <a:srgbClr val="E6353D"/>
                </a:solidFill>
                <a:latin typeface="Meiryo"/>
                <a:ea typeface="Meiryo"/>
                <a:cs typeface="Meiryo"/>
              </a:rPr>
              <a:t>10</a:t>
            </a:r>
          </a:p>
        </p:txBody>
      </p:sp>
      <p:sp>
        <p:nvSpPr>
          <p:cNvPr id="6" name="text-0190">
            <a:extLst xmlns:a="http://schemas.openxmlformats.org/drawingml/2006/main">
              <a:ext uri="{FF2B5EF4-FFF2-40B4-BE49-F238E27FC236}">
                <a16:creationId xmlns:a16="http://schemas.microsoft.com/office/drawing/2014/main" id="{CA0E6991-987D-4CE7-8D00-0112ABB92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478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20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エージェント = 担当を持って作業するAI</a:t>
            </a:r>
          </a:p>
        </p:txBody>
      </p:sp>
      <p:sp>
        <p:nvSpPr>
          <p:cNvPr id="7" name="shape-0191">
            <a:extLst xmlns:a="http://schemas.openxmlformats.org/drawingml/2006/main">
              <a:ext uri="{FF2B5EF4-FFF2-40B4-BE49-F238E27FC236}">
                <a16:creationId xmlns:a16="http://schemas.microsoft.com/office/drawing/2014/main" id="{FC1B314A-22C2-4261-BEF9-239790D6B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3360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91B"/>
          </a:solidFill>
          <a:ln xmlns:a="http://schemas.openxmlformats.org/drawingml/2006/main" w="9525">
            <a:solidFill>
              <a:srgbClr val="17191B"/>
            </a:solidFill>
            <a:prstDash val="solid"/>
          </a:ln>
        </p:spPr>
      </p:sp>
      <p:sp>
        <p:nvSpPr>
          <p:cNvPr id="8" name="text-0192">
            <a:extLst xmlns:a="http://schemas.openxmlformats.org/drawingml/2006/main">
              <a:ext uri="{FF2B5EF4-FFF2-40B4-BE49-F238E27FC236}">
                <a16:creationId xmlns:a16="http://schemas.microsoft.com/office/drawing/2014/main" id="{7CAD9527-FD92-4307-9F40-CFC8B04B7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7F6F1"/>
                </a:solidFill>
                <a:latin typeface="Meiryo"/>
                <a:ea typeface="Meiryo"/>
                <a:cs typeface="Meiryo"/>
              </a:defRPr>
            </a:pPr>
            <a:r>
              <a:rPr sz="3150" b="1">
                <a:solidFill>
                  <a:srgbClr val="F7F6F1"/>
                </a:solidFill>
                <a:latin typeface="Meiryo"/>
                <a:ea typeface="Meiryo"/>
                <a:cs typeface="Meiryo"/>
              </a:rPr>
              <a:t>島田</a:t>
            </a:r>
          </a:p>
        </p:txBody>
      </p:sp>
      <p:sp>
        <p:nvSpPr>
          <p:cNvPr id="9" name="text-0193">
            <a:extLst xmlns:a="http://schemas.openxmlformats.org/drawingml/2006/main">
              <a:ext uri="{FF2B5EF4-FFF2-40B4-BE49-F238E27FC236}">
                <a16:creationId xmlns:a16="http://schemas.microsoft.com/office/drawing/2014/main" id="{6FE119BC-AC17-4689-9125-F6E4D74DC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52800"/>
            <a:ext cx="1809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350" b="0">
                <a:solidFill>
                  <a:srgbClr val="C4C8CB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C4C8CB"/>
                </a:solidFill>
                <a:latin typeface="Meiryo"/>
                <a:ea typeface="Meiryo"/>
                <a:cs typeface="Meiryo"/>
              </a:rPr>
              <a:t>目的を決める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350" b="0">
                <a:solidFill>
                  <a:srgbClr val="C4C8CB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C4C8CB"/>
                </a:solidFill>
                <a:latin typeface="Meiryo"/>
                <a:ea typeface="Meiryo"/>
                <a:cs typeface="Meiryo"/>
              </a:rPr>
              <a:t>プレイする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350" b="0">
                <a:solidFill>
                  <a:srgbClr val="C4C8CB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C4C8CB"/>
                </a:solidFill>
                <a:latin typeface="Meiryo"/>
                <a:ea typeface="Meiryo"/>
                <a:cs typeface="Meiryo"/>
              </a:rPr>
              <a:t>最終判断する</a:t>
            </a:r>
          </a:p>
        </p:txBody>
      </p:sp>
      <p:sp>
        <p:nvSpPr>
          <p:cNvPr id="10" name="text-0194">
            <a:extLst xmlns:a="http://schemas.openxmlformats.org/drawingml/2006/main">
              <a:ext uri="{FF2B5EF4-FFF2-40B4-BE49-F238E27FC236}">
                <a16:creationId xmlns:a16="http://schemas.microsoft.com/office/drawing/2014/main" id="{AE688E1E-5BA0-4BB5-9965-CACFF41AB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0861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D8D6CF"/>
                </a:solidFill>
                <a:latin typeface="Meiryo"/>
                <a:ea typeface="Meiryo"/>
                <a:cs typeface="Meiryo"/>
              </a:defRPr>
            </a:pPr>
            <a:r>
              <a:rPr sz="2550" b="1">
                <a:solidFill>
                  <a:srgbClr val="D8D6CF"/>
                </a:solidFill>
                <a:latin typeface="Meiryo"/>
                <a:ea typeface="Meiryo"/>
                <a:cs typeface="Meiryo"/>
              </a:rPr>
              <a:t>→</a:t>
            </a:r>
          </a:p>
        </p:txBody>
      </p:sp>
      <p:sp>
        <p:nvSpPr>
          <p:cNvPr id="11" name="rule-0195">
            <a:extLst xmlns:a="http://schemas.openxmlformats.org/drawingml/2006/main">
              <a:ext uri="{FF2B5EF4-FFF2-40B4-BE49-F238E27FC236}">
                <a16:creationId xmlns:a16="http://schemas.microsoft.com/office/drawing/2014/main" id="{5007A94E-48BE-4958-81E2-5C2A7545F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000250"/>
            <a:ext cx="1333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8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0196">
            <a:extLst xmlns:a="http://schemas.openxmlformats.org/drawingml/2006/main">
              <a:ext uri="{FF2B5EF4-FFF2-40B4-BE49-F238E27FC236}">
                <a16:creationId xmlns:a16="http://schemas.microsoft.com/office/drawing/2014/main" id="{DE291BB1-942D-4AD9-A566-AD0B5E540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002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Claude</a:t>
            </a:r>
          </a:p>
        </p:txBody>
      </p:sp>
      <p:sp>
        <p:nvSpPr>
          <p:cNvPr id="13" name="text-0197">
            <a:extLst xmlns:a="http://schemas.openxmlformats.org/drawingml/2006/main">
              <a:ext uri="{FF2B5EF4-FFF2-40B4-BE49-F238E27FC236}">
                <a16:creationId xmlns:a16="http://schemas.microsoft.com/office/drawing/2014/main" id="{D092F9D5-2DAD-4290-82A2-CC9A0FE34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00300"/>
            <a:ext cx="6591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425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主担当: 実装案、コード、Editor操作</a:t>
            </a:r>
          </a:p>
        </p:txBody>
      </p:sp>
      <p:sp>
        <p:nvSpPr>
          <p:cNvPr id="14" name="rule-0198">
            <a:extLst xmlns:a="http://schemas.openxmlformats.org/drawingml/2006/main">
              <a:ext uri="{FF2B5EF4-FFF2-40B4-BE49-F238E27FC236}">
                <a16:creationId xmlns:a16="http://schemas.microsoft.com/office/drawing/2014/main" id="{D893D989-4C86-4B96-B8E9-958582F6C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99085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ule-0199">
            <a:extLst xmlns:a="http://schemas.openxmlformats.org/drawingml/2006/main">
              <a:ext uri="{FF2B5EF4-FFF2-40B4-BE49-F238E27FC236}">
                <a16:creationId xmlns:a16="http://schemas.microsoft.com/office/drawing/2014/main" id="{5FAB869E-B260-4776-812B-58092D8A9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05150"/>
            <a:ext cx="1333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0200">
            <a:extLst xmlns:a="http://schemas.openxmlformats.org/drawingml/2006/main">
              <a:ext uri="{FF2B5EF4-FFF2-40B4-BE49-F238E27FC236}">
                <a16:creationId xmlns:a16="http://schemas.microsoft.com/office/drawing/2014/main" id="{F563297E-5A47-444E-9AA1-483EB39BE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051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Codex</a:t>
            </a:r>
          </a:p>
        </p:txBody>
      </p:sp>
      <p:sp>
        <p:nvSpPr>
          <p:cNvPr id="17" name="text-0201">
            <a:extLst xmlns:a="http://schemas.openxmlformats.org/drawingml/2006/main">
              <a:ext uri="{FF2B5EF4-FFF2-40B4-BE49-F238E27FC236}">
                <a16:creationId xmlns:a16="http://schemas.microsoft.com/office/drawing/2014/main" id="{046A9C6B-267E-41E7-A5DE-CDA97141F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505200"/>
            <a:ext cx="6591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425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別担当: 独立確認、記録整理、発表資料</a:t>
            </a:r>
          </a:p>
        </p:txBody>
      </p:sp>
      <p:sp>
        <p:nvSpPr>
          <p:cNvPr id="18" name="rule-0202">
            <a:extLst xmlns:a="http://schemas.openxmlformats.org/drawingml/2006/main">
              <a:ext uri="{FF2B5EF4-FFF2-40B4-BE49-F238E27FC236}">
                <a16:creationId xmlns:a16="http://schemas.microsoft.com/office/drawing/2014/main" id="{72E1003E-DA32-4C57-B708-8AF681DFB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09575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rule-0203">
            <a:extLst xmlns:a="http://schemas.openxmlformats.org/drawingml/2006/main">
              <a:ext uri="{FF2B5EF4-FFF2-40B4-BE49-F238E27FC236}">
                <a16:creationId xmlns:a16="http://schemas.microsoft.com/office/drawing/2014/main" id="{77C1FE20-89CC-4BE9-8D1C-2AE8FDBA4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210050"/>
            <a:ext cx="1333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0204">
            <a:extLst xmlns:a="http://schemas.openxmlformats.org/drawingml/2006/main">
              <a:ext uri="{FF2B5EF4-FFF2-40B4-BE49-F238E27FC236}">
                <a16:creationId xmlns:a16="http://schemas.microsoft.com/office/drawing/2014/main" id="{52AEF8B4-38F4-4B00-8E91-724B915BD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2100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外部サービス</a:t>
            </a:r>
          </a:p>
        </p:txBody>
      </p:sp>
      <p:sp>
        <p:nvSpPr>
          <p:cNvPr id="21" name="text-0205">
            <a:extLst xmlns:a="http://schemas.openxmlformats.org/drawingml/2006/main">
              <a:ext uri="{FF2B5EF4-FFF2-40B4-BE49-F238E27FC236}">
                <a16:creationId xmlns:a16="http://schemas.microsoft.com/office/drawing/2014/main" id="{05893D77-7450-4D3A-8A2C-982CD47D8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610100"/>
            <a:ext cx="6591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425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API経由で3D小物生成、調査、アイデアのたたき台</a:t>
            </a:r>
          </a:p>
        </p:txBody>
      </p:sp>
      <p:sp>
        <p:nvSpPr>
          <p:cNvPr id="22" name="shape-0206">
            <a:extLst xmlns:a="http://schemas.openxmlformats.org/drawingml/2006/main">
              <a:ext uri="{FF2B5EF4-FFF2-40B4-BE49-F238E27FC236}">
                <a16:creationId xmlns:a16="http://schemas.microsoft.com/office/drawing/2014/main" id="{5287037B-EED7-41E4-B6D0-F706CDFED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10200"/>
            <a:ext cx="10668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-0207">
            <a:extLst xmlns:a="http://schemas.openxmlformats.org/drawingml/2006/main">
              <a:ext uri="{FF2B5EF4-FFF2-40B4-BE49-F238E27FC236}">
                <a16:creationId xmlns:a16="http://schemas.microsoft.com/office/drawing/2014/main" id="{7E68D1F7-5B5F-4D0F-8801-88A8F5055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62600"/>
            <a:ext cx="10172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7F6F1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F7F6F1"/>
                </a:solidFill>
                <a:latin typeface="Meiryo"/>
                <a:ea typeface="Meiryo"/>
                <a:cs typeface="Meiryo"/>
              </a:rPr>
              <a:t>AIは提案と作業を担当する。面白いか、完了とするかは人が決める。</a:t>
            </a:r>
          </a:p>
        </p:txBody>
      </p:sp>
    </p:spTree>
    <p:extLst>
      <p:ext uri="{BB962C8B-B14F-4D97-AF65-F5344CB8AC3E}">
        <p14:creationId xmlns:p14="http://schemas.microsoft.com/office/powerpoint/2010/main" val="35107193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ule-0208">
            <a:extLst xmlns:a="http://schemas.openxmlformats.org/drawingml/2006/main">
              <a:ext uri="{FF2B5EF4-FFF2-40B4-BE49-F238E27FC236}">
                <a16:creationId xmlns:a16="http://schemas.microsoft.com/office/drawing/2014/main" id="{62D10374-E799-4A36-8A76-8D4F948E0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4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8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0209">
            <a:extLst xmlns:a="http://schemas.openxmlformats.org/drawingml/2006/main">
              <a:ext uri="{FF2B5EF4-FFF2-40B4-BE49-F238E27FC236}">
                <a16:creationId xmlns:a16="http://schemas.microsoft.com/office/drawing/2014/main" id="{45EF721F-819D-4F68-A43C-0DB3ABDE5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10744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制作の流れ 1 / まず「作る」</a:t>
            </a:r>
          </a:p>
        </p:txBody>
      </p:sp>
      <p:sp>
        <p:nvSpPr>
          <p:cNvPr id="3" name="rule-0210">
            <a:extLst xmlns:a="http://schemas.openxmlformats.org/drawingml/2006/main">
              <a:ext uri="{FF2B5EF4-FFF2-40B4-BE49-F238E27FC236}">
                <a16:creationId xmlns:a16="http://schemas.microsoft.com/office/drawing/2014/main" id="{D8AA7A0F-B128-4341-B6E2-F95E28DF2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211">
            <a:extLst xmlns:a="http://schemas.openxmlformats.org/drawingml/2006/main">
              <a:ext uri="{FF2B5EF4-FFF2-40B4-BE49-F238E27FC236}">
                <a16:creationId xmlns:a16="http://schemas.microsoft.com/office/drawing/2014/main" id="{0E8349A4-663F-46A8-915C-ACE83F3A6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62725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ChaosDraftParty / 島田 泰成</a:t>
            </a:r>
          </a:p>
        </p:txBody>
      </p:sp>
      <p:sp>
        <p:nvSpPr>
          <p:cNvPr id="5" name="text-0212">
            <a:extLst xmlns:a="http://schemas.openxmlformats.org/drawingml/2006/main">
              <a:ext uri="{FF2B5EF4-FFF2-40B4-BE49-F238E27FC236}">
                <a16:creationId xmlns:a16="http://schemas.microsoft.com/office/drawing/2014/main" id="{2751E31F-0B02-4407-94C6-30D1FF66F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436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8A85A"/>
                </a:solidFill>
                <a:latin typeface="Meiryo"/>
                <a:ea typeface="Meiryo"/>
                <a:cs typeface="Meiryo"/>
              </a:defRPr>
            </a:pPr>
            <a:r>
              <a:rPr sz="975" b="1">
                <a:solidFill>
                  <a:srgbClr val="08A85A"/>
                </a:solidFill>
                <a:latin typeface="Meiryo"/>
                <a:ea typeface="Meiryo"/>
                <a:cs typeface="Meiryo"/>
              </a:rPr>
              <a:t>11</a:t>
            </a:r>
          </a:p>
        </p:txBody>
      </p:sp>
      <p:sp>
        <p:nvSpPr>
          <p:cNvPr id="6" name="shape-0213">
            <a:extLst xmlns:a="http://schemas.openxmlformats.org/drawingml/2006/main">
              <a:ext uri="{FF2B5EF4-FFF2-40B4-BE49-F238E27FC236}">
                <a16:creationId xmlns:a16="http://schemas.microsoft.com/office/drawing/2014/main" id="{D17268B9-8540-4F58-8B1F-30B903FDA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18097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CF"/>
            </a:solidFill>
            <a:prstDash val="solid"/>
          </a:ln>
        </p:spPr>
      </p:sp>
      <p:sp>
        <p:nvSpPr>
          <p:cNvPr id="7" name="rule-0214">
            <a:extLst xmlns:a="http://schemas.openxmlformats.org/drawingml/2006/main">
              <a:ext uri="{FF2B5EF4-FFF2-40B4-BE49-F238E27FC236}">
                <a16:creationId xmlns:a16="http://schemas.microsoft.com/office/drawing/2014/main" id="{2A09D680-D51D-41A3-967A-17B92ACF0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1809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0215">
            <a:extLst xmlns:a="http://schemas.openxmlformats.org/drawingml/2006/main">
              <a:ext uri="{FF2B5EF4-FFF2-40B4-BE49-F238E27FC236}">
                <a16:creationId xmlns:a16="http://schemas.microsoft.com/office/drawing/2014/main" id="{3C5D803D-85EF-4A29-AD59-8AB59AA1D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241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6353D"/>
                </a:solidFill>
                <a:latin typeface="Meiryo"/>
                <a:ea typeface="Meiryo"/>
                <a:cs typeface="Meiryo"/>
              </a:defRPr>
            </a:pPr>
            <a:r>
              <a:rPr sz="1350" b="1">
                <a:solidFill>
                  <a:srgbClr val="E6353D"/>
                </a:solidFill>
                <a:latin typeface="Meiryo"/>
                <a:ea typeface="Meiryo"/>
                <a:cs typeface="Meiryo"/>
              </a:rPr>
              <a:t>01</a:t>
            </a:r>
          </a:p>
        </p:txBody>
      </p:sp>
      <p:sp>
        <p:nvSpPr>
          <p:cNvPr id="9" name="text-0216">
            <a:extLst xmlns:a="http://schemas.openxmlformats.org/drawingml/2006/main">
              <a:ext uri="{FF2B5EF4-FFF2-40B4-BE49-F238E27FC236}">
                <a16:creationId xmlns:a16="http://schemas.microsoft.com/office/drawing/2014/main" id="{BE319DF6-6CF3-4810-AE7C-A9929EE9E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86050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島田</a:t>
            </a:r>
          </a:p>
        </p:txBody>
      </p:sp>
      <p:sp>
        <p:nvSpPr>
          <p:cNvPr id="10" name="text-0217">
            <a:extLst xmlns:a="http://schemas.openxmlformats.org/drawingml/2006/main">
              <a:ext uri="{FF2B5EF4-FFF2-40B4-BE49-F238E27FC236}">
                <a16:creationId xmlns:a16="http://schemas.microsoft.com/office/drawing/2014/main" id="{3564BA58-3C0D-4678-910C-973FFC9A9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62300"/>
            <a:ext cx="1466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20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作りたい動きと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20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優先順位を決める</a:t>
            </a:r>
          </a:p>
        </p:txBody>
      </p:sp>
      <p:sp>
        <p:nvSpPr>
          <p:cNvPr id="11" name="text-0218">
            <a:extLst xmlns:a="http://schemas.openxmlformats.org/drawingml/2006/main">
              <a:ext uri="{FF2B5EF4-FFF2-40B4-BE49-F238E27FC236}">
                <a16:creationId xmlns:a16="http://schemas.microsoft.com/office/drawing/2014/main" id="{946B80CC-6FEB-46CC-8967-68D874F57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7622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D8D6CF"/>
                </a:solidFill>
                <a:latin typeface="Meiryo"/>
                <a:ea typeface="Meiryo"/>
                <a:cs typeface="Meiryo"/>
              </a:defRPr>
            </a:pPr>
            <a:r>
              <a:rPr sz="2550" b="1">
                <a:solidFill>
                  <a:srgbClr val="D8D6CF"/>
                </a:solidFill>
                <a:latin typeface="Meiryo"/>
                <a:ea typeface="Meiryo"/>
                <a:cs typeface="Meiryo"/>
              </a:rPr>
              <a:t>→</a:t>
            </a:r>
          </a:p>
        </p:txBody>
      </p:sp>
      <p:sp>
        <p:nvSpPr>
          <p:cNvPr id="12" name="shape-0219">
            <a:extLst xmlns:a="http://schemas.openxmlformats.org/drawingml/2006/main">
              <a:ext uri="{FF2B5EF4-FFF2-40B4-BE49-F238E27FC236}">
                <a16:creationId xmlns:a16="http://schemas.microsoft.com/office/drawing/2014/main" id="{5D9F4578-C842-4ACC-B225-5EA24BC0B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095500"/>
            <a:ext cx="18097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CF"/>
            </a:solidFill>
            <a:prstDash val="solid"/>
          </a:ln>
        </p:spPr>
      </p:sp>
      <p:sp>
        <p:nvSpPr>
          <p:cNvPr id="13" name="rule-0220">
            <a:extLst xmlns:a="http://schemas.openxmlformats.org/drawingml/2006/main">
              <a:ext uri="{FF2B5EF4-FFF2-40B4-BE49-F238E27FC236}">
                <a16:creationId xmlns:a16="http://schemas.microsoft.com/office/drawing/2014/main" id="{57903B34-CBD9-4038-8F75-3C8EE1DCE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095500"/>
            <a:ext cx="1809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8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0221">
            <a:extLst xmlns:a="http://schemas.openxmlformats.org/drawingml/2006/main">
              <a:ext uri="{FF2B5EF4-FFF2-40B4-BE49-F238E27FC236}">
                <a16:creationId xmlns:a16="http://schemas.microsoft.com/office/drawing/2014/main" id="{A0118896-97A1-448A-8BA4-0001DEC8B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3241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A85A"/>
                </a:solidFill>
                <a:latin typeface="Meiryo"/>
                <a:ea typeface="Meiryo"/>
                <a:cs typeface="Meiryo"/>
              </a:defRPr>
            </a:pPr>
            <a:r>
              <a:rPr sz="1350" b="1">
                <a:solidFill>
                  <a:srgbClr val="08A85A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sp>
        <p:nvSpPr>
          <p:cNvPr id="15" name="text-0222">
            <a:extLst xmlns:a="http://schemas.openxmlformats.org/drawingml/2006/main">
              <a:ext uri="{FF2B5EF4-FFF2-40B4-BE49-F238E27FC236}">
                <a16:creationId xmlns:a16="http://schemas.microsoft.com/office/drawing/2014/main" id="{C091ED92-B966-49C3-A05A-360A782DA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86050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実装AI</a:t>
            </a:r>
          </a:p>
        </p:txBody>
      </p:sp>
      <p:sp>
        <p:nvSpPr>
          <p:cNvPr id="16" name="text-0223">
            <a:extLst xmlns:a="http://schemas.openxmlformats.org/drawingml/2006/main">
              <a:ext uri="{FF2B5EF4-FFF2-40B4-BE49-F238E27FC236}">
                <a16:creationId xmlns:a16="http://schemas.microsoft.com/office/drawing/2014/main" id="{7FD86F92-657D-400A-8ADC-0C00BE77A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62300"/>
            <a:ext cx="1466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20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コードと設定の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20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案を作る</a:t>
            </a:r>
          </a:p>
        </p:txBody>
      </p:sp>
      <p:sp>
        <p:nvSpPr>
          <p:cNvPr id="17" name="text-0224">
            <a:extLst xmlns:a="http://schemas.openxmlformats.org/drawingml/2006/main">
              <a:ext uri="{FF2B5EF4-FFF2-40B4-BE49-F238E27FC236}">
                <a16:creationId xmlns:a16="http://schemas.microsoft.com/office/drawing/2014/main" id="{463E25A6-159A-42CC-9C80-14AFCFDF7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7622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D8D6CF"/>
                </a:solidFill>
                <a:latin typeface="Meiryo"/>
                <a:ea typeface="Meiryo"/>
                <a:cs typeface="Meiryo"/>
              </a:defRPr>
            </a:pPr>
            <a:r>
              <a:rPr sz="2550" b="1">
                <a:solidFill>
                  <a:srgbClr val="D8D6CF"/>
                </a:solidFill>
                <a:latin typeface="Meiryo"/>
                <a:ea typeface="Meiryo"/>
                <a:cs typeface="Meiryo"/>
              </a:rPr>
              <a:t>→</a:t>
            </a:r>
          </a:p>
        </p:txBody>
      </p:sp>
      <p:sp>
        <p:nvSpPr>
          <p:cNvPr id="18" name="shape-0225">
            <a:extLst xmlns:a="http://schemas.openxmlformats.org/drawingml/2006/main">
              <a:ext uri="{FF2B5EF4-FFF2-40B4-BE49-F238E27FC236}">
                <a16:creationId xmlns:a16="http://schemas.microsoft.com/office/drawing/2014/main" id="{F77510B1-9E88-4440-AEFA-F6F07EB03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095500"/>
            <a:ext cx="18097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CF"/>
            </a:solidFill>
            <a:prstDash val="solid"/>
          </a:ln>
        </p:spPr>
      </p:sp>
      <p:sp>
        <p:nvSpPr>
          <p:cNvPr id="19" name="rule-0226">
            <a:extLst xmlns:a="http://schemas.openxmlformats.org/drawingml/2006/main">
              <a:ext uri="{FF2B5EF4-FFF2-40B4-BE49-F238E27FC236}">
                <a16:creationId xmlns:a16="http://schemas.microsoft.com/office/drawing/2014/main" id="{8CAA4B9B-4362-4EDF-8D6D-A41684015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095500"/>
            <a:ext cx="1809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0227">
            <a:extLst xmlns:a="http://schemas.openxmlformats.org/drawingml/2006/main">
              <a:ext uri="{FF2B5EF4-FFF2-40B4-BE49-F238E27FC236}">
                <a16:creationId xmlns:a16="http://schemas.microsoft.com/office/drawing/2014/main" id="{F7DAD6E4-23C4-446A-9507-0A24218FC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3241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A6CE"/>
                </a:solidFill>
                <a:latin typeface="Meiryo"/>
                <a:ea typeface="Meiryo"/>
                <a:cs typeface="Meiryo"/>
              </a:defRPr>
            </a:pPr>
            <a:r>
              <a:rPr sz="1350" b="1">
                <a:solidFill>
                  <a:srgbClr val="00A6CE"/>
                </a:solidFill>
                <a:latin typeface="Meiryo"/>
                <a:ea typeface="Meiryo"/>
                <a:cs typeface="Meiryo"/>
              </a:rPr>
              <a:t>03</a:t>
            </a:r>
          </a:p>
        </p:txBody>
      </p:sp>
      <p:sp>
        <p:nvSpPr>
          <p:cNvPr id="21" name="text-0228">
            <a:extLst xmlns:a="http://schemas.openxmlformats.org/drawingml/2006/main">
              <a:ext uri="{FF2B5EF4-FFF2-40B4-BE49-F238E27FC236}">
                <a16:creationId xmlns:a16="http://schemas.microsoft.com/office/drawing/2014/main" id="{73320F8D-5FBE-4F2C-8F99-E31EAFD8E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686050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MCP</a:t>
            </a:r>
          </a:p>
        </p:txBody>
      </p:sp>
      <p:sp>
        <p:nvSpPr>
          <p:cNvPr id="22" name="text-0229">
            <a:extLst xmlns:a="http://schemas.openxmlformats.org/drawingml/2006/main">
              <a:ext uri="{FF2B5EF4-FFF2-40B4-BE49-F238E27FC236}">
                <a16:creationId xmlns:a16="http://schemas.microsoft.com/office/drawing/2014/main" id="{46BEEC8E-04E4-4B68-96EB-8518FAAC1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162300"/>
            <a:ext cx="1466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20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AIとUnrealを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20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つなぐ入り口</a:t>
            </a:r>
          </a:p>
        </p:txBody>
      </p:sp>
      <p:sp>
        <p:nvSpPr>
          <p:cNvPr id="23" name="text-0230">
            <a:extLst xmlns:a="http://schemas.openxmlformats.org/drawingml/2006/main">
              <a:ext uri="{FF2B5EF4-FFF2-40B4-BE49-F238E27FC236}">
                <a16:creationId xmlns:a16="http://schemas.microsoft.com/office/drawing/2014/main" id="{B7BA81DA-5022-48AA-978F-BF4DCFDA1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622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D8D6CF"/>
                </a:solidFill>
                <a:latin typeface="Meiryo"/>
                <a:ea typeface="Meiryo"/>
                <a:cs typeface="Meiryo"/>
              </a:defRPr>
            </a:pPr>
            <a:r>
              <a:rPr sz="2550" b="1">
                <a:solidFill>
                  <a:srgbClr val="D8D6CF"/>
                </a:solidFill>
                <a:latin typeface="Meiryo"/>
                <a:ea typeface="Meiryo"/>
                <a:cs typeface="Meiryo"/>
              </a:rPr>
              <a:t>→</a:t>
            </a:r>
          </a:p>
        </p:txBody>
      </p:sp>
      <p:sp>
        <p:nvSpPr>
          <p:cNvPr id="24" name="shape-0231">
            <a:extLst xmlns:a="http://schemas.openxmlformats.org/drawingml/2006/main">
              <a:ext uri="{FF2B5EF4-FFF2-40B4-BE49-F238E27FC236}">
                <a16:creationId xmlns:a16="http://schemas.microsoft.com/office/drawing/2014/main" id="{12AE7658-B657-4BDE-8691-F177BE83B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095500"/>
            <a:ext cx="18097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CF"/>
            </a:solidFill>
            <a:prstDash val="solid"/>
          </a:ln>
        </p:spPr>
      </p:sp>
      <p:sp>
        <p:nvSpPr>
          <p:cNvPr id="25" name="rule-0232">
            <a:extLst xmlns:a="http://schemas.openxmlformats.org/drawingml/2006/main">
              <a:ext uri="{FF2B5EF4-FFF2-40B4-BE49-F238E27FC236}">
                <a16:creationId xmlns:a16="http://schemas.microsoft.com/office/drawing/2014/main" id="{A2635C8B-046A-4C26-8765-A95C3174B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095500"/>
            <a:ext cx="1809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0233">
            <a:extLst xmlns:a="http://schemas.openxmlformats.org/drawingml/2006/main">
              <a:ext uri="{FF2B5EF4-FFF2-40B4-BE49-F238E27FC236}">
                <a16:creationId xmlns:a16="http://schemas.microsoft.com/office/drawing/2014/main" id="{62F21ADF-DF8F-4855-AABC-A2DE1ED6C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3241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B400"/>
                </a:solidFill>
                <a:latin typeface="Meiryo"/>
                <a:ea typeface="Meiryo"/>
                <a:cs typeface="Meiryo"/>
              </a:defRPr>
            </a:pPr>
            <a:r>
              <a:rPr sz="1350" b="1">
                <a:solidFill>
                  <a:srgbClr val="F4B400"/>
                </a:solidFill>
                <a:latin typeface="Meiryo"/>
                <a:ea typeface="Meiryo"/>
                <a:cs typeface="Meiryo"/>
              </a:rPr>
              <a:t>04</a:t>
            </a:r>
          </a:p>
        </p:txBody>
      </p:sp>
      <p:sp>
        <p:nvSpPr>
          <p:cNvPr id="27" name="text-0234">
            <a:extLst xmlns:a="http://schemas.openxmlformats.org/drawingml/2006/main">
              <a:ext uri="{FF2B5EF4-FFF2-40B4-BE49-F238E27FC236}">
                <a16:creationId xmlns:a16="http://schemas.microsoft.com/office/drawing/2014/main" id="{9C57DA81-C355-4668-8C79-5084EE40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86050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Unreal</a:t>
            </a:r>
          </a:p>
        </p:txBody>
      </p:sp>
      <p:sp>
        <p:nvSpPr>
          <p:cNvPr id="28" name="text-0235">
            <a:extLst xmlns:a="http://schemas.openxmlformats.org/drawingml/2006/main">
              <a:ext uri="{FF2B5EF4-FFF2-40B4-BE49-F238E27FC236}">
                <a16:creationId xmlns:a16="http://schemas.microsoft.com/office/drawing/2014/main" id="{5CA719A6-D07D-40D8-B740-9049AECCC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62300"/>
            <a:ext cx="1466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20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配置・設定・実行を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20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Editor上で行う</a:t>
            </a:r>
          </a:p>
        </p:txBody>
      </p:sp>
      <p:sp>
        <p:nvSpPr>
          <p:cNvPr id="29" name="text-0236">
            <a:extLst xmlns:a="http://schemas.openxmlformats.org/drawingml/2006/main">
              <a:ext uri="{FF2B5EF4-FFF2-40B4-BE49-F238E27FC236}">
                <a16:creationId xmlns:a16="http://schemas.microsoft.com/office/drawing/2014/main" id="{945CD703-36C6-49B5-9880-27F45F7DA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7622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D8D6CF"/>
                </a:solidFill>
                <a:latin typeface="Meiryo"/>
                <a:ea typeface="Meiryo"/>
                <a:cs typeface="Meiryo"/>
              </a:defRPr>
            </a:pPr>
            <a:r>
              <a:rPr sz="2550" b="1">
                <a:solidFill>
                  <a:srgbClr val="D8D6CF"/>
                </a:solidFill>
                <a:latin typeface="Meiryo"/>
                <a:ea typeface="Meiryo"/>
                <a:cs typeface="Meiryo"/>
              </a:rPr>
              <a:t>→</a:t>
            </a:r>
          </a:p>
        </p:txBody>
      </p:sp>
      <p:sp>
        <p:nvSpPr>
          <p:cNvPr id="30" name="shape-0237">
            <a:extLst xmlns:a="http://schemas.openxmlformats.org/drawingml/2006/main">
              <a:ext uri="{FF2B5EF4-FFF2-40B4-BE49-F238E27FC236}">
                <a16:creationId xmlns:a16="http://schemas.microsoft.com/office/drawing/2014/main" id="{20AB2510-2D9C-4FAB-8CE5-997AB2FEB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95500"/>
            <a:ext cx="18097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CF"/>
            </a:solidFill>
            <a:prstDash val="solid"/>
          </a:ln>
        </p:spPr>
      </p:sp>
      <p:sp>
        <p:nvSpPr>
          <p:cNvPr id="31" name="rule-0238">
            <a:extLst xmlns:a="http://schemas.openxmlformats.org/drawingml/2006/main">
              <a:ext uri="{FF2B5EF4-FFF2-40B4-BE49-F238E27FC236}">
                <a16:creationId xmlns:a16="http://schemas.microsoft.com/office/drawing/2014/main" id="{E6A10D0A-385E-41C9-A29D-57C877DF0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95500"/>
            <a:ext cx="1809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ext-0239">
            <a:extLst xmlns:a="http://schemas.openxmlformats.org/drawingml/2006/main">
              <a:ext uri="{FF2B5EF4-FFF2-40B4-BE49-F238E27FC236}">
                <a16:creationId xmlns:a16="http://schemas.microsoft.com/office/drawing/2014/main" id="{466E3339-C4CB-4911-8AA8-74307B9A7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3241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6353D"/>
                </a:solidFill>
                <a:latin typeface="Meiryo"/>
                <a:ea typeface="Meiryo"/>
                <a:cs typeface="Meiryo"/>
              </a:defRPr>
            </a:pPr>
            <a:r>
              <a:rPr sz="1350" b="1">
                <a:solidFill>
                  <a:srgbClr val="E6353D"/>
                </a:solidFill>
                <a:latin typeface="Meiryo"/>
                <a:ea typeface="Meiryo"/>
                <a:cs typeface="Meiryo"/>
              </a:rPr>
              <a:t>05</a:t>
            </a:r>
          </a:p>
        </p:txBody>
      </p:sp>
      <p:sp>
        <p:nvSpPr>
          <p:cNvPr id="33" name="text-0240">
            <a:extLst xmlns:a="http://schemas.openxmlformats.org/drawingml/2006/main">
              <a:ext uri="{FF2B5EF4-FFF2-40B4-BE49-F238E27FC236}">
                <a16:creationId xmlns:a16="http://schemas.microsoft.com/office/drawing/2014/main" id="{1C48ECF7-9FE7-4F8C-9997-BDC1C4C08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686050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島田</a:t>
            </a:r>
          </a:p>
        </p:txBody>
      </p:sp>
      <p:sp>
        <p:nvSpPr>
          <p:cNvPr id="34" name="text-0241">
            <a:extLst xmlns:a="http://schemas.openxmlformats.org/drawingml/2006/main">
              <a:ext uri="{FF2B5EF4-FFF2-40B4-BE49-F238E27FC236}">
                <a16:creationId xmlns:a16="http://schemas.microsoft.com/office/drawing/2014/main" id="{743C0B90-8585-4973-A3A3-7718F49A5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162300"/>
            <a:ext cx="1466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20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プレイして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20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掋用・修正を決める</a:t>
            </a:r>
          </a:p>
        </p:txBody>
      </p:sp>
      <p:sp>
        <p:nvSpPr>
          <p:cNvPr id="35" name="shape-0242">
            <a:extLst xmlns:a="http://schemas.openxmlformats.org/drawingml/2006/main">
              <a:ext uri="{FF2B5EF4-FFF2-40B4-BE49-F238E27FC236}">
                <a16:creationId xmlns:a16="http://schemas.microsoft.com/office/drawing/2014/main" id="{02171435-B9C4-4FBF-B258-33549B5AB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29150"/>
            <a:ext cx="11125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text-0243">
            <a:extLst xmlns:a="http://schemas.openxmlformats.org/drawingml/2006/main">
              <a:ext uri="{FF2B5EF4-FFF2-40B4-BE49-F238E27FC236}">
                <a16:creationId xmlns:a16="http://schemas.microsoft.com/office/drawing/2014/main" id="{2C3E1151-61D4-404E-9B22-1EE9EBCBD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0"/>
            <a:ext cx="10439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F7F6F1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F7F6F1"/>
                </a:solidFill>
                <a:latin typeface="Meiryo"/>
                <a:ea typeface="Meiryo"/>
                <a:cs typeface="Meiryo"/>
              </a:rPr>
              <a:t>MCPがあるため、AIは説明だけで終わらず、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F7F6F1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F7F6F1"/>
                </a:solidFill>
                <a:latin typeface="Meiryo"/>
                <a:ea typeface="Meiryo"/>
                <a:cs typeface="Meiryo"/>
              </a:rPr>
              <a:t>Unreal Editorを操作し、結果を画面で確認できる。</a:t>
            </a:r>
          </a:p>
        </p:txBody>
      </p:sp>
    </p:spTree>
    <p:extLst>
      <p:ext uri="{BB962C8B-B14F-4D97-AF65-F5344CB8AC3E}">
        <p14:creationId xmlns:p14="http://schemas.microsoft.com/office/powerpoint/2010/main" val="25517942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ule-0244">
            <a:extLst xmlns:a="http://schemas.openxmlformats.org/drawingml/2006/main">
              <a:ext uri="{FF2B5EF4-FFF2-40B4-BE49-F238E27FC236}">
                <a16:creationId xmlns:a16="http://schemas.microsoft.com/office/drawing/2014/main" id="{8C0DDF80-A030-4C0C-95AE-A92703BB7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4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0245">
            <a:extLst xmlns:a="http://schemas.openxmlformats.org/drawingml/2006/main">
              <a:ext uri="{FF2B5EF4-FFF2-40B4-BE49-F238E27FC236}">
                <a16:creationId xmlns:a16="http://schemas.microsoft.com/office/drawing/2014/main" id="{DC08CE6B-2863-4866-AA8D-366512132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10744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15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15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制作の流れ 2 / 確かめて残す</a:t>
            </a:r>
          </a:p>
        </p:txBody>
      </p:sp>
      <p:sp>
        <p:nvSpPr>
          <p:cNvPr id="3" name="rule-0246">
            <a:extLst xmlns:a="http://schemas.openxmlformats.org/drawingml/2006/main">
              <a:ext uri="{FF2B5EF4-FFF2-40B4-BE49-F238E27FC236}">
                <a16:creationId xmlns:a16="http://schemas.microsoft.com/office/drawing/2014/main" id="{B538D6A5-B2C0-44C5-AD1B-F269C36C9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247">
            <a:extLst xmlns:a="http://schemas.openxmlformats.org/drawingml/2006/main">
              <a:ext uri="{FF2B5EF4-FFF2-40B4-BE49-F238E27FC236}">
                <a16:creationId xmlns:a16="http://schemas.microsoft.com/office/drawing/2014/main" id="{FEC76BA8-7227-498A-A329-E443E93C5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62725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ChaosDraftParty / 島田 泰成</a:t>
            </a:r>
          </a:p>
        </p:txBody>
      </p:sp>
      <p:sp>
        <p:nvSpPr>
          <p:cNvPr id="5" name="text-0248">
            <a:extLst xmlns:a="http://schemas.openxmlformats.org/drawingml/2006/main">
              <a:ext uri="{FF2B5EF4-FFF2-40B4-BE49-F238E27FC236}">
                <a16:creationId xmlns:a16="http://schemas.microsoft.com/office/drawing/2014/main" id="{4D9B3E6D-E390-4A10-A7A5-ABD8BBCA0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436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0A6CE"/>
                </a:solidFill>
                <a:latin typeface="Meiryo"/>
                <a:ea typeface="Meiryo"/>
                <a:cs typeface="Meiryo"/>
              </a:defRPr>
            </a:pPr>
            <a:r>
              <a:rPr sz="975" b="1">
                <a:solidFill>
                  <a:srgbClr val="00A6CE"/>
                </a:solidFill>
                <a:latin typeface="Meiryo"/>
                <a:ea typeface="Meiryo"/>
                <a:cs typeface="Meiryo"/>
              </a:rPr>
              <a:t>12</a:t>
            </a:r>
          </a:p>
        </p:txBody>
      </p:sp>
      <p:sp>
        <p:nvSpPr>
          <p:cNvPr id="6" name="shape-0249">
            <a:extLst xmlns:a="http://schemas.openxmlformats.org/drawingml/2006/main">
              <a:ext uri="{FF2B5EF4-FFF2-40B4-BE49-F238E27FC236}">
                <a16:creationId xmlns:a16="http://schemas.microsoft.com/office/drawing/2014/main" id="{5E859D05-1828-4920-97F0-87F5D7C2E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180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CF"/>
            </a:solidFill>
            <a:prstDash val="solid"/>
          </a:ln>
        </p:spPr>
      </p:sp>
      <p:sp>
        <p:nvSpPr>
          <p:cNvPr id="7" name="rule-0250">
            <a:extLst xmlns:a="http://schemas.openxmlformats.org/drawingml/2006/main">
              <a:ext uri="{FF2B5EF4-FFF2-40B4-BE49-F238E27FC236}">
                <a16:creationId xmlns:a16="http://schemas.microsoft.com/office/drawing/2014/main" id="{05BC3BCF-ED07-47D1-89F4-E001E2D76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1809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0251">
            <a:extLst xmlns:a="http://schemas.openxmlformats.org/drawingml/2006/main">
              <a:ext uri="{FF2B5EF4-FFF2-40B4-BE49-F238E27FC236}">
                <a16:creationId xmlns:a16="http://schemas.microsoft.com/office/drawing/2014/main" id="{291F8712-BF44-4F93-8A76-EBDF781F8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2405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575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目的</a:t>
            </a:r>
          </a:p>
        </p:txBody>
      </p:sp>
      <p:sp>
        <p:nvSpPr>
          <p:cNvPr id="9" name="text-0252">
            <a:extLst xmlns:a="http://schemas.openxmlformats.org/drawingml/2006/main">
              <a:ext uri="{FF2B5EF4-FFF2-40B4-BE49-F238E27FC236}">
                <a16:creationId xmlns:a16="http://schemas.microsoft.com/office/drawing/2014/main" id="{314114A6-132B-4E7B-A350-F4D56D2C6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8859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D8D6CF"/>
                </a:solidFill>
                <a:latin typeface="Meiryo"/>
                <a:ea typeface="Meiryo"/>
                <a:cs typeface="Meiryo"/>
              </a:defRPr>
            </a:pPr>
            <a:r>
              <a:rPr sz="2550" b="1">
                <a:solidFill>
                  <a:srgbClr val="D8D6CF"/>
                </a:solidFill>
                <a:latin typeface="Meiryo"/>
                <a:ea typeface="Meiryo"/>
                <a:cs typeface="Meiryo"/>
              </a:rPr>
              <a:t>→</a:t>
            </a:r>
          </a:p>
        </p:txBody>
      </p:sp>
      <p:sp>
        <p:nvSpPr>
          <p:cNvPr id="10" name="shape-0253">
            <a:extLst xmlns:a="http://schemas.openxmlformats.org/drawingml/2006/main">
              <a:ext uri="{FF2B5EF4-FFF2-40B4-BE49-F238E27FC236}">
                <a16:creationId xmlns:a16="http://schemas.microsoft.com/office/drawing/2014/main" id="{F0FEE8C1-0894-4127-B915-00CB5CF93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695450"/>
            <a:ext cx="180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CF"/>
            </a:solidFill>
            <a:prstDash val="solid"/>
          </a:ln>
        </p:spPr>
      </p:sp>
      <p:sp>
        <p:nvSpPr>
          <p:cNvPr id="11" name="rule-0254">
            <a:extLst xmlns:a="http://schemas.openxmlformats.org/drawingml/2006/main">
              <a:ext uri="{FF2B5EF4-FFF2-40B4-BE49-F238E27FC236}">
                <a16:creationId xmlns:a16="http://schemas.microsoft.com/office/drawing/2014/main" id="{55B4EFD2-F3EE-4A0D-8F98-04EF967D9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695450"/>
            <a:ext cx="1809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8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0255">
            <a:extLst xmlns:a="http://schemas.openxmlformats.org/drawingml/2006/main">
              <a:ext uri="{FF2B5EF4-FFF2-40B4-BE49-F238E27FC236}">
                <a16:creationId xmlns:a16="http://schemas.microsoft.com/office/drawing/2014/main" id="{3A77ABCB-0DBD-4242-9C42-D31475C07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2405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575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実装AI</a:t>
            </a:r>
          </a:p>
        </p:txBody>
      </p:sp>
      <p:sp>
        <p:nvSpPr>
          <p:cNvPr id="13" name="text-0256">
            <a:extLst xmlns:a="http://schemas.openxmlformats.org/drawingml/2006/main">
              <a:ext uri="{FF2B5EF4-FFF2-40B4-BE49-F238E27FC236}">
                <a16:creationId xmlns:a16="http://schemas.microsoft.com/office/drawing/2014/main" id="{8994E44B-73B0-43D3-819B-4F14E6879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8859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D8D6CF"/>
                </a:solidFill>
                <a:latin typeface="Meiryo"/>
                <a:ea typeface="Meiryo"/>
                <a:cs typeface="Meiryo"/>
              </a:defRPr>
            </a:pPr>
            <a:r>
              <a:rPr sz="2550" b="1">
                <a:solidFill>
                  <a:srgbClr val="D8D6CF"/>
                </a:solidFill>
                <a:latin typeface="Meiryo"/>
                <a:ea typeface="Meiryo"/>
                <a:cs typeface="Meiryo"/>
              </a:rPr>
              <a:t>→</a:t>
            </a:r>
          </a:p>
        </p:txBody>
      </p:sp>
      <p:sp>
        <p:nvSpPr>
          <p:cNvPr id="14" name="shape-0257">
            <a:extLst xmlns:a="http://schemas.openxmlformats.org/drawingml/2006/main">
              <a:ext uri="{FF2B5EF4-FFF2-40B4-BE49-F238E27FC236}">
                <a16:creationId xmlns:a16="http://schemas.microsoft.com/office/drawing/2014/main" id="{BAFB4A33-7F30-4E89-9939-A4FD391EE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695450"/>
            <a:ext cx="180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CF"/>
            </a:solidFill>
            <a:prstDash val="solid"/>
          </a:ln>
        </p:spPr>
      </p:sp>
      <p:sp>
        <p:nvSpPr>
          <p:cNvPr id="15" name="rule-0258">
            <a:extLst xmlns:a="http://schemas.openxmlformats.org/drawingml/2006/main">
              <a:ext uri="{FF2B5EF4-FFF2-40B4-BE49-F238E27FC236}">
                <a16:creationId xmlns:a16="http://schemas.microsoft.com/office/drawing/2014/main" id="{224CBBDA-9F4E-47EA-9957-533CCD6D1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695450"/>
            <a:ext cx="1809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0259">
            <a:extLst xmlns:a="http://schemas.openxmlformats.org/drawingml/2006/main">
              <a:ext uri="{FF2B5EF4-FFF2-40B4-BE49-F238E27FC236}">
                <a16:creationId xmlns:a16="http://schemas.microsoft.com/office/drawing/2014/main" id="{E0F7D6DD-9A3F-4E0F-A31F-423C2D46B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92405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575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MCP</a:t>
            </a:r>
          </a:p>
        </p:txBody>
      </p:sp>
      <p:sp>
        <p:nvSpPr>
          <p:cNvPr id="17" name="text-0260">
            <a:extLst xmlns:a="http://schemas.openxmlformats.org/drawingml/2006/main">
              <a:ext uri="{FF2B5EF4-FFF2-40B4-BE49-F238E27FC236}">
                <a16:creationId xmlns:a16="http://schemas.microsoft.com/office/drawing/2014/main" id="{684C2DB1-578B-4AE0-B5A6-630C90685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859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D8D6CF"/>
                </a:solidFill>
                <a:latin typeface="Meiryo"/>
                <a:ea typeface="Meiryo"/>
                <a:cs typeface="Meiryo"/>
              </a:defRPr>
            </a:pPr>
            <a:r>
              <a:rPr sz="2550" b="1">
                <a:solidFill>
                  <a:srgbClr val="D8D6CF"/>
                </a:solidFill>
                <a:latin typeface="Meiryo"/>
                <a:ea typeface="Meiryo"/>
                <a:cs typeface="Meiryo"/>
              </a:rPr>
              <a:t>→</a:t>
            </a:r>
          </a:p>
        </p:txBody>
      </p:sp>
      <p:sp>
        <p:nvSpPr>
          <p:cNvPr id="18" name="shape-0261">
            <a:extLst xmlns:a="http://schemas.openxmlformats.org/drawingml/2006/main">
              <a:ext uri="{FF2B5EF4-FFF2-40B4-BE49-F238E27FC236}">
                <a16:creationId xmlns:a16="http://schemas.microsoft.com/office/drawing/2014/main" id="{917985B3-3C9A-4264-97E2-96DAAAF27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695450"/>
            <a:ext cx="180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CF"/>
            </a:solidFill>
            <a:prstDash val="solid"/>
          </a:ln>
        </p:spPr>
      </p:sp>
      <p:sp>
        <p:nvSpPr>
          <p:cNvPr id="19" name="rule-0262">
            <a:extLst xmlns:a="http://schemas.openxmlformats.org/drawingml/2006/main">
              <a:ext uri="{FF2B5EF4-FFF2-40B4-BE49-F238E27FC236}">
                <a16:creationId xmlns:a16="http://schemas.microsoft.com/office/drawing/2014/main" id="{78C5E8FF-DBEE-4B95-832A-DF81932F4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695450"/>
            <a:ext cx="1809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0263">
            <a:extLst xmlns:a="http://schemas.openxmlformats.org/drawingml/2006/main">
              <a:ext uri="{FF2B5EF4-FFF2-40B4-BE49-F238E27FC236}">
                <a16:creationId xmlns:a16="http://schemas.microsoft.com/office/drawing/2014/main" id="{9FC7378D-9BC0-490D-9BF3-ACCE1AADF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92405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575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Unreal</a:t>
            </a:r>
          </a:p>
        </p:txBody>
      </p:sp>
      <p:sp>
        <p:nvSpPr>
          <p:cNvPr id="21" name="text-0264">
            <a:extLst xmlns:a="http://schemas.openxmlformats.org/drawingml/2006/main">
              <a:ext uri="{FF2B5EF4-FFF2-40B4-BE49-F238E27FC236}">
                <a16:creationId xmlns:a16="http://schemas.microsoft.com/office/drawing/2014/main" id="{2B572D66-CD6F-43D9-9B4A-733D68628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8859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D8D6CF"/>
                </a:solidFill>
                <a:latin typeface="Meiryo"/>
                <a:ea typeface="Meiryo"/>
                <a:cs typeface="Meiryo"/>
              </a:defRPr>
            </a:pPr>
            <a:r>
              <a:rPr sz="2550" b="1">
                <a:solidFill>
                  <a:srgbClr val="D8D6CF"/>
                </a:solidFill>
                <a:latin typeface="Meiryo"/>
                <a:ea typeface="Meiryo"/>
                <a:cs typeface="Meiryo"/>
              </a:rPr>
              <a:t>→</a:t>
            </a:r>
          </a:p>
        </p:txBody>
      </p:sp>
      <p:sp>
        <p:nvSpPr>
          <p:cNvPr id="22" name="shape-0265">
            <a:extLst xmlns:a="http://schemas.openxmlformats.org/drawingml/2006/main">
              <a:ext uri="{FF2B5EF4-FFF2-40B4-BE49-F238E27FC236}">
                <a16:creationId xmlns:a16="http://schemas.microsoft.com/office/drawing/2014/main" id="{C0935838-A99D-43EA-A77F-0A70B9E06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695450"/>
            <a:ext cx="180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CF"/>
            </a:solidFill>
            <a:prstDash val="solid"/>
          </a:ln>
        </p:spPr>
      </p:sp>
      <p:sp>
        <p:nvSpPr>
          <p:cNvPr id="23" name="rule-0266">
            <a:extLst xmlns:a="http://schemas.openxmlformats.org/drawingml/2006/main">
              <a:ext uri="{FF2B5EF4-FFF2-40B4-BE49-F238E27FC236}">
                <a16:creationId xmlns:a16="http://schemas.microsoft.com/office/drawing/2014/main" id="{C9D04281-678B-42E4-8BF9-7958341C4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695450"/>
            <a:ext cx="1809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-0267">
            <a:extLst xmlns:a="http://schemas.openxmlformats.org/drawingml/2006/main">
              <a:ext uri="{FF2B5EF4-FFF2-40B4-BE49-F238E27FC236}">
                <a16:creationId xmlns:a16="http://schemas.microsoft.com/office/drawing/2014/main" id="{CC968CB1-FD63-4403-B149-AF43CE768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92405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575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プレイ判断</a:t>
            </a:r>
          </a:p>
        </p:txBody>
      </p:sp>
      <p:sp>
        <p:nvSpPr>
          <p:cNvPr id="25" name="text-0268">
            <a:extLst xmlns:a="http://schemas.openxmlformats.org/drawingml/2006/main">
              <a:ext uri="{FF2B5EF4-FFF2-40B4-BE49-F238E27FC236}">
                <a16:creationId xmlns:a16="http://schemas.microsoft.com/office/drawing/2014/main" id="{85F19107-0734-416C-85A3-F9BB556DF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813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350" b="1">
                <a:solidFill>
                  <a:srgbClr val="5C6268"/>
                </a:solidFill>
                <a:latin typeface="Meiryo"/>
                <a:ea typeface="Meiryo"/>
                <a:cs typeface="Meiryo"/>
              </a:rPr>
              <a:t>判断後、結果をもう一周させる</a:t>
            </a:r>
          </a:p>
        </p:txBody>
      </p:sp>
      <p:sp>
        <p:nvSpPr>
          <p:cNvPr id="26" name="shape-0269">
            <a:extLst xmlns:a="http://schemas.openxmlformats.org/drawingml/2006/main">
              <a:ext uri="{FF2B5EF4-FFF2-40B4-BE49-F238E27FC236}">
                <a16:creationId xmlns:a16="http://schemas.microsoft.com/office/drawing/2014/main" id="{35B2E2FD-A50E-4A89-8896-8D09206D5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0"/>
            <a:ext cx="2343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CF"/>
            </a:solidFill>
            <a:prstDash val="solid"/>
          </a:ln>
        </p:spPr>
      </p:sp>
      <p:sp>
        <p:nvSpPr>
          <p:cNvPr id="27" name="rule-0270">
            <a:extLst xmlns:a="http://schemas.openxmlformats.org/drawingml/2006/main">
              <a:ext uri="{FF2B5EF4-FFF2-40B4-BE49-F238E27FC236}">
                <a16:creationId xmlns:a16="http://schemas.microsoft.com/office/drawing/2014/main" id="{1C6E4F37-0242-4803-BF18-CB551FF71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0"/>
            <a:ext cx="23431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-0271">
            <a:extLst xmlns:a="http://schemas.openxmlformats.org/drawingml/2006/main">
              <a:ext uri="{FF2B5EF4-FFF2-40B4-BE49-F238E27FC236}">
                <a16:creationId xmlns:a16="http://schemas.microsoft.com/office/drawing/2014/main" id="{D1858940-A2E6-470F-BA5E-5952C3B33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671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A6CE"/>
                </a:solidFill>
                <a:latin typeface="Meiryo"/>
                <a:ea typeface="Meiryo"/>
                <a:cs typeface="Meiryo"/>
              </a:defRPr>
            </a:pPr>
            <a:r>
              <a:rPr sz="1350" b="1">
                <a:solidFill>
                  <a:srgbClr val="00A6CE"/>
                </a:solidFill>
                <a:latin typeface="Meiryo"/>
                <a:ea typeface="Meiryo"/>
                <a:cs typeface="Meiryo"/>
              </a:rPr>
              <a:t>01</a:t>
            </a:r>
          </a:p>
        </p:txBody>
      </p:sp>
      <p:sp>
        <p:nvSpPr>
          <p:cNvPr id="29" name="text-0272">
            <a:extLst xmlns:a="http://schemas.openxmlformats.org/drawingml/2006/main">
              <a:ext uri="{FF2B5EF4-FFF2-40B4-BE49-F238E27FC236}">
                <a16:creationId xmlns:a16="http://schemas.microsoft.com/office/drawing/2014/main" id="{A45E8C2E-1112-48AD-93BF-784319D64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290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575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別のAIが確認</a:t>
            </a:r>
          </a:p>
        </p:txBody>
      </p:sp>
      <p:sp>
        <p:nvSpPr>
          <p:cNvPr id="30" name="text-0273">
            <a:extLst xmlns:a="http://schemas.openxmlformats.org/drawingml/2006/main">
              <a:ext uri="{FF2B5EF4-FFF2-40B4-BE49-F238E27FC236}">
                <a16:creationId xmlns:a16="http://schemas.microsoft.com/office/drawing/2014/main" id="{32017C2D-BEAF-407D-907F-BA02D389A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05300"/>
            <a:ext cx="2000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125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思い込みや抜けを探す</a:t>
            </a:r>
          </a:p>
        </p:txBody>
      </p:sp>
      <p:sp>
        <p:nvSpPr>
          <p:cNvPr id="31" name="text-0274">
            <a:extLst xmlns:a="http://schemas.openxmlformats.org/drawingml/2006/main">
              <a:ext uri="{FF2B5EF4-FFF2-40B4-BE49-F238E27FC236}">
                <a16:creationId xmlns:a16="http://schemas.microsoft.com/office/drawing/2014/main" id="{44A7E890-BDDC-44C4-8570-1EDB95251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69570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D8D6CF"/>
                </a:solidFill>
                <a:latin typeface="Meiryo"/>
                <a:ea typeface="Meiryo"/>
                <a:cs typeface="Meiryo"/>
              </a:defRPr>
            </a:pPr>
            <a:r>
              <a:rPr sz="2550" b="1">
                <a:solidFill>
                  <a:srgbClr val="D8D6CF"/>
                </a:solidFill>
                <a:latin typeface="Meiryo"/>
                <a:ea typeface="Meiryo"/>
                <a:cs typeface="Meiryo"/>
              </a:rPr>
              <a:t>→</a:t>
            </a:r>
          </a:p>
        </p:txBody>
      </p:sp>
      <p:sp>
        <p:nvSpPr>
          <p:cNvPr id="32" name="shape-0275">
            <a:extLst xmlns:a="http://schemas.openxmlformats.org/drawingml/2006/main">
              <a:ext uri="{FF2B5EF4-FFF2-40B4-BE49-F238E27FC236}">
                <a16:creationId xmlns:a16="http://schemas.microsoft.com/office/drawing/2014/main" id="{E284B74C-69FC-4E08-A99A-159B56F28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38500"/>
            <a:ext cx="2343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CF"/>
            </a:solidFill>
            <a:prstDash val="solid"/>
          </a:ln>
        </p:spPr>
      </p:sp>
      <p:sp>
        <p:nvSpPr>
          <p:cNvPr id="33" name="rule-0276">
            <a:extLst xmlns:a="http://schemas.openxmlformats.org/drawingml/2006/main">
              <a:ext uri="{FF2B5EF4-FFF2-40B4-BE49-F238E27FC236}">
                <a16:creationId xmlns:a16="http://schemas.microsoft.com/office/drawing/2014/main" id="{2E14A62D-417F-4C84-BE9F-09E409821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38500"/>
            <a:ext cx="23431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text-0277">
            <a:extLst xmlns:a="http://schemas.openxmlformats.org/drawingml/2006/main">
              <a:ext uri="{FF2B5EF4-FFF2-40B4-BE49-F238E27FC236}">
                <a16:creationId xmlns:a16="http://schemas.microsoft.com/office/drawing/2014/main" id="{3A70F48E-8BDC-4BEC-A28D-C1F57C383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4671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B400"/>
                </a:solidFill>
                <a:latin typeface="Meiryo"/>
                <a:ea typeface="Meiryo"/>
                <a:cs typeface="Meiryo"/>
              </a:defRPr>
            </a:pPr>
            <a:r>
              <a:rPr sz="1350" b="1">
                <a:solidFill>
                  <a:srgbClr val="F4B400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sp>
        <p:nvSpPr>
          <p:cNvPr id="35" name="text-0278">
            <a:extLst xmlns:a="http://schemas.openxmlformats.org/drawingml/2006/main">
              <a:ext uri="{FF2B5EF4-FFF2-40B4-BE49-F238E27FC236}">
                <a16:creationId xmlns:a16="http://schemas.microsoft.com/office/drawing/2014/main" id="{D7293EBB-1FE5-4C9D-8689-9C945E8EF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8290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575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テストとログ</a:t>
            </a:r>
          </a:p>
        </p:txBody>
      </p:sp>
      <p:sp>
        <p:nvSpPr>
          <p:cNvPr id="36" name="text-0279">
            <a:extLst xmlns:a="http://schemas.openxmlformats.org/drawingml/2006/main">
              <a:ext uri="{FF2B5EF4-FFF2-40B4-BE49-F238E27FC236}">
                <a16:creationId xmlns:a16="http://schemas.microsoft.com/office/drawing/2014/main" id="{2E49B0A1-CB74-4C32-9B15-99B34DDE1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305300"/>
            <a:ext cx="2000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125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実行結果を数字で残す</a:t>
            </a:r>
          </a:p>
        </p:txBody>
      </p:sp>
      <p:sp>
        <p:nvSpPr>
          <p:cNvPr id="37" name="text-0280">
            <a:extLst xmlns:a="http://schemas.openxmlformats.org/drawingml/2006/main">
              <a:ext uri="{FF2B5EF4-FFF2-40B4-BE49-F238E27FC236}">
                <a16:creationId xmlns:a16="http://schemas.microsoft.com/office/drawing/2014/main" id="{9AD994E4-E605-4E07-B740-CC0172CA8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69570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D8D6CF"/>
                </a:solidFill>
                <a:latin typeface="Meiryo"/>
                <a:ea typeface="Meiryo"/>
                <a:cs typeface="Meiryo"/>
              </a:defRPr>
            </a:pPr>
            <a:r>
              <a:rPr sz="2550" b="1">
                <a:solidFill>
                  <a:srgbClr val="D8D6CF"/>
                </a:solidFill>
                <a:latin typeface="Meiryo"/>
                <a:ea typeface="Meiryo"/>
                <a:cs typeface="Meiryo"/>
              </a:rPr>
              <a:t>→</a:t>
            </a:r>
          </a:p>
        </p:txBody>
      </p:sp>
      <p:sp>
        <p:nvSpPr>
          <p:cNvPr id="38" name="shape-0281">
            <a:extLst xmlns:a="http://schemas.openxmlformats.org/drawingml/2006/main">
              <a:ext uri="{FF2B5EF4-FFF2-40B4-BE49-F238E27FC236}">
                <a16:creationId xmlns:a16="http://schemas.microsoft.com/office/drawing/2014/main" id="{3F7B782E-4E23-40D2-85C1-121A60024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238500"/>
            <a:ext cx="2343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CF"/>
            </a:solidFill>
            <a:prstDash val="solid"/>
          </a:ln>
        </p:spPr>
      </p:sp>
      <p:sp>
        <p:nvSpPr>
          <p:cNvPr id="39" name="rule-0282">
            <a:extLst xmlns:a="http://schemas.openxmlformats.org/drawingml/2006/main">
              <a:ext uri="{FF2B5EF4-FFF2-40B4-BE49-F238E27FC236}">
                <a16:creationId xmlns:a16="http://schemas.microsoft.com/office/drawing/2014/main" id="{A47C2623-DD19-4344-A6EA-EC0F73445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238500"/>
            <a:ext cx="23431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8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text-0283">
            <a:extLst xmlns:a="http://schemas.openxmlformats.org/drawingml/2006/main">
              <a:ext uri="{FF2B5EF4-FFF2-40B4-BE49-F238E27FC236}">
                <a16:creationId xmlns:a16="http://schemas.microsoft.com/office/drawing/2014/main" id="{5B11B9C5-5CB8-445F-A87B-2E87DC7CD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671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A85A"/>
                </a:solidFill>
                <a:latin typeface="Meiryo"/>
                <a:ea typeface="Meiryo"/>
                <a:cs typeface="Meiryo"/>
              </a:defRPr>
            </a:pPr>
            <a:r>
              <a:rPr sz="1350" b="1">
                <a:solidFill>
                  <a:srgbClr val="08A85A"/>
                </a:solidFill>
                <a:latin typeface="Meiryo"/>
                <a:ea typeface="Meiryo"/>
                <a:cs typeface="Meiryo"/>
              </a:rPr>
              <a:t>03</a:t>
            </a:r>
          </a:p>
        </p:txBody>
      </p:sp>
      <p:sp>
        <p:nvSpPr>
          <p:cNvPr id="41" name="text-0284">
            <a:extLst xmlns:a="http://schemas.openxmlformats.org/drawingml/2006/main">
              <a:ext uri="{FF2B5EF4-FFF2-40B4-BE49-F238E27FC236}">
                <a16:creationId xmlns:a16="http://schemas.microsoft.com/office/drawing/2014/main" id="{ECD667F1-FA61-48FB-8144-4FB4806C8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290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575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Skillにする</a:t>
            </a:r>
          </a:p>
        </p:txBody>
      </p:sp>
      <p:sp>
        <p:nvSpPr>
          <p:cNvPr id="42" name="text-0285">
            <a:extLst xmlns:a="http://schemas.openxmlformats.org/drawingml/2006/main">
              <a:ext uri="{FF2B5EF4-FFF2-40B4-BE49-F238E27FC236}">
                <a16:creationId xmlns:a16="http://schemas.microsoft.com/office/drawing/2014/main" id="{BD3EF7BB-3D23-44F6-8C28-6A2C2122D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305300"/>
            <a:ext cx="2000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125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うまくいった手順を再利用</a:t>
            </a:r>
          </a:p>
        </p:txBody>
      </p:sp>
      <p:sp>
        <p:nvSpPr>
          <p:cNvPr id="43" name="text-0286">
            <a:extLst xmlns:a="http://schemas.openxmlformats.org/drawingml/2006/main">
              <a:ext uri="{FF2B5EF4-FFF2-40B4-BE49-F238E27FC236}">
                <a16:creationId xmlns:a16="http://schemas.microsoft.com/office/drawing/2014/main" id="{411E9103-1322-4F6D-9A37-97E79DE9C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9570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D8D6CF"/>
                </a:solidFill>
                <a:latin typeface="Meiryo"/>
                <a:ea typeface="Meiryo"/>
                <a:cs typeface="Meiryo"/>
              </a:defRPr>
            </a:pPr>
            <a:r>
              <a:rPr sz="2550" b="1">
                <a:solidFill>
                  <a:srgbClr val="D8D6CF"/>
                </a:solidFill>
                <a:latin typeface="Meiryo"/>
                <a:ea typeface="Meiryo"/>
                <a:cs typeface="Meiryo"/>
              </a:rPr>
              <a:t>→</a:t>
            </a:r>
          </a:p>
        </p:txBody>
      </p:sp>
      <p:sp>
        <p:nvSpPr>
          <p:cNvPr id="44" name="shape-0287">
            <a:extLst xmlns:a="http://schemas.openxmlformats.org/drawingml/2006/main">
              <a:ext uri="{FF2B5EF4-FFF2-40B4-BE49-F238E27FC236}">
                <a16:creationId xmlns:a16="http://schemas.microsoft.com/office/drawing/2014/main" id="{E06FCDF8-4AA6-4BB6-B3CF-0DE5A633D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38500"/>
            <a:ext cx="2343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CF"/>
            </a:solidFill>
            <a:prstDash val="solid"/>
          </a:ln>
        </p:spPr>
      </p:sp>
      <p:sp>
        <p:nvSpPr>
          <p:cNvPr id="45" name="rule-0288">
            <a:extLst xmlns:a="http://schemas.openxmlformats.org/drawingml/2006/main">
              <a:ext uri="{FF2B5EF4-FFF2-40B4-BE49-F238E27FC236}">
                <a16:creationId xmlns:a16="http://schemas.microsoft.com/office/drawing/2014/main" id="{44052E2B-26C5-44B4-9675-CCEFB77F7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38500"/>
            <a:ext cx="23431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text-0289">
            <a:extLst xmlns:a="http://schemas.openxmlformats.org/drawingml/2006/main">
              <a:ext uri="{FF2B5EF4-FFF2-40B4-BE49-F238E27FC236}">
                <a16:creationId xmlns:a16="http://schemas.microsoft.com/office/drawing/2014/main" id="{9863F718-9FD4-4A8D-B025-690EF31C2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4671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6353D"/>
                </a:solidFill>
                <a:latin typeface="Meiryo"/>
                <a:ea typeface="Meiryo"/>
                <a:cs typeface="Meiryo"/>
              </a:defRPr>
            </a:pPr>
            <a:r>
              <a:rPr sz="1350" b="1">
                <a:solidFill>
                  <a:srgbClr val="E6353D"/>
                </a:solidFill>
                <a:latin typeface="Meiryo"/>
                <a:ea typeface="Meiryo"/>
                <a:cs typeface="Meiryo"/>
              </a:rPr>
              <a:t>04</a:t>
            </a:r>
          </a:p>
        </p:txBody>
      </p:sp>
      <p:sp>
        <p:nvSpPr>
          <p:cNvPr id="47" name="text-0290">
            <a:extLst xmlns:a="http://schemas.openxmlformats.org/drawingml/2006/main">
              <a:ext uri="{FF2B5EF4-FFF2-40B4-BE49-F238E27FC236}">
                <a16:creationId xmlns:a16="http://schemas.microsoft.com/office/drawing/2014/main" id="{76066C91-7399-4160-B794-AF7F6F892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8290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575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次の作業へ</a:t>
            </a:r>
          </a:p>
        </p:txBody>
      </p:sp>
      <p:sp>
        <p:nvSpPr>
          <p:cNvPr id="48" name="text-0291">
            <a:extLst xmlns:a="http://schemas.openxmlformats.org/drawingml/2006/main">
              <a:ext uri="{FF2B5EF4-FFF2-40B4-BE49-F238E27FC236}">
                <a16:creationId xmlns:a16="http://schemas.microsoft.com/office/drawing/2014/main" id="{6AAAB92B-6129-4AA7-B484-FCBAB8204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305300"/>
            <a:ext cx="2000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125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別のAIでも続きから開始</a:t>
            </a:r>
          </a:p>
        </p:txBody>
      </p:sp>
      <p:sp>
        <p:nvSpPr>
          <p:cNvPr id="49" name="text-0292">
            <a:extLst xmlns:a="http://schemas.openxmlformats.org/drawingml/2006/main">
              <a:ext uri="{FF2B5EF4-FFF2-40B4-BE49-F238E27FC236}">
                <a16:creationId xmlns:a16="http://schemas.microsoft.com/office/drawing/2014/main" id="{9BD1B14E-5B50-4985-BBD5-035840841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5717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E6353D"/>
                </a:solidFill>
                <a:latin typeface="Meiryo"/>
                <a:ea typeface="Meiryo"/>
                <a:cs typeface="Meiryo"/>
              </a:defRPr>
            </a:pPr>
            <a:r>
              <a:rPr sz="2700" b="1">
                <a:solidFill>
                  <a:srgbClr val="E6353D"/>
                </a:solidFill>
                <a:latin typeface="Meiryo"/>
                <a:ea typeface="Meiryo"/>
                <a:cs typeface="Meiryo"/>
              </a:rPr>
              <a:t>↖</a:t>
            </a:r>
          </a:p>
        </p:txBody>
      </p:sp>
      <p:sp>
        <p:nvSpPr>
          <p:cNvPr id="50" name="rule-0293">
            <a:extLst xmlns:a="http://schemas.openxmlformats.org/drawingml/2006/main">
              <a:ext uri="{FF2B5EF4-FFF2-40B4-BE49-F238E27FC236}">
                <a16:creationId xmlns:a16="http://schemas.microsoft.com/office/drawing/2014/main" id="{F15F55BB-B082-4E91-883A-A5D9088FC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101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text-0294">
            <a:extLst xmlns:a="http://schemas.openxmlformats.org/drawingml/2006/main">
              <a:ext uri="{FF2B5EF4-FFF2-40B4-BE49-F238E27FC236}">
                <a16:creationId xmlns:a16="http://schemas.microsoft.com/office/drawing/2014/main" id="{CFD42670-3E6D-4EF6-8F5E-8AA9E28D2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57800"/>
            <a:ext cx="83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A6CE"/>
                </a:solidFill>
                <a:latin typeface="Meiryo"/>
                <a:ea typeface="Meiryo"/>
                <a:cs typeface="Meiryo"/>
              </a:defRPr>
            </a:pPr>
            <a:r>
              <a:rPr sz="1500" b="1">
                <a:solidFill>
                  <a:srgbClr val="00A6CE"/>
                </a:solidFill>
                <a:latin typeface="Meiryo"/>
                <a:ea typeface="Meiryo"/>
                <a:cs typeface="Meiryo"/>
              </a:rPr>
              <a:t>MCP</a:t>
            </a:r>
          </a:p>
        </p:txBody>
      </p:sp>
      <p:sp>
        <p:nvSpPr>
          <p:cNvPr id="52" name="text-0295">
            <a:extLst xmlns:a="http://schemas.openxmlformats.org/drawingml/2006/main">
              <a:ext uri="{FF2B5EF4-FFF2-40B4-BE49-F238E27FC236}">
                <a16:creationId xmlns:a16="http://schemas.microsoft.com/office/drawing/2014/main" id="{A08CFD00-8AA7-4B44-9480-E0D95F267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238750"/>
            <a:ext cx="2724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125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AIとEditorをつなぐ入り口</a:t>
            </a:r>
          </a:p>
        </p:txBody>
      </p:sp>
      <p:sp>
        <p:nvSpPr>
          <p:cNvPr id="53" name="text-0296">
            <a:extLst xmlns:a="http://schemas.openxmlformats.org/drawingml/2006/main">
              <a:ext uri="{FF2B5EF4-FFF2-40B4-BE49-F238E27FC236}">
                <a16:creationId xmlns:a16="http://schemas.microsoft.com/office/drawing/2014/main" id="{DED9E98E-7DE7-4F75-BEAC-F6CCBBDF6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257800"/>
            <a:ext cx="83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B400"/>
                </a:solidFill>
                <a:latin typeface="Meiryo"/>
                <a:ea typeface="Meiryo"/>
                <a:cs typeface="Meiryo"/>
              </a:defRPr>
            </a:pPr>
            <a:r>
              <a:rPr sz="1500" b="1">
                <a:solidFill>
                  <a:srgbClr val="F4B400"/>
                </a:solidFill>
                <a:latin typeface="Meiryo"/>
                <a:ea typeface="Meiryo"/>
                <a:cs typeface="Meiryo"/>
              </a:rPr>
              <a:t>API</a:t>
            </a:r>
          </a:p>
        </p:txBody>
      </p:sp>
      <p:sp>
        <p:nvSpPr>
          <p:cNvPr id="54" name="text-0297">
            <a:extLst xmlns:a="http://schemas.openxmlformats.org/drawingml/2006/main">
              <a:ext uri="{FF2B5EF4-FFF2-40B4-BE49-F238E27FC236}">
                <a16:creationId xmlns:a16="http://schemas.microsoft.com/office/drawing/2014/main" id="{F7707FFC-CFE1-4BC6-9DC2-FF698E29A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238750"/>
            <a:ext cx="2724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125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外部サービスに自動で依頼する窓口</a:t>
            </a:r>
          </a:p>
        </p:txBody>
      </p:sp>
      <p:sp>
        <p:nvSpPr>
          <p:cNvPr id="55" name="text-0298">
            <a:extLst xmlns:a="http://schemas.openxmlformats.org/drawingml/2006/main">
              <a:ext uri="{FF2B5EF4-FFF2-40B4-BE49-F238E27FC236}">
                <a16:creationId xmlns:a16="http://schemas.microsoft.com/office/drawing/2014/main" id="{D09BBED0-1D16-40DE-97E9-EB11932C6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257800"/>
            <a:ext cx="83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A85A"/>
                </a:solidFill>
                <a:latin typeface="Meiryo"/>
                <a:ea typeface="Meiryo"/>
                <a:cs typeface="Meiryo"/>
              </a:defRPr>
            </a:pPr>
            <a:r>
              <a:rPr sz="1500" b="1">
                <a:solidFill>
                  <a:srgbClr val="08A85A"/>
                </a:solidFill>
                <a:latin typeface="Meiryo"/>
                <a:ea typeface="Meiryo"/>
                <a:cs typeface="Meiryo"/>
              </a:rPr>
              <a:t>Skill</a:t>
            </a:r>
          </a:p>
        </p:txBody>
      </p:sp>
      <p:sp>
        <p:nvSpPr>
          <p:cNvPr id="56" name="text-0299">
            <a:extLst xmlns:a="http://schemas.openxmlformats.org/drawingml/2006/main">
              <a:ext uri="{FF2B5EF4-FFF2-40B4-BE49-F238E27FC236}">
                <a16:creationId xmlns:a16="http://schemas.microsoft.com/office/drawing/2014/main" id="{4FF70551-0C79-4F87-AA46-F0512C23C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238750"/>
            <a:ext cx="2724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125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成功手順を再利用する作業マニュアル</a:t>
            </a:r>
          </a:p>
        </p:txBody>
      </p:sp>
    </p:spTree>
    <p:extLst>
      <p:ext uri="{BB962C8B-B14F-4D97-AF65-F5344CB8AC3E}">
        <p14:creationId xmlns:p14="http://schemas.microsoft.com/office/powerpoint/2010/main" val="146989019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ule-0300">
            <a:extLst xmlns:a="http://schemas.openxmlformats.org/drawingml/2006/main">
              <a:ext uri="{FF2B5EF4-FFF2-40B4-BE49-F238E27FC236}">
                <a16:creationId xmlns:a16="http://schemas.microsoft.com/office/drawing/2014/main" id="{3D64D862-3EA7-4F8C-AAF9-F8AF2DBD9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4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0301">
            <a:extLst xmlns:a="http://schemas.openxmlformats.org/drawingml/2006/main">
              <a:ext uri="{FF2B5EF4-FFF2-40B4-BE49-F238E27FC236}">
                <a16:creationId xmlns:a16="http://schemas.microsoft.com/office/drawing/2014/main" id="{DCB7730C-424D-40BE-9DEE-3F942EFEE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10744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一度きりの生成で終わらせない</a:t>
            </a:r>
          </a:p>
        </p:txBody>
      </p:sp>
      <p:sp>
        <p:nvSpPr>
          <p:cNvPr id="3" name="rule-0302">
            <a:extLst xmlns:a="http://schemas.openxmlformats.org/drawingml/2006/main">
              <a:ext uri="{FF2B5EF4-FFF2-40B4-BE49-F238E27FC236}">
                <a16:creationId xmlns:a16="http://schemas.microsoft.com/office/drawing/2014/main" id="{285278B8-CDEA-49D2-A702-DCD06BA86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303">
            <a:extLst xmlns:a="http://schemas.openxmlformats.org/drawingml/2006/main">
              <a:ext uri="{FF2B5EF4-FFF2-40B4-BE49-F238E27FC236}">
                <a16:creationId xmlns:a16="http://schemas.microsoft.com/office/drawing/2014/main" id="{C9A7ABF6-D4A0-4C71-972F-0CE93A7FD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62725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ChaosDraftParty / 島田 泰成</a:t>
            </a:r>
          </a:p>
        </p:txBody>
      </p:sp>
      <p:sp>
        <p:nvSpPr>
          <p:cNvPr id="5" name="text-0304">
            <a:extLst xmlns:a="http://schemas.openxmlformats.org/drawingml/2006/main">
              <a:ext uri="{FF2B5EF4-FFF2-40B4-BE49-F238E27FC236}">
                <a16:creationId xmlns:a16="http://schemas.microsoft.com/office/drawing/2014/main" id="{314319EE-0985-4DCC-AEB3-913D9BCB2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436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E6353D"/>
                </a:solidFill>
                <a:latin typeface="Meiryo"/>
                <a:ea typeface="Meiryo"/>
                <a:cs typeface="Meiryo"/>
              </a:defRPr>
            </a:pPr>
            <a:r>
              <a:rPr sz="975" b="1">
                <a:solidFill>
                  <a:srgbClr val="E6353D"/>
                </a:solidFill>
                <a:latin typeface="Meiryo"/>
                <a:ea typeface="Meiryo"/>
                <a:cs typeface="Meiryo"/>
              </a:rPr>
              <a:t>13</a:t>
            </a:r>
          </a:p>
        </p:txBody>
      </p:sp>
      <p:sp>
        <p:nvSpPr>
          <p:cNvPr id="6" name="text-0305">
            <a:extLst xmlns:a="http://schemas.openxmlformats.org/drawingml/2006/main">
              <a:ext uri="{FF2B5EF4-FFF2-40B4-BE49-F238E27FC236}">
                <a16:creationId xmlns:a16="http://schemas.microsoft.com/office/drawing/2014/main" id="{57D6C448-BC2B-4493-9317-EC64F919A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5C6268"/>
                </a:solidFill>
                <a:latin typeface="Meiryo"/>
                <a:ea typeface="Meiryo"/>
                <a:cs typeface="Meiryo"/>
              </a:rPr>
              <a:t>よくある使い方</a:t>
            </a:r>
          </a:p>
        </p:txBody>
      </p:sp>
      <p:sp>
        <p:nvSpPr>
          <p:cNvPr id="7" name="text-0306">
            <a:extLst xmlns:a="http://schemas.openxmlformats.org/drawingml/2006/main">
              <a:ext uri="{FF2B5EF4-FFF2-40B4-BE49-F238E27FC236}">
                <a16:creationId xmlns:a16="http://schemas.microsoft.com/office/drawing/2014/main" id="{065EB804-1D62-40E6-ACBF-154F6DC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8B9196"/>
                </a:solidFill>
                <a:latin typeface="Meiryo"/>
                <a:ea typeface="Meiryo"/>
                <a:cs typeface="Meiryo"/>
              </a:defRPr>
            </a:pPr>
            <a:r>
              <a:rPr sz="2100" b="1">
                <a:solidFill>
                  <a:srgbClr val="8B9196"/>
                </a:solidFill>
                <a:latin typeface="Meiryo"/>
                <a:ea typeface="Meiryo"/>
                <a:cs typeface="Meiryo"/>
              </a:rPr>
              <a:t>質問  →  回答  →  貼る  →  忘れる</a:t>
            </a:r>
          </a:p>
        </p:txBody>
      </p:sp>
      <p:sp>
        <p:nvSpPr>
          <p:cNvPr id="8" name="text-0307">
            <a:extLst xmlns:a="http://schemas.openxmlformats.org/drawingml/2006/main">
              <a:ext uri="{FF2B5EF4-FFF2-40B4-BE49-F238E27FC236}">
                <a16:creationId xmlns:a16="http://schemas.microsoft.com/office/drawing/2014/main" id="{9AA3C05D-696B-46D0-B5E3-2BA213203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425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次回はまたゼロから説明する。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425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誤りを他の視点で確認しにくい。</a:t>
            </a:r>
          </a:p>
        </p:txBody>
      </p:sp>
      <p:sp>
        <p:nvSpPr>
          <p:cNvPr id="9" name="rule-0308">
            <a:extLst xmlns:a="http://schemas.openxmlformats.org/drawingml/2006/main">
              <a:ext uri="{FF2B5EF4-FFF2-40B4-BE49-F238E27FC236}">
                <a16:creationId xmlns:a16="http://schemas.microsoft.com/office/drawing/2014/main" id="{F0471AAA-3F77-40FE-82A4-F2B53AFF5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190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0309">
            <a:extLst xmlns:a="http://schemas.openxmlformats.org/drawingml/2006/main">
              <a:ext uri="{FF2B5EF4-FFF2-40B4-BE49-F238E27FC236}">
                <a16:creationId xmlns:a16="http://schemas.microsoft.com/office/drawing/2014/main" id="{31FDD7D8-6E91-4A0B-8A74-0EAA09D3E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954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この制作での使い方</a:t>
            </a:r>
          </a:p>
        </p:txBody>
      </p:sp>
      <p:sp>
        <p:nvSpPr>
          <p:cNvPr id="11" name="shape-0310">
            <a:extLst xmlns:a="http://schemas.openxmlformats.org/drawingml/2006/main">
              <a:ext uri="{FF2B5EF4-FFF2-40B4-BE49-F238E27FC236}">
                <a16:creationId xmlns:a16="http://schemas.microsoft.com/office/drawing/2014/main" id="{0BE78489-0649-46BA-852C-EA8BBB382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479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0311">
            <a:extLst xmlns:a="http://schemas.openxmlformats.org/drawingml/2006/main">
              <a:ext uri="{FF2B5EF4-FFF2-40B4-BE49-F238E27FC236}">
                <a16:creationId xmlns:a16="http://schemas.microsoft.com/office/drawing/2014/main" id="{6F493FA8-1A33-451A-B8D2-DEE558FF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00275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575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担当を決める</a:t>
            </a:r>
          </a:p>
        </p:txBody>
      </p:sp>
      <p:sp>
        <p:nvSpPr>
          <p:cNvPr id="13" name="text-0312">
            <a:extLst xmlns:a="http://schemas.openxmlformats.org/drawingml/2006/main">
              <a:ext uri="{FF2B5EF4-FFF2-40B4-BE49-F238E27FC236}">
                <a16:creationId xmlns:a16="http://schemas.microsoft.com/office/drawing/2014/main" id="{5B9942FF-1AA8-4D80-9C2C-56CD96AA7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57450"/>
            <a:ext cx="152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D8D6CF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D8D6CF"/>
                </a:solidFill>
                <a:latin typeface="Meiryo"/>
                <a:ea typeface="Meiryo"/>
                <a:cs typeface="Meiryo"/>
              </a:rPr>
              <a:t>↓</a:t>
            </a:r>
          </a:p>
        </p:txBody>
      </p:sp>
      <p:sp>
        <p:nvSpPr>
          <p:cNvPr id="14" name="shape-0313">
            <a:extLst xmlns:a="http://schemas.openxmlformats.org/drawingml/2006/main">
              <a:ext uri="{FF2B5EF4-FFF2-40B4-BE49-F238E27FC236}">
                <a16:creationId xmlns:a16="http://schemas.microsoft.com/office/drawing/2014/main" id="{4191FEEE-A731-4187-9DC6-669004C51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003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8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0314">
            <a:extLst xmlns:a="http://schemas.openxmlformats.org/drawingml/2006/main">
              <a:ext uri="{FF2B5EF4-FFF2-40B4-BE49-F238E27FC236}">
                <a16:creationId xmlns:a16="http://schemas.microsoft.com/office/drawing/2014/main" id="{C6502F93-F90A-4DC7-9407-318C010F3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52725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575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Editorで実行</a:t>
            </a:r>
          </a:p>
        </p:txBody>
      </p:sp>
      <p:sp>
        <p:nvSpPr>
          <p:cNvPr id="16" name="text-0315">
            <a:extLst xmlns:a="http://schemas.openxmlformats.org/drawingml/2006/main">
              <a:ext uri="{FF2B5EF4-FFF2-40B4-BE49-F238E27FC236}">
                <a16:creationId xmlns:a16="http://schemas.microsoft.com/office/drawing/2014/main" id="{386990F5-9324-4999-B0D8-3B3D1C11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09900"/>
            <a:ext cx="152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D8D6CF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D8D6CF"/>
                </a:solidFill>
                <a:latin typeface="Meiryo"/>
                <a:ea typeface="Meiryo"/>
                <a:cs typeface="Meiryo"/>
              </a:rPr>
              <a:t>↓</a:t>
            </a:r>
          </a:p>
        </p:txBody>
      </p:sp>
      <p:sp>
        <p:nvSpPr>
          <p:cNvPr id="17" name="shape-0316">
            <a:extLst xmlns:a="http://schemas.openxmlformats.org/drawingml/2006/main">
              <a:ext uri="{FF2B5EF4-FFF2-40B4-BE49-F238E27FC236}">
                <a16:creationId xmlns:a16="http://schemas.microsoft.com/office/drawing/2014/main" id="{522ADED8-5A29-4F5C-884B-788B91061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528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0317">
            <a:extLst xmlns:a="http://schemas.openxmlformats.org/drawingml/2006/main">
              <a:ext uri="{FF2B5EF4-FFF2-40B4-BE49-F238E27FC236}">
                <a16:creationId xmlns:a16="http://schemas.microsoft.com/office/drawing/2014/main" id="{C4BBE530-121F-4819-A6EC-8E5641E2C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05175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575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別AIが確認</a:t>
            </a:r>
          </a:p>
        </p:txBody>
      </p:sp>
      <p:sp>
        <p:nvSpPr>
          <p:cNvPr id="19" name="text-0318">
            <a:extLst xmlns:a="http://schemas.openxmlformats.org/drawingml/2006/main">
              <a:ext uri="{FF2B5EF4-FFF2-40B4-BE49-F238E27FC236}">
                <a16:creationId xmlns:a16="http://schemas.microsoft.com/office/drawing/2014/main" id="{2C625893-14D2-4060-B80C-076402D63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562350"/>
            <a:ext cx="152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D8D6CF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D8D6CF"/>
                </a:solidFill>
                <a:latin typeface="Meiryo"/>
                <a:ea typeface="Meiryo"/>
                <a:cs typeface="Meiryo"/>
              </a:rPr>
              <a:t>↓</a:t>
            </a:r>
          </a:p>
        </p:txBody>
      </p:sp>
      <p:sp>
        <p:nvSpPr>
          <p:cNvPr id="20" name="shape-0319">
            <a:extLst xmlns:a="http://schemas.openxmlformats.org/drawingml/2006/main">
              <a:ext uri="{FF2B5EF4-FFF2-40B4-BE49-F238E27FC236}">
                <a16:creationId xmlns:a16="http://schemas.microsoft.com/office/drawing/2014/main" id="{E2FF9317-CCD1-481E-998D-FFA618F65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9052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-0320">
            <a:extLst xmlns:a="http://schemas.openxmlformats.org/drawingml/2006/main">
              <a:ext uri="{FF2B5EF4-FFF2-40B4-BE49-F238E27FC236}">
                <a16:creationId xmlns:a16="http://schemas.microsoft.com/office/drawing/2014/main" id="{78A77EF5-6571-4DDA-B5F3-66BE91D1E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57625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575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手順を記録</a:t>
            </a:r>
          </a:p>
        </p:txBody>
      </p:sp>
      <p:sp>
        <p:nvSpPr>
          <p:cNvPr id="22" name="text-0321">
            <a:extLst xmlns:a="http://schemas.openxmlformats.org/drawingml/2006/main">
              <a:ext uri="{FF2B5EF4-FFF2-40B4-BE49-F238E27FC236}">
                <a16:creationId xmlns:a16="http://schemas.microsoft.com/office/drawing/2014/main" id="{C376ED12-8804-4824-9AA3-7D6E49464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114800"/>
            <a:ext cx="152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D8D6CF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D8D6CF"/>
                </a:solidFill>
                <a:latin typeface="Meiryo"/>
                <a:ea typeface="Meiryo"/>
                <a:cs typeface="Meiryo"/>
              </a:rPr>
              <a:t>↓</a:t>
            </a:r>
          </a:p>
        </p:txBody>
      </p:sp>
      <p:sp>
        <p:nvSpPr>
          <p:cNvPr id="23" name="shape-0322">
            <a:extLst xmlns:a="http://schemas.openxmlformats.org/drawingml/2006/main">
              <a:ext uri="{FF2B5EF4-FFF2-40B4-BE49-F238E27FC236}">
                <a16:creationId xmlns:a16="http://schemas.microsoft.com/office/drawing/2014/main" id="{0B1192FC-711F-44B5-83CF-C4E585EF4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577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CC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-0323">
            <a:extLst xmlns:a="http://schemas.openxmlformats.org/drawingml/2006/main">
              <a:ext uri="{FF2B5EF4-FFF2-40B4-BE49-F238E27FC236}">
                <a16:creationId xmlns:a16="http://schemas.microsoft.com/office/drawing/2014/main" id="{B3C018FB-D0FF-423B-B317-C70475F99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10075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575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次回再利用</a:t>
            </a:r>
          </a:p>
        </p:txBody>
      </p:sp>
      <p:sp>
        <p:nvSpPr>
          <p:cNvPr id="25" name="shape-0324">
            <a:extLst xmlns:a="http://schemas.openxmlformats.org/drawingml/2006/main">
              <a:ext uri="{FF2B5EF4-FFF2-40B4-BE49-F238E27FC236}">
                <a16:creationId xmlns:a16="http://schemas.microsoft.com/office/drawing/2014/main" id="{B5B5EC50-1632-4983-AF76-0E78AA8A9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5400"/>
            <a:ext cx="10572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0325">
            <a:extLst xmlns:a="http://schemas.openxmlformats.org/drawingml/2006/main">
              <a:ext uri="{FF2B5EF4-FFF2-40B4-BE49-F238E27FC236}">
                <a16:creationId xmlns:a16="http://schemas.microsoft.com/office/drawing/2014/main" id="{7741B6B6-105B-4904-B6FF-1AB233F17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95900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7F6F1"/>
                </a:solidFill>
                <a:latin typeface="Meiryo"/>
                <a:ea typeface="Meiryo"/>
                <a:cs typeface="Meiryo"/>
              </a:defRPr>
            </a:pPr>
            <a:r>
              <a:rPr sz="1575" b="1">
                <a:solidFill>
                  <a:srgbClr val="F7F6F1"/>
                </a:solidFill>
                <a:latin typeface="Meiryo"/>
                <a:ea typeface="Meiryo"/>
                <a:cs typeface="Meiryo"/>
              </a:rPr>
              <a:t>実例: キャラクター移植 / ステージ制作 / 入力の原因調査 / パワポ作成</a:t>
            </a:r>
          </a:p>
        </p:txBody>
      </p:sp>
    </p:spTree>
    <p:extLst>
      <p:ext uri="{BB962C8B-B14F-4D97-AF65-F5344CB8AC3E}">
        <p14:creationId xmlns:p14="http://schemas.microsoft.com/office/powerpoint/2010/main" val="13267756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ule-0326">
            <a:extLst xmlns:a="http://schemas.openxmlformats.org/drawingml/2006/main">
              <a:ext uri="{FF2B5EF4-FFF2-40B4-BE49-F238E27FC236}">
                <a16:creationId xmlns:a16="http://schemas.microsoft.com/office/drawing/2014/main" id="{852DB73F-71A1-4503-BD4D-7ECEE1CF4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4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0327">
            <a:extLst xmlns:a="http://schemas.openxmlformats.org/drawingml/2006/main">
              <a:ext uri="{FF2B5EF4-FFF2-40B4-BE49-F238E27FC236}">
                <a16:creationId xmlns:a16="http://schemas.microsoft.com/office/drawing/2014/main" id="{697D03B8-E986-4ABC-8503-54E2BD334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10744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何をもって「成功」とするか</a:t>
            </a:r>
          </a:p>
        </p:txBody>
      </p:sp>
      <p:sp>
        <p:nvSpPr>
          <p:cNvPr id="3" name="rule-0328">
            <a:extLst xmlns:a="http://schemas.openxmlformats.org/drawingml/2006/main">
              <a:ext uri="{FF2B5EF4-FFF2-40B4-BE49-F238E27FC236}">
                <a16:creationId xmlns:a16="http://schemas.microsoft.com/office/drawing/2014/main" id="{299761D3-7E42-446F-825E-5048AD655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329">
            <a:extLst xmlns:a="http://schemas.openxmlformats.org/drawingml/2006/main">
              <a:ext uri="{FF2B5EF4-FFF2-40B4-BE49-F238E27FC236}">
                <a16:creationId xmlns:a16="http://schemas.microsoft.com/office/drawing/2014/main" id="{C99736A7-907E-4B50-982C-CBDED87F8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62725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ChaosDraftParty / 島田 泰成</a:t>
            </a:r>
          </a:p>
        </p:txBody>
      </p:sp>
      <p:sp>
        <p:nvSpPr>
          <p:cNvPr id="5" name="text-0330">
            <a:extLst xmlns:a="http://schemas.openxmlformats.org/drawingml/2006/main">
              <a:ext uri="{FF2B5EF4-FFF2-40B4-BE49-F238E27FC236}">
                <a16:creationId xmlns:a16="http://schemas.microsoft.com/office/drawing/2014/main" id="{0C968D16-A588-406F-BCAD-4EDB09F07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436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4B400"/>
                </a:solidFill>
                <a:latin typeface="Meiryo"/>
                <a:ea typeface="Meiryo"/>
                <a:cs typeface="Meiryo"/>
              </a:defRPr>
            </a:pPr>
            <a:r>
              <a:rPr sz="975" b="1">
                <a:solidFill>
                  <a:srgbClr val="F4B400"/>
                </a:solidFill>
                <a:latin typeface="Meiryo"/>
                <a:ea typeface="Meiryo"/>
                <a:cs typeface="Meiryo"/>
              </a:rPr>
              <a:t>14</a:t>
            </a:r>
          </a:p>
        </p:txBody>
      </p:sp>
      <p:sp>
        <p:nvSpPr>
          <p:cNvPr id="6" name="text-0331">
            <a:extLst xmlns:a="http://schemas.openxmlformats.org/drawingml/2006/main">
              <a:ext uri="{FF2B5EF4-FFF2-40B4-BE49-F238E27FC236}">
                <a16:creationId xmlns:a16="http://schemas.microsoft.com/office/drawing/2014/main" id="{E2FCD9BA-7419-4D3A-A880-19AB72AA7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1450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6353D"/>
                </a:solidFill>
                <a:latin typeface="Meiryo"/>
                <a:ea typeface="Meiryo"/>
                <a:cs typeface="Meiryo"/>
              </a:defRPr>
            </a:pPr>
            <a:r>
              <a:rPr sz="2100" b="1">
                <a:solidFill>
                  <a:srgbClr val="E6353D"/>
                </a:solidFill>
                <a:latin typeface="Meiryo"/>
                <a:ea typeface="Meiryo"/>
                <a:cs typeface="Meiryo"/>
              </a:rPr>
              <a:t>ゲームの評価</a:t>
            </a:r>
          </a:p>
        </p:txBody>
      </p:sp>
      <p:sp>
        <p:nvSpPr>
          <p:cNvPr id="7" name="text-0332">
            <a:extLst xmlns:a="http://schemas.openxmlformats.org/drawingml/2006/main">
              <a:ext uri="{FF2B5EF4-FFF2-40B4-BE49-F238E27FC236}">
                <a16:creationId xmlns:a16="http://schemas.microsoft.com/office/drawing/2014/main" id="{CB344CC2-0D0A-4C12-962D-275EE5DCC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71450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A6CE"/>
                </a:solidFill>
                <a:latin typeface="Meiryo"/>
                <a:ea typeface="Meiryo"/>
                <a:cs typeface="Meiryo"/>
              </a:defRPr>
            </a:pPr>
            <a:r>
              <a:rPr sz="2100" b="1">
                <a:solidFill>
                  <a:srgbClr val="00A6CE"/>
                </a:solidFill>
                <a:latin typeface="Meiryo"/>
                <a:ea typeface="Meiryo"/>
                <a:cs typeface="Meiryo"/>
              </a:rPr>
              <a:t>制作方法の評価</a:t>
            </a:r>
          </a:p>
        </p:txBody>
      </p:sp>
      <p:sp>
        <p:nvSpPr>
          <p:cNvPr id="8" name="rule-0333">
            <a:extLst xmlns:a="http://schemas.openxmlformats.org/drawingml/2006/main">
              <a:ext uri="{FF2B5EF4-FFF2-40B4-BE49-F238E27FC236}">
                <a16:creationId xmlns:a16="http://schemas.microsoft.com/office/drawing/2014/main" id="{B83F9192-EC62-46B3-9B88-95BB547FB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38300"/>
            <a:ext cx="1905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0334">
            <a:extLst xmlns:a="http://schemas.openxmlformats.org/drawingml/2006/main">
              <a:ext uri="{FF2B5EF4-FFF2-40B4-BE49-F238E27FC236}">
                <a16:creationId xmlns:a16="http://schemas.microsoft.com/office/drawing/2014/main" id="{BE3174AF-3088-47A0-86EA-6792A64B4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62200"/>
            <a:ext cx="125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6353D"/>
                </a:solidFill>
                <a:latin typeface="Meiryo"/>
                <a:ea typeface="Meiryo"/>
                <a:cs typeface="Meiryo"/>
              </a:defRPr>
            </a:pPr>
            <a:r>
              <a:rPr sz="1575" b="1">
                <a:solidFill>
                  <a:srgbClr val="E6353D"/>
                </a:solidFill>
                <a:latin typeface="Meiryo"/>
                <a:ea typeface="Meiryo"/>
                <a:cs typeface="Meiryo"/>
              </a:rPr>
              <a:t>10秒</a:t>
            </a:r>
          </a:p>
        </p:txBody>
      </p:sp>
      <p:sp>
        <p:nvSpPr>
          <p:cNvPr id="10" name="text-0335">
            <a:extLst xmlns:a="http://schemas.openxmlformats.org/drawingml/2006/main">
              <a:ext uri="{FF2B5EF4-FFF2-40B4-BE49-F238E27FC236}">
                <a16:creationId xmlns:a16="http://schemas.microsoft.com/office/drawing/2014/main" id="{6B6E8406-11C6-4356-B0D6-1C1A3BEBB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343150"/>
            <a:ext cx="3733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初見で目的を説明できる</a:t>
            </a:r>
          </a:p>
        </p:txBody>
      </p:sp>
      <p:sp>
        <p:nvSpPr>
          <p:cNvPr id="11" name="rule-0336">
            <a:extLst xmlns:a="http://schemas.openxmlformats.org/drawingml/2006/main">
              <a:ext uri="{FF2B5EF4-FFF2-40B4-BE49-F238E27FC236}">
                <a16:creationId xmlns:a16="http://schemas.microsoft.com/office/drawing/2014/main" id="{94E50D28-A77A-4E56-A25C-DE1158079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76550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0337">
            <a:extLst xmlns:a="http://schemas.openxmlformats.org/drawingml/2006/main">
              <a:ext uri="{FF2B5EF4-FFF2-40B4-BE49-F238E27FC236}">
                <a16:creationId xmlns:a16="http://schemas.microsoft.com/office/drawing/2014/main" id="{1EF52E66-5B2E-411D-8312-B958F8015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86100"/>
            <a:ext cx="125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6353D"/>
                </a:solidFill>
                <a:latin typeface="Meiryo"/>
                <a:ea typeface="Meiryo"/>
                <a:cs typeface="Meiryo"/>
              </a:defRPr>
            </a:pPr>
            <a:r>
              <a:rPr sz="1575" b="1">
                <a:solidFill>
                  <a:srgbClr val="E6353D"/>
                </a:solidFill>
                <a:latin typeface="Meiryo"/>
                <a:ea typeface="Meiryo"/>
                <a:cs typeface="Meiryo"/>
              </a:rPr>
              <a:t>2回以上</a:t>
            </a:r>
          </a:p>
        </p:txBody>
      </p:sp>
      <p:sp>
        <p:nvSpPr>
          <p:cNvPr id="13" name="text-0338">
            <a:extLst xmlns:a="http://schemas.openxmlformats.org/drawingml/2006/main">
              <a:ext uri="{FF2B5EF4-FFF2-40B4-BE49-F238E27FC236}">
                <a16:creationId xmlns:a16="http://schemas.microsoft.com/office/drawing/2014/main" id="{490BEF64-2A5A-4981-86CC-48BD39A90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067050"/>
            <a:ext cx="3733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30秒中に他プレイヤーと接触する</a:t>
            </a:r>
          </a:p>
        </p:txBody>
      </p:sp>
      <p:sp>
        <p:nvSpPr>
          <p:cNvPr id="14" name="rule-0339">
            <a:extLst xmlns:a="http://schemas.openxmlformats.org/drawingml/2006/main">
              <a:ext uri="{FF2B5EF4-FFF2-40B4-BE49-F238E27FC236}">
                <a16:creationId xmlns:a16="http://schemas.microsoft.com/office/drawing/2014/main" id="{E21FC556-DDB9-45E1-9911-5B67927FB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00450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0340">
            <a:extLst xmlns:a="http://schemas.openxmlformats.org/drawingml/2006/main">
              <a:ext uri="{FF2B5EF4-FFF2-40B4-BE49-F238E27FC236}">
                <a16:creationId xmlns:a16="http://schemas.microsoft.com/office/drawing/2014/main" id="{7406B008-A79F-46DE-86B4-547D43A61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0"/>
            <a:ext cx="125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6353D"/>
                </a:solidFill>
                <a:latin typeface="Meiryo"/>
                <a:ea typeface="Meiryo"/>
                <a:cs typeface="Meiryo"/>
              </a:defRPr>
            </a:pPr>
            <a:r>
              <a:rPr sz="1575" b="1">
                <a:solidFill>
                  <a:srgbClr val="E6353D"/>
                </a:solidFill>
                <a:latin typeface="Meiryo"/>
                <a:ea typeface="Meiryo"/>
                <a:cs typeface="Meiryo"/>
              </a:rPr>
              <a:t>理由</a:t>
            </a:r>
          </a:p>
        </p:txBody>
      </p:sp>
      <p:sp>
        <p:nvSpPr>
          <p:cNvPr id="16" name="text-0341">
            <a:extLst xmlns:a="http://schemas.openxmlformats.org/drawingml/2006/main">
              <a:ext uri="{FF2B5EF4-FFF2-40B4-BE49-F238E27FC236}">
                <a16:creationId xmlns:a16="http://schemas.microsoft.com/office/drawing/2014/main" id="{702A1AC6-7403-469A-8F5B-3A0D1634E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790950"/>
            <a:ext cx="3733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負けた原因を本人が説明できる</a:t>
            </a:r>
          </a:p>
        </p:txBody>
      </p:sp>
      <p:sp>
        <p:nvSpPr>
          <p:cNvPr id="17" name="rule-0342">
            <a:extLst xmlns:a="http://schemas.openxmlformats.org/drawingml/2006/main">
              <a:ext uri="{FF2B5EF4-FFF2-40B4-BE49-F238E27FC236}">
                <a16:creationId xmlns:a16="http://schemas.microsoft.com/office/drawing/2014/main" id="{ED2DC36C-0179-4E9A-BA97-E3E53EF45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24350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0343">
            <a:extLst xmlns:a="http://schemas.openxmlformats.org/drawingml/2006/main">
              <a:ext uri="{FF2B5EF4-FFF2-40B4-BE49-F238E27FC236}">
                <a16:creationId xmlns:a16="http://schemas.microsoft.com/office/drawing/2014/main" id="{DE27A2F9-0D4F-4787-AFBC-9615EC34D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33900"/>
            <a:ext cx="125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6353D"/>
                </a:solidFill>
                <a:latin typeface="Meiryo"/>
                <a:ea typeface="Meiryo"/>
                <a:cs typeface="Meiryo"/>
              </a:defRPr>
            </a:pPr>
            <a:r>
              <a:rPr sz="1575" b="1">
                <a:solidFill>
                  <a:srgbClr val="E6353D"/>
                </a:solidFill>
                <a:latin typeface="Meiryo"/>
                <a:ea typeface="Meiryo"/>
                <a:cs typeface="Meiryo"/>
              </a:rPr>
              <a:t>5段階</a:t>
            </a:r>
          </a:p>
        </p:txBody>
      </p:sp>
      <p:sp>
        <p:nvSpPr>
          <p:cNvPr id="19" name="text-0344">
            <a:extLst xmlns:a="http://schemas.openxmlformats.org/drawingml/2006/main">
              <a:ext uri="{FF2B5EF4-FFF2-40B4-BE49-F238E27FC236}">
                <a16:creationId xmlns:a16="http://schemas.microsoft.com/office/drawing/2014/main" id="{A2365A2F-C997-4DE3-9188-4B0BE3C84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514850"/>
            <a:ext cx="3733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操作が意図通りと感じたか</a:t>
            </a:r>
          </a:p>
        </p:txBody>
      </p:sp>
      <p:sp>
        <p:nvSpPr>
          <p:cNvPr id="20" name="rule-0345">
            <a:extLst xmlns:a="http://schemas.openxmlformats.org/drawingml/2006/main">
              <a:ext uri="{FF2B5EF4-FFF2-40B4-BE49-F238E27FC236}">
                <a16:creationId xmlns:a16="http://schemas.microsoft.com/office/drawing/2014/main" id="{4973A1EA-325A-4C8F-A752-9851E1725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48250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-0346">
            <a:extLst xmlns:a="http://schemas.openxmlformats.org/drawingml/2006/main">
              <a:ext uri="{FF2B5EF4-FFF2-40B4-BE49-F238E27FC236}">
                <a16:creationId xmlns:a16="http://schemas.microsoft.com/office/drawing/2014/main" id="{B1D25F90-6BD2-4EF2-A9E4-ED449B6FB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62200"/>
            <a:ext cx="125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A6CE"/>
                </a:solidFill>
                <a:latin typeface="Meiryo"/>
                <a:ea typeface="Meiryo"/>
                <a:cs typeface="Meiryo"/>
              </a:defRPr>
            </a:pPr>
            <a:r>
              <a:rPr sz="1575" b="1">
                <a:solidFill>
                  <a:srgbClr val="00A6CE"/>
                </a:solidFill>
                <a:latin typeface="Meiryo"/>
                <a:ea typeface="Meiryo"/>
                <a:cs typeface="Meiryo"/>
              </a:rPr>
              <a:t>時間</a:t>
            </a:r>
          </a:p>
        </p:txBody>
      </p:sp>
      <p:sp>
        <p:nvSpPr>
          <p:cNvPr id="22" name="text-0347">
            <a:extLst xmlns:a="http://schemas.openxmlformats.org/drawingml/2006/main">
              <a:ext uri="{FF2B5EF4-FFF2-40B4-BE49-F238E27FC236}">
                <a16:creationId xmlns:a16="http://schemas.microsoft.com/office/drawing/2014/main" id="{FE40853A-DF90-4461-86E0-9A2AFE2E3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43150"/>
            <a:ext cx="3733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1つの作業を完了するまで</a:t>
            </a:r>
          </a:p>
        </p:txBody>
      </p:sp>
      <p:sp>
        <p:nvSpPr>
          <p:cNvPr id="23" name="rule-0348">
            <a:extLst xmlns:a="http://schemas.openxmlformats.org/drawingml/2006/main">
              <a:ext uri="{FF2B5EF4-FFF2-40B4-BE49-F238E27FC236}">
                <a16:creationId xmlns:a16="http://schemas.microsoft.com/office/drawing/2014/main" id="{FE689ED1-B10E-4156-BE02-6675FAE6E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76550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-0349">
            <a:extLst xmlns:a="http://schemas.openxmlformats.org/drawingml/2006/main">
              <a:ext uri="{FF2B5EF4-FFF2-40B4-BE49-F238E27FC236}">
                <a16:creationId xmlns:a16="http://schemas.microsoft.com/office/drawing/2014/main" id="{E5989280-B7AA-4200-ADE7-9910BCFEA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086100"/>
            <a:ext cx="125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A6CE"/>
                </a:solidFill>
                <a:latin typeface="Meiryo"/>
                <a:ea typeface="Meiryo"/>
                <a:cs typeface="Meiryo"/>
              </a:defRPr>
            </a:pPr>
            <a:r>
              <a:rPr sz="1575" b="1">
                <a:solidFill>
                  <a:srgbClr val="00A6CE"/>
                </a:solidFill>
                <a:latin typeface="Meiryo"/>
                <a:ea typeface="Meiryo"/>
                <a:cs typeface="Meiryo"/>
              </a:rPr>
              <a:t>手戻り</a:t>
            </a:r>
          </a:p>
        </p:txBody>
      </p:sp>
      <p:sp>
        <p:nvSpPr>
          <p:cNvPr id="25" name="text-0350">
            <a:extLst xmlns:a="http://schemas.openxmlformats.org/drawingml/2006/main">
              <a:ext uri="{FF2B5EF4-FFF2-40B4-BE49-F238E27FC236}">
                <a16:creationId xmlns:a16="http://schemas.microsoft.com/office/drawing/2014/main" id="{A669C9FE-2FE7-4BFB-BBB1-0B0EADFB7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067050"/>
            <a:ext cx="3733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修正ややり直しが何回発生したか</a:t>
            </a:r>
          </a:p>
        </p:txBody>
      </p:sp>
      <p:sp>
        <p:nvSpPr>
          <p:cNvPr id="26" name="rule-0351">
            <a:extLst xmlns:a="http://schemas.openxmlformats.org/drawingml/2006/main">
              <a:ext uri="{FF2B5EF4-FFF2-40B4-BE49-F238E27FC236}">
                <a16:creationId xmlns:a16="http://schemas.microsoft.com/office/drawing/2014/main" id="{37CFCF39-3A4E-4689-A6F3-AA6B2C400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600450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-0352">
            <a:extLst xmlns:a="http://schemas.openxmlformats.org/drawingml/2006/main">
              <a:ext uri="{FF2B5EF4-FFF2-40B4-BE49-F238E27FC236}">
                <a16:creationId xmlns:a16="http://schemas.microsoft.com/office/drawing/2014/main" id="{856316F8-CF87-4E8D-8F80-4B92F923F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810000"/>
            <a:ext cx="125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A6CE"/>
                </a:solidFill>
                <a:latin typeface="Meiryo"/>
                <a:ea typeface="Meiryo"/>
                <a:cs typeface="Meiryo"/>
              </a:defRPr>
            </a:pPr>
            <a:r>
              <a:rPr sz="1575" b="1">
                <a:solidFill>
                  <a:srgbClr val="00A6CE"/>
                </a:solidFill>
                <a:latin typeface="Meiryo"/>
                <a:ea typeface="Meiryo"/>
                <a:cs typeface="Meiryo"/>
              </a:rPr>
              <a:t>再現</a:t>
            </a:r>
          </a:p>
        </p:txBody>
      </p:sp>
      <p:sp>
        <p:nvSpPr>
          <p:cNvPr id="28" name="text-0353">
            <a:extLst xmlns:a="http://schemas.openxmlformats.org/drawingml/2006/main">
              <a:ext uri="{FF2B5EF4-FFF2-40B4-BE49-F238E27FC236}">
                <a16:creationId xmlns:a16="http://schemas.microsoft.com/office/drawing/2014/main" id="{AF985932-6942-4B65-A460-B0810CD27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790950"/>
            <a:ext cx="3733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記録から別のAIが同じ作業を続行できるか</a:t>
            </a:r>
          </a:p>
        </p:txBody>
      </p:sp>
      <p:sp>
        <p:nvSpPr>
          <p:cNvPr id="29" name="rule-0354">
            <a:extLst xmlns:a="http://schemas.openxmlformats.org/drawingml/2006/main">
              <a:ext uri="{FF2B5EF4-FFF2-40B4-BE49-F238E27FC236}">
                <a16:creationId xmlns:a16="http://schemas.microsoft.com/office/drawing/2014/main" id="{F49A6DFC-4547-408E-A442-2629B5FBF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324350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ext-0355">
            <a:extLst xmlns:a="http://schemas.openxmlformats.org/drawingml/2006/main">
              <a:ext uri="{FF2B5EF4-FFF2-40B4-BE49-F238E27FC236}">
                <a16:creationId xmlns:a16="http://schemas.microsoft.com/office/drawing/2014/main" id="{94372D06-1D7C-407E-8CF2-C426FDC60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533900"/>
            <a:ext cx="125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A6CE"/>
                </a:solidFill>
                <a:latin typeface="Meiryo"/>
                <a:ea typeface="Meiryo"/>
                <a:cs typeface="Meiryo"/>
              </a:defRPr>
            </a:pPr>
            <a:r>
              <a:rPr sz="1575" b="1">
                <a:solidFill>
                  <a:srgbClr val="00A6CE"/>
                </a:solidFill>
                <a:latin typeface="Meiryo"/>
                <a:ea typeface="Meiryo"/>
                <a:cs typeface="Meiryo"/>
              </a:rPr>
              <a:t>判断</a:t>
            </a:r>
          </a:p>
        </p:txBody>
      </p:sp>
      <p:sp>
        <p:nvSpPr>
          <p:cNvPr id="31" name="text-0356">
            <a:extLst xmlns:a="http://schemas.openxmlformats.org/drawingml/2006/main">
              <a:ext uri="{FF2B5EF4-FFF2-40B4-BE49-F238E27FC236}">
                <a16:creationId xmlns:a16="http://schemas.microsoft.com/office/drawing/2014/main" id="{8C1585F7-B853-4450-8E7B-63B2E5B67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514850"/>
            <a:ext cx="3733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AIの提案を採用・却下した理由を残す</a:t>
            </a:r>
          </a:p>
        </p:txBody>
      </p:sp>
      <p:sp>
        <p:nvSpPr>
          <p:cNvPr id="32" name="rule-0357">
            <a:extLst xmlns:a="http://schemas.openxmlformats.org/drawingml/2006/main">
              <a:ext uri="{FF2B5EF4-FFF2-40B4-BE49-F238E27FC236}">
                <a16:creationId xmlns:a16="http://schemas.microsoft.com/office/drawing/2014/main" id="{3A41CFFF-4D64-4314-8526-B65B694B0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048250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shape-0358">
            <a:extLst xmlns:a="http://schemas.openxmlformats.org/drawingml/2006/main">
              <a:ext uri="{FF2B5EF4-FFF2-40B4-BE49-F238E27FC236}">
                <a16:creationId xmlns:a16="http://schemas.microsoft.com/office/drawing/2014/main" id="{4230DD20-B59F-4A90-AFFB-CC2C2480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62600"/>
            <a:ext cx="10668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text-0359">
            <a:extLst xmlns:a="http://schemas.openxmlformats.org/drawingml/2006/main">
              <a:ext uri="{FF2B5EF4-FFF2-40B4-BE49-F238E27FC236}">
                <a16:creationId xmlns:a16="http://schemas.microsoft.com/office/drawing/2014/main" id="{550FA150-0E63-4A54-A553-CA3A8EC58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57850"/>
            <a:ext cx="1017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7F6F1"/>
                </a:solidFill>
                <a:latin typeface="Meiryo"/>
                <a:ea typeface="Meiryo"/>
                <a:cs typeface="Meiryo"/>
              </a:defRPr>
            </a:pPr>
            <a:r>
              <a:rPr sz="1575" b="1">
                <a:solidFill>
                  <a:srgbClr val="F7F6F1"/>
                </a:solidFill>
                <a:latin typeface="Meiryo"/>
                <a:ea typeface="Meiryo"/>
                <a:cs typeface="Meiryo"/>
              </a:rPr>
              <a:t>面白さと開発効率を混ぜず、それぞれ別の指標で測る。</a:t>
            </a:r>
          </a:p>
        </p:txBody>
      </p:sp>
    </p:spTree>
    <p:extLst>
      <p:ext uri="{BB962C8B-B14F-4D97-AF65-F5344CB8AC3E}">
        <p14:creationId xmlns:p14="http://schemas.microsoft.com/office/powerpoint/2010/main" val="111970333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719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ule-0360">
            <a:extLst xmlns:a="http://schemas.openxmlformats.org/drawingml/2006/main">
              <a:ext uri="{FF2B5EF4-FFF2-40B4-BE49-F238E27FC236}">
                <a16:creationId xmlns:a16="http://schemas.microsoft.com/office/drawing/2014/main" id="{481D5DA9-456E-4A2B-90D7-60CA63235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4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8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0361">
            <a:extLst xmlns:a="http://schemas.openxmlformats.org/drawingml/2006/main">
              <a:ext uri="{FF2B5EF4-FFF2-40B4-BE49-F238E27FC236}">
                <a16:creationId xmlns:a16="http://schemas.microsoft.com/office/drawing/2014/main" id="{63597BBD-76E7-416E-B73C-D65CEFEB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107442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450" b="1">
                <a:solidFill>
                  <a:srgbClr val="F7F6F1"/>
                </a:solidFill>
                <a:latin typeface="Meiryo"/>
                <a:ea typeface="Meiryo"/>
                <a:cs typeface="Meiryo"/>
              </a:defRPr>
            </a:pPr>
            <a:r>
              <a:rPr sz="3450" b="1">
                <a:solidFill>
                  <a:srgbClr val="F7F6F1"/>
                </a:solidFill>
                <a:latin typeface="Meiryo"/>
                <a:ea typeface="Meiryo"/>
                <a:cs typeface="Meiryo"/>
              </a:rPr>
              <a:t>中間時点で分かったこと</a:t>
            </a:r>
          </a:p>
        </p:txBody>
      </p:sp>
      <p:sp>
        <p:nvSpPr>
          <p:cNvPr id="3" name="rule-0362">
            <a:extLst xmlns:a="http://schemas.openxmlformats.org/drawingml/2006/main">
              <a:ext uri="{FF2B5EF4-FFF2-40B4-BE49-F238E27FC236}">
                <a16:creationId xmlns:a16="http://schemas.microsoft.com/office/drawing/2014/main" id="{C0BAB427-AAA1-46A9-A4A6-F9CBB435F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E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363">
            <a:extLst xmlns:a="http://schemas.openxmlformats.org/drawingml/2006/main">
              <a:ext uri="{FF2B5EF4-FFF2-40B4-BE49-F238E27FC236}">
                <a16:creationId xmlns:a16="http://schemas.microsoft.com/office/drawing/2014/main" id="{E7D76E33-7249-497B-862A-BBC65673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62725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AA0A6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9AA0A6"/>
                </a:solidFill>
                <a:latin typeface="Meiryo"/>
                <a:ea typeface="Meiryo"/>
                <a:cs typeface="Meiryo"/>
              </a:rPr>
              <a:t>ChaosDraftParty / 島田 泰成</a:t>
            </a:r>
          </a:p>
        </p:txBody>
      </p:sp>
      <p:sp>
        <p:nvSpPr>
          <p:cNvPr id="5" name="text-0364">
            <a:extLst xmlns:a="http://schemas.openxmlformats.org/drawingml/2006/main">
              <a:ext uri="{FF2B5EF4-FFF2-40B4-BE49-F238E27FC236}">
                <a16:creationId xmlns:a16="http://schemas.microsoft.com/office/drawing/2014/main" id="{6C9397A5-BDB1-4B9C-AB50-14D44057F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436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8A85A"/>
                </a:solidFill>
                <a:latin typeface="Meiryo"/>
                <a:ea typeface="Meiryo"/>
                <a:cs typeface="Meiryo"/>
              </a:defRPr>
            </a:pPr>
            <a:r>
              <a:rPr sz="975" b="1">
                <a:solidFill>
                  <a:srgbClr val="08A85A"/>
                </a:solidFill>
                <a:latin typeface="Meiryo"/>
                <a:ea typeface="Meiryo"/>
                <a:cs typeface="Meiryo"/>
              </a:rPr>
              <a:t>15</a:t>
            </a:r>
          </a:p>
        </p:txBody>
      </p:sp>
      <p:sp>
        <p:nvSpPr>
          <p:cNvPr id="6" name="text-0365">
            <a:extLst xmlns:a="http://schemas.openxmlformats.org/drawingml/2006/main">
              <a:ext uri="{FF2B5EF4-FFF2-40B4-BE49-F238E27FC236}">
                <a16:creationId xmlns:a16="http://schemas.microsoft.com/office/drawing/2014/main" id="{27406F20-E2CF-40E4-B660-4F76165E2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704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6353D"/>
                </a:solidFill>
                <a:latin typeface="Meiryo"/>
                <a:ea typeface="Meiryo"/>
                <a:cs typeface="Meiryo"/>
              </a:defRPr>
            </a:pPr>
            <a:r>
              <a:rPr sz="2700" b="1">
                <a:solidFill>
                  <a:srgbClr val="E6353D"/>
                </a:solidFill>
                <a:latin typeface="Meiryo"/>
                <a:ea typeface="Meiryo"/>
                <a:cs typeface="Meiryo"/>
              </a:rPr>
              <a:t>01</a:t>
            </a:r>
          </a:p>
        </p:txBody>
      </p:sp>
      <p:sp>
        <p:nvSpPr>
          <p:cNvPr id="7" name="text-0366">
            <a:extLst xmlns:a="http://schemas.openxmlformats.org/drawingml/2006/main">
              <a:ext uri="{FF2B5EF4-FFF2-40B4-BE49-F238E27FC236}">
                <a16:creationId xmlns:a16="http://schemas.microsoft.com/office/drawing/2014/main" id="{E8882998-3CDD-4FAF-ACD3-CBA9FA144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6954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7F6F1"/>
                </a:solidFill>
                <a:latin typeface="Meiryo"/>
                <a:ea typeface="Meiryo"/>
                <a:cs typeface="Meiryo"/>
              </a:defRPr>
            </a:pPr>
            <a:r>
              <a:rPr sz="2100" b="1">
                <a:solidFill>
                  <a:srgbClr val="F7F6F1"/>
                </a:solidFill>
                <a:latin typeface="Meiryo"/>
                <a:ea typeface="Meiryo"/>
                <a:cs typeface="Meiryo"/>
              </a:rPr>
              <a:t>広さより、出会う理由</a:t>
            </a:r>
          </a:p>
        </p:txBody>
      </p:sp>
      <p:sp>
        <p:nvSpPr>
          <p:cNvPr id="8" name="text-0367">
            <a:extLst xmlns:a="http://schemas.openxmlformats.org/drawingml/2006/main">
              <a:ext uri="{FF2B5EF4-FFF2-40B4-BE49-F238E27FC236}">
                <a16:creationId xmlns:a16="http://schemas.microsoft.com/office/drawing/2014/main" id="{021B7C31-35EA-4174-9234-17A7DCE4F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907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350" b="0">
                <a:solidFill>
                  <a:srgbClr val="B7BCC1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B7BCC1"/>
                </a:solidFill>
                <a:latin typeface="Meiryo"/>
                <a:ea typeface="Meiryo"/>
                <a:cs typeface="Meiryo"/>
              </a:rPr>
              <a:t>ステージを大きくするだけでは事故は起きない。安全路に全員を集める。</a:t>
            </a:r>
          </a:p>
        </p:txBody>
      </p:sp>
      <p:sp>
        <p:nvSpPr>
          <p:cNvPr id="9" name="rule-0368">
            <a:extLst xmlns:a="http://schemas.openxmlformats.org/drawingml/2006/main">
              <a:ext uri="{FF2B5EF4-FFF2-40B4-BE49-F238E27FC236}">
                <a16:creationId xmlns:a16="http://schemas.microsoft.com/office/drawing/2014/main" id="{1861A8A6-E22D-4393-B0F3-D781CF0F3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765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F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0369">
            <a:extLst xmlns:a="http://schemas.openxmlformats.org/drawingml/2006/main">
              <a:ext uri="{FF2B5EF4-FFF2-40B4-BE49-F238E27FC236}">
                <a16:creationId xmlns:a16="http://schemas.microsoft.com/office/drawing/2014/main" id="{F9397522-C67A-4797-8199-F202D8D5A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05150"/>
            <a:ext cx="704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A6CE"/>
                </a:solidFill>
                <a:latin typeface="Meiryo"/>
                <a:ea typeface="Meiryo"/>
                <a:cs typeface="Meiryo"/>
              </a:defRPr>
            </a:pPr>
            <a:r>
              <a:rPr sz="2700" b="1">
                <a:solidFill>
                  <a:srgbClr val="00A6CE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sp>
        <p:nvSpPr>
          <p:cNvPr id="11" name="text-0370">
            <a:extLst xmlns:a="http://schemas.openxmlformats.org/drawingml/2006/main">
              <a:ext uri="{FF2B5EF4-FFF2-40B4-BE49-F238E27FC236}">
                <a16:creationId xmlns:a16="http://schemas.microsoft.com/office/drawing/2014/main" id="{62D051B5-31E3-43B0-A049-EFDB17A42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1051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7F6F1"/>
                </a:solidFill>
                <a:latin typeface="Meiryo"/>
                <a:ea typeface="Meiryo"/>
                <a:cs typeface="Meiryo"/>
              </a:defRPr>
            </a:pPr>
            <a:r>
              <a:rPr sz="2100" b="1">
                <a:solidFill>
                  <a:srgbClr val="F7F6F1"/>
                </a:solidFill>
                <a:latin typeface="Meiryo"/>
                <a:ea typeface="Meiryo"/>
                <a:cs typeface="Meiryo"/>
              </a:rPr>
              <a:t>AIの「できた」は、実機で確認</a:t>
            </a:r>
          </a:p>
        </p:txBody>
      </p:sp>
      <p:sp>
        <p:nvSpPr>
          <p:cNvPr id="12" name="text-0371">
            <a:extLst xmlns:a="http://schemas.openxmlformats.org/drawingml/2006/main">
              <a:ext uri="{FF2B5EF4-FFF2-40B4-BE49-F238E27FC236}">
                <a16:creationId xmlns:a16="http://schemas.microsoft.com/office/drawing/2014/main" id="{E88F96CC-2A7C-4D8C-B85D-B44F96C98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004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350" b="0">
                <a:solidFill>
                  <a:srgbClr val="B7BCC1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B7BCC1"/>
                </a:solidFill>
                <a:latin typeface="Meiryo"/>
                <a:ea typeface="Meiryo"/>
                <a:cs typeface="Meiryo"/>
              </a:rPr>
              <a:t>コードがあっても入力やカメラが動かない。Editorとログの実測が必要。</a:t>
            </a:r>
          </a:p>
        </p:txBody>
      </p:sp>
      <p:sp>
        <p:nvSpPr>
          <p:cNvPr id="13" name="rule-0372">
            <a:extLst xmlns:a="http://schemas.openxmlformats.org/drawingml/2006/main">
              <a:ext uri="{FF2B5EF4-FFF2-40B4-BE49-F238E27FC236}">
                <a16:creationId xmlns:a16="http://schemas.microsoft.com/office/drawing/2014/main" id="{0F2281B2-0015-43D8-99A3-5B15F13EC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F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0373">
            <a:extLst xmlns:a="http://schemas.openxmlformats.org/drawingml/2006/main">
              <a:ext uri="{FF2B5EF4-FFF2-40B4-BE49-F238E27FC236}">
                <a16:creationId xmlns:a16="http://schemas.microsoft.com/office/drawing/2014/main" id="{A78111A0-C10E-4247-9D30-C593AE1FB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14850"/>
            <a:ext cx="704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4B400"/>
                </a:solidFill>
                <a:latin typeface="Meiryo"/>
                <a:ea typeface="Meiryo"/>
                <a:cs typeface="Meiryo"/>
              </a:defRPr>
            </a:pPr>
            <a:r>
              <a:rPr sz="2700" b="1">
                <a:solidFill>
                  <a:srgbClr val="F4B400"/>
                </a:solidFill>
                <a:latin typeface="Meiryo"/>
                <a:ea typeface="Meiryo"/>
                <a:cs typeface="Meiryo"/>
              </a:rPr>
              <a:t>03</a:t>
            </a:r>
          </a:p>
        </p:txBody>
      </p:sp>
      <p:sp>
        <p:nvSpPr>
          <p:cNvPr id="15" name="text-0374">
            <a:extLst xmlns:a="http://schemas.openxmlformats.org/drawingml/2006/main">
              <a:ext uri="{FF2B5EF4-FFF2-40B4-BE49-F238E27FC236}">
                <a16:creationId xmlns:a16="http://schemas.microsoft.com/office/drawing/2014/main" id="{A28BD0A3-6D2B-4CC7-959F-DB0CCC474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148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7F6F1"/>
                </a:solidFill>
                <a:latin typeface="Meiryo"/>
                <a:ea typeface="Meiryo"/>
                <a:cs typeface="Meiryo"/>
              </a:defRPr>
            </a:pPr>
            <a:r>
              <a:rPr sz="2100" b="1">
                <a:solidFill>
                  <a:srgbClr val="F7F6F1"/>
                </a:solidFill>
                <a:latin typeface="Meiryo"/>
                <a:ea typeface="Meiryo"/>
                <a:cs typeface="Meiryo"/>
              </a:rPr>
              <a:t>記録があると、別のAIが続けられる</a:t>
            </a:r>
          </a:p>
        </p:txBody>
      </p:sp>
      <p:sp>
        <p:nvSpPr>
          <p:cNvPr id="16" name="text-0375">
            <a:extLst xmlns:a="http://schemas.openxmlformats.org/drawingml/2006/main">
              <a:ext uri="{FF2B5EF4-FFF2-40B4-BE49-F238E27FC236}">
                <a16:creationId xmlns:a16="http://schemas.microsoft.com/office/drawing/2014/main" id="{9C6ACD96-1B38-475D-8A66-8BF716348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101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350" b="0">
                <a:solidFill>
                  <a:srgbClr val="B7BCC1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B7BCC1"/>
                </a:solidFill>
                <a:latin typeface="Meiryo"/>
                <a:ea typeface="Meiryo"/>
                <a:cs typeface="Meiryo"/>
              </a:rPr>
              <a:t>設計理由、失敗、検証手順を残すと、担当が変わっても同じ判断から再開できる。</a:t>
            </a:r>
          </a:p>
        </p:txBody>
      </p:sp>
    </p:spTree>
    <p:extLst>
      <p:ext uri="{BB962C8B-B14F-4D97-AF65-F5344CB8AC3E}">
        <p14:creationId xmlns:p14="http://schemas.microsoft.com/office/powerpoint/2010/main" val="1093671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ule-0376">
            <a:extLst xmlns:a="http://schemas.openxmlformats.org/drawingml/2006/main">
              <a:ext uri="{FF2B5EF4-FFF2-40B4-BE49-F238E27FC236}">
                <a16:creationId xmlns:a16="http://schemas.microsoft.com/office/drawing/2014/main" id="{347A4AE0-7B98-458F-9151-F3AD59447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4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8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0377">
            <a:extLst xmlns:a="http://schemas.openxmlformats.org/drawingml/2006/main">
              <a:ext uri="{FF2B5EF4-FFF2-40B4-BE49-F238E27FC236}">
                <a16:creationId xmlns:a16="http://schemas.microsoft.com/office/drawing/2014/main" id="{68713D6C-99E9-4A7D-BB94-6CFB05DB6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"/>
            <a:ext cx="10744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後半の開発スケジュール</a:t>
            </a:r>
          </a:p>
        </p:txBody>
      </p:sp>
      <p:sp>
        <p:nvSpPr>
          <p:cNvPr id="3" name="rule-0378">
            <a:extLst xmlns:a="http://schemas.openxmlformats.org/drawingml/2006/main">
              <a:ext uri="{FF2B5EF4-FFF2-40B4-BE49-F238E27FC236}">
                <a16:creationId xmlns:a16="http://schemas.microsoft.com/office/drawing/2014/main" id="{D3BE4C0D-851A-464D-AF06-2193C28BF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379">
            <a:extLst xmlns:a="http://schemas.openxmlformats.org/drawingml/2006/main">
              <a:ext uri="{FF2B5EF4-FFF2-40B4-BE49-F238E27FC236}">
                <a16:creationId xmlns:a16="http://schemas.microsoft.com/office/drawing/2014/main" id="{E11BA581-AE95-44AE-9EE2-59788AAE7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62725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5C6268"/>
                </a:solidFill>
                <a:latin typeface="Meiryo"/>
                <a:ea typeface="Meiryo"/>
                <a:cs typeface="Meiryo"/>
              </a:rPr>
              <a:t>ChaosDraftParty / 島田 泰成</a:t>
            </a:r>
          </a:p>
        </p:txBody>
      </p:sp>
      <p:sp>
        <p:nvSpPr>
          <p:cNvPr id="5" name="text-0380">
            <a:extLst xmlns:a="http://schemas.openxmlformats.org/drawingml/2006/main">
              <a:ext uri="{FF2B5EF4-FFF2-40B4-BE49-F238E27FC236}">
                <a16:creationId xmlns:a16="http://schemas.microsoft.com/office/drawing/2014/main" id="{C9DA7425-7DFE-43EF-B444-08496ADCF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436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8A85A"/>
                </a:solidFill>
                <a:latin typeface="Meiryo"/>
                <a:ea typeface="Meiryo"/>
                <a:cs typeface="Meiryo"/>
              </a:defRPr>
            </a:pPr>
            <a:r>
              <a:rPr sz="975" b="1">
                <a:solidFill>
                  <a:srgbClr val="08A85A"/>
                </a:solidFill>
                <a:latin typeface="Meiryo"/>
                <a:ea typeface="Meiryo"/>
                <a:cs typeface="Meiryo"/>
              </a:rPr>
              <a:t>16</a:t>
            </a:r>
          </a:p>
        </p:txBody>
      </p:sp>
      <p:sp>
        <p:nvSpPr>
          <p:cNvPr id="6" name="text-0381">
            <a:extLst xmlns:a="http://schemas.openxmlformats.org/drawingml/2006/main">
              <a:ext uri="{FF2B5EF4-FFF2-40B4-BE49-F238E27FC236}">
                <a16:creationId xmlns:a16="http://schemas.microsoft.com/office/drawing/2014/main" id="{06387D17-D1F9-429C-86CF-10781726A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668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6353D"/>
                </a:solidFill>
                <a:latin typeface="Meiryo"/>
                <a:ea typeface="Meiryo"/>
                <a:cs typeface="Meiryo"/>
              </a:defRPr>
            </a:pPr>
            <a:r>
              <a:rPr sz="1275" b="1">
                <a:solidFill>
                  <a:srgbClr val="E6353D"/>
                </a:solidFill>
                <a:latin typeface="Meiryo"/>
                <a:ea typeface="Meiryo"/>
                <a:cs typeface="Meiryo"/>
              </a:rPr>
              <a:t>現在 7月14日</a:t>
            </a:r>
          </a:p>
        </p:txBody>
      </p:sp>
      <p:sp>
        <p:nvSpPr>
          <p:cNvPr id="7" name="rule-0382">
            <a:extLst xmlns:a="http://schemas.openxmlformats.org/drawingml/2006/main">
              <a:ext uri="{FF2B5EF4-FFF2-40B4-BE49-F238E27FC236}">
                <a16:creationId xmlns:a16="http://schemas.microsoft.com/office/drawing/2014/main" id="{4C7841C4-BC29-4E73-82BE-10DC3FE2C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10191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hape-0383">
            <a:extLst xmlns:a="http://schemas.openxmlformats.org/drawingml/2006/main">
              <a:ext uri="{FF2B5EF4-FFF2-40B4-BE49-F238E27FC236}">
                <a16:creationId xmlns:a16="http://schemas.microsoft.com/office/drawing/2014/main" id="{77887262-D57C-4CFB-84D2-63D85A360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574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353D"/>
          </a:solidFill>
          <a:ln xmlns:a="http://schemas.openxmlformats.org/drawingml/2006/main" w="47625">
            <a:solidFill>
              <a:srgbClr val="F7F6F1"/>
            </a:solidFill>
            <a:prstDash val="solid"/>
          </a:ln>
        </p:spPr>
      </p:sp>
      <p:sp>
        <p:nvSpPr>
          <p:cNvPr id="9" name="text-0384">
            <a:extLst xmlns:a="http://schemas.openxmlformats.org/drawingml/2006/main">
              <a:ext uri="{FF2B5EF4-FFF2-40B4-BE49-F238E27FC236}">
                <a16:creationId xmlns:a16="http://schemas.microsoft.com/office/drawing/2014/main" id="{52960E61-5A50-4CB1-B7F8-529C9DC47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47950"/>
            <a:ext cx="895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E6353D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E6353D"/>
                </a:solidFill>
                <a:latin typeface="Meiryo"/>
                <a:ea typeface="Meiryo"/>
                <a:cs typeface="Meiryo"/>
              </a:rPr>
              <a:t>07</a:t>
            </a:r>
          </a:p>
        </p:txBody>
      </p:sp>
      <p:sp>
        <p:nvSpPr>
          <p:cNvPr id="10" name="text-0385">
            <a:extLst xmlns:a="http://schemas.openxmlformats.org/drawingml/2006/main">
              <a:ext uri="{FF2B5EF4-FFF2-40B4-BE49-F238E27FC236}">
                <a16:creationId xmlns:a16="http://schemas.microsoft.com/office/drawing/2014/main" id="{3D525A9B-322C-43ED-80F6-EEB67D9E0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78130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500" b="1">
                <a:solidFill>
                  <a:srgbClr val="5C6268"/>
                </a:solidFill>
                <a:latin typeface="Meiryo"/>
                <a:ea typeface="Meiryo"/>
                <a:cs typeface="Meiryo"/>
              </a:rPr>
              <a:t>7月</a:t>
            </a:r>
          </a:p>
        </p:txBody>
      </p:sp>
      <p:sp>
        <p:nvSpPr>
          <p:cNvPr id="11" name="text-0386">
            <a:extLst xmlns:a="http://schemas.openxmlformats.org/drawingml/2006/main">
              <a:ext uri="{FF2B5EF4-FFF2-40B4-BE49-F238E27FC236}">
                <a16:creationId xmlns:a16="http://schemas.microsoft.com/office/drawing/2014/main" id="{97FA313C-1BCB-4F27-8785-9A23DDACE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718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875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1人で遊べる核</a:t>
            </a:r>
          </a:p>
        </p:txBody>
      </p:sp>
      <p:sp>
        <p:nvSpPr>
          <p:cNvPr id="12" name="shape-0387">
            <a:extLst xmlns:a="http://schemas.openxmlformats.org/drawingml/2006/main">
              <a:ext uri="{FF2B5EF4-FFF2-40B4-BE49-F238E27FC236}">
                <a16:creationId xmlns:a16="http://schemas.microsoft.com/office/drawing/2014/main" id="{6483807E-2031-456A-BE08-74662FA22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481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0388">
            <a:extLst xmlns:a="http://schemas.openxmlformats.org/drawingml/2006/main">
              <a:ext uri="{FF2B5EF4-FFF2-40B4-BE49-F238E27FC236}">
                <a16:creationId xmlns:a16="http://schemas.microsoft.com/office/drawing/2014/main" id="{1C224B4B-EDE4-49F0-8A5E-FC8193B70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4335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左右移動・ジャンプ・ダッシュ</a:t>
            </a:r>
          </a:p>
        </p:txBody>
      </p:sp>
      <p:sp>
        <p:nvSpPr>
          <p:cNvPr id="14" name="shape-0389">
            <a:extLst xmlns:a="http://schemas.openxmlformats.org/drawingml/2006/main">
              <a:ext uri="{FF2B5EF4-FFF2-40B4-BE49-F238E27FC236}">
                <a16:creationId xmlns:a16="http://schemas.microsoft.com/office/drawing/2014/main" id="{DE73743B-6D6D-48B3-AB02-AD1C8E97F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05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0390">
            <a:extLst xmlns:a="http://schemas.openxmlformats.org/drawingml/2006/main">
              <a:ext uri="{FF2B5EF4-FFF2-40B4-BE49-F238E27FC236}">
                <a16:creationId xmlns:a16="http://schemas.microsoft.com/office/drawing/2014/main" id="{E8FC051D-24F4-4893-AF4F-7FEE541D5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0055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共有カメラ</a:t>
            </a:r>
          </a:p>
        </p:txBody>
      </p:sp>
      <p:sp>
        <p:nvSpPr>
          <p:cNvPr id="16" name="shape-0391">
            <a:extLst xmlns:a="http://schemas.openxmlformats.org/drawingml/2006/main">
              <a:ext uri="{FF2B5EF4-FFF2-40B4-BE49-F238E27FC236}">
                <a16:creationId xmlns:a16="http://schemas.microsoft.com/office/drawing/2014/main" id="{1A47E9B8-7722-4AE3-BB32-28B887426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62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-0392">
            <a:extLst xmlns:a="http://schemas.openxmlformats.org/drawingml/2006/main">
              <a:ext uri="{FF2B5EF4-FFF2-40B4-BE49-F238E27FC236}">
                <a16:creationId xmlns:a16="http://schemas.microsoft.com/office/drawing/2014/main" id="{94049A9C-6BB2-47C1-9187-247EAE44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KO・復帰・1ラウンド完走</a:t>
            </a:r>
          </a:p>
        </p:txBody>
      </p:sp>
      <p:sp>
        <p:nvSpPr>
          <p:cNvPr id="18" name="rule-0393">
            <a:extLst xmlns:a="http://schemas.openxmlformats.org/drawingml/2006/main">
              <a:ext uri="{FF2B5EF4-FFF2-40B4-BE49-F238E27FC236}">
                <a16:creationId xmlns:a16="http://schemas.microsoft.com/office/drawing/2014/main" id="{D9882C2E-B4FB-4111-A882-546633CE7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9115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0394">
            <a:extLst xmlns:a="http://schemas.openxmlformats.org/drawingml/2006/main">
              <a:ext uri="{FF2B5EF4-FFF2-40B4-BE49-F238E27FC236}">
                <a16:creationId xmlns:a16="http://schemas.microsoft.com/office/drawing/2014/main" id="{9769AF40-DB4B-410A-8A67-3C61BAAB1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626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6353D"/>
                </a:solidFill>
                <a:latin typeface="Meiryo"/>
                <a:ea typeface="Meiryo"/>
                <a:cs typeface="Meiryo"/>
              </a:defRPr>
            </a:pPr>
            <a:r>
              <a:rPr sz="1350" b="1">
                <a:solidFill>
                  <a:srgbClr val="E6353D"/>
                </a:solidFill>
                <a:latin typeface="Meiryo"/>
                <a:ea typeface="Meiryo"/>
                <a:cs typeface="Meiryo"/>
              </a:rPr>
              <a:t>7/31  1P完走</a:t>
            </a:r>
          </a:p>
        </p:txBody>
      </p:sp>
      <p:sp>
        <p:nvSpPr>
          <p:cNvPr id="20" name="shape-0395">
            <a:extLst xmlns:a="http://schemas.openxmlformats.org/drawingml/2006/main">
              <a:ext uri="{FF2B5EF4-FFF2-40B4-BE49-F238E27FC236}">
                <a16:creationId xmlns:a16="http://schemas.microsoft.com/office/drawing/2014/main" id="{61417285-CCE1-44B0-898C-05EEBFBE6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574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400"/>
          </a:solidFill>
          <a:ln xmlns:a="http://schemas.openxmlformats.org/drawingml/2006/main" w="47625">
            <a:solidFill>
              <a:srgbClr val="F7F6F1"/>
            </a:solidFill>
            <a:prstDash val="solid"/>
          </a:ln>
        </p:spPr>
      </p:sp>
      <p:sp>
        <p:nvSpPr>
          <p:cNvPr id="21" name="text-0396">
            <a:extLst xmlns:a="http://schemas.openxmlformats.org/drawingml/2006/main">
              <a:ext uri="{FF2B5EF4-FFF2-40B4-BE49-F238E27FC236}">
                <a16:creationId xmlns:a16="http://schemas.microsoft.com/office/drawing/2014/main" id="{60326F5D-1766-41AE-B370-7F890B9CD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647950"/>
            <a:ext cx="895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B400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F4B400"/>
                </a:solidFill>
                <a:latin typeface="Meiryo"/>
                <a:ea typeface="Meiryo"/>
                <a:cs typeface="Meiryo"/>
              </a:rPr>
              <a:t>08</a:t>
            </a:r>
          </a:p>
        </p:txBody>
      </p:sp>
      <p:sp>
        <p:nvSpPr>
          <p:cNvPr id="22" name="text-0397">
            <a:extLst xmlns:a="http://schemas.openxmlformats.org/drawingml/2006/main">
              <a:ext uri="{FF2B5EF4-FFF2-40B4-BE49-F238E27FC236}">
                <a16:creationId xmlns:a16="http://schemas.microsoft.com/office/drawing/2014/main" id="{1DC9FFE2-9F76-4BCD-8BAD-DD43F64F0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8130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500" b="1">
                <a:solidFill>
                  <a:srgbClr val="5C6268"/>
                </a:solidFill>
                <a:latin typeface="Meiryo"/>
                <a:ea typeface="Meiryo"/>
                <a:cs typeface="Meiryo"/>
              </a:rPr>
              <a:t>8月</a:t>
            </a:r>
          </a:p>
        </p:txBody>
      </p:sp>
      <p:sp>
        <p:nvSpPr>
          <p:cNvPr id="23" name="text-0398">
            <a:extLst xmlns:a="http://schemas.openxmlformats.org/drawingml/2006/main">
              <a:ext uri="{FF2B5EF4-FFF2-40B4-BE49-F238E27FC236}">
                <a16:creationId xmlns:a16="http://schemas.microsoft.com/office/drawing/2014/main" id="{788FCE4A-1B6D-4C0F-A2EE-27C8BF442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718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875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2人対戦を成立</a:t>
            </a:r>
          </a:p>
        </p:txBody>
      </p:sp>
      <p:sp>
        <p:nvSpPr>
          <p:cNvPr id="24" name="shape-0399">
            <a:extLst xmlns:a="http://schemas.openxmlformats.org/drawingml/2006/main">
              <a:ext uri="{FF2B5EF4-FFF2-40B4-BE49-F238E27FC236}">
                <a16:creationId xmlns:a16="http://schemas.microsoft.com/office/drawing/2014/main" id="{85262D9C-4540-4A93-8E71-91267223A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481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-0400">
            <a:extLst xmlns:a="http://schemas.openxmlformats.org/drawingml/2006/main">
              <a:ext uri="{FF2B5EF4-FFF2-40B4-BE49-F238E27FC236}">
                <a16:creationId xmlns:a16="http://schemas.microsoft.com/office/drawing/2014/main" id="{245C1042-B57A-4478-A261-84317E479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94335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オンライン同期</a:t>
            </a:r>
          </a:p>
        </p:txBody>
      </p:sp>
      <p:sp>
        <p:nvSpPr>
          <p:cNvPr id="26" name="shape-0401">
            <a:extLst xmlns:a="http://schemas.openxmlformats.org/drawingml/2006/main">
              <a:ext uri="{FF2B5EF4-FFF2-40B4-BE49-F238E27FC236}">
                <a16:creationId xmlns:a16="http://schemas.microsoft.com/office/drawing/2014/main" id="{905BF41A-6D3C-4ECA-89E1-0EDCC6408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505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-0402">
            <a:extLst xmlns:a="http://schemas.openxmlformats.org/drawingml/2006/main">
              <a:ext uri="{FF2B5EF4-FFF2-40B4-BE49-F238E27FC236}">
                <a16:creationId xmlns:a16="http://schemas.microsoft.com/office/drawing/2014/main" id="{F6ECFF21-0807-4729-B437-F9626FF96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40055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縮む島をUnrealで再構成</a:t>
            </a:r>
          </a:p>
        </p:txBody>
      </p:sp>
      <p:sp>
        <p:nvSpPr>
          <p:cNvPr id="28" name="shape-0403">
            <a:extLst xmlns:a="http://schemas.openxmlformats.org/drawingml/2006/main">
              <a:ext uri="{FF2B5EF4-FFF2-40B4-BE49-F238E27FC236}">
                <a16:creationId xmlns:a16="http://schemas.microsoft.com/office/drawing/2014/main" id="{04EBEC31-95BF-4214-84BF-5370B181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962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ext-0404">
            <a:extLst xmlns:a="http://schemas.openxmlformats.org/drawingml/2006/main">
              <a:ext uri="{FF2B5EF4-FFF2-40B4-BE49-F238E27FC236}">
                <a16:creationId xmlns:a16="http://schemas.microsoft.com/office/drawing/2014/main" id="{3D490907-422E-4AFE-8F55-A859CC10B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85775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3スキル + 第1回テスト</a:t>
            </a:r>
          </a:p>
        </p:txBody>
      </p:sp>
      <p:sp>
        <p:nvSpPr>
          <p:cNvPr id="30" name="rule-0405">
            <a:extLst xmlns:a="http://schemas.openxmlformats.org/drawingml/2006/main">
              <a:ext uri="{FF2B5EF4-FFF2-40B4-BE49-F238E27FC236}">
                <a16:creationId xmlns:a16="http://schemas.microsoft.com/office/drawing/2014/main" id="{37EF44D3-5D3E-4859-8940-61FCE0CEB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39115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ext-0406">
            <a:extLst xmlns:a="http://schemas.openxmlformats.org/drawingml/2006/main">
              <a:ext uri="{FF2B5EF4-FFF2-40B4-BE49-F238E27FC236}">
                <a16:creationId xmlns:a16="http://schemas.microsoft.com/office/drawing/2014/main" id="{5B7CD1AF-C8EC-4FA2-8C2D-196B4ABFF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5626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B400"/>
                </a:solidFill>
                <a:latin typeface="Meiryo"/>
                <a:ea typeface="Meiryo"/>
                <a:cs typeface="Meiryo"/>
              </a:defRPr>
            </a:pPr>
            <a:r>
              <a:rPr sz="1350" b="1">
                <a:solidFill>
                  <a:srgbClr val="F4B400"/>
                </a:solidFill>
                <a:latin typeface="Meiryo"/>
                <a:ea typeface="Meiryo"/>
                <a:cs typeface="Meiryo"/>
              </a:rPr>
              <a:t>8/31  2P対戦</a:t>
            </a:r>
          </a:p>
        </p:txBody>
      </p:sp>
      <p:sp>
        <p:nvSpPr>
          <p:cNvPr id="32" name="shape-0407">
            <a:extLst xmlns:a="http://schemas.openxmlformats.org/drawingml/2006/main">
              <a:ext uri="{FF2B5EF4-FFF2-40B4-BE49-F238E27FC236}">
                <a16:creationId xmlns:a16="http://schemas.microsoft.com/office/drawing/2014/main" id="{1CCA8898-E895-41AC-99E9-47D88F79C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574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85A"/>
          </a:solidFill>
          <a:ln xmlns:a="http://schemas.openxmlformats.org/drawingml/2006/main" w="47625">
            <a:solidFill>
              <a:srgbClr val="F7F6F1"/>
            </a:solidFill>
            <a:prstDash val="solid"/>
          </a:ln>
        </p:spPr>
      </p:sp>
      <p:sp>
        <p:nvSpPr>
          <p:cNvPr id="33" name="text-0408">
            <a:extLst xmlns:a="http://schemas.openxmlformats.org/drawingml/2006/main">
              <a:ext uri="{FF2B5EF4-FFF2-40B4-BE49-F238E27FC236}">
                <a16:creationId xmlns:a16="http://schemas.microsoft.com/office/drawing/2014/main" id="{088DAEA1-3A1B-435F-8D4D-44B2696B6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647950"/>
            <a:ext cx="895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8A85A"/>
                </a:solidFill>
                <a:latin typeface="Meiryo"/>
                <a:ea typeface="Meiryo"/>
                <a:cs typeface="Meiryo"/>
              </a:defRPr>
            </a:pPr>
            <a:r>
              <a:rPr sz="3600" b="1">
                <a:solidFill>
                  <a:srgbClr val="08A85A"/>
                </a:solidFill>
                <a:latin typeface="Meiryo"/>
                <a:ea typeface="Meiryo"/>
                <a:cs typeface="Meiryo"/>
              </a:rPr>
              <a:t>09</a:t>
            </a:r>
          </a:p>
        </p:txBody>
      </p:sp>
      <p:sp>
        <p:nvSpPr>
          <p:cNvPr id="34" name="text-0409">
            <a:extLst xmlns:a="http://schemas.openxmlformats.org/drawingml/2006/main">
              <a:ext uri="{FF2B5EF4-FFF2-40B4-BE49-F238E27FC236}">
                <a16:creationId xmlns:a16="http://schemas.microsoft.com/office/drawing/2014/main" id="{E1B4FCB2-6125-407D-98F7-62806A8FD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78130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C6268"/>
                </a:solidFill>
                <a:latin typeface="Meiryo"/>
                <a:ea typeface="Meiryo"/>
                <a:cs typeface="Meiryo"/>
              </a:defRPr>
            </a:pPr>
            <a:r>
              <a:rPr sz="1500" b="1">
                <a:solidFill>
                  <a:srgbClr val="5C6268"/>
                </a:solidFill>
                <a:latin typeface="Meiryo"/>
                <a:ea typeface="Meiryo"/>
                <a:cs typeface="Meiryo"/>
              </a:rPr>
              <a:t>9月</a:t>
            </a:r>
          </a:p>
        </p:txBody>
      </p:sp>
      <p:sp>
        <p:nvSpPr>
          <p:cNvPr id="35" name="text-0410">
            <a:extLst xmlns:a="http://schemas.openxmlformats.org/drawingml/2006/main">
              <a:ext uri="{FF2B5EF4-FFF2-40B4-BE49-F238E27FC236}">
                <a16:creationId xmlns:a16="http://schemas.microsoft.com/office/drawing/2014/main" id="{AE0EF94D-347B-42F1-9B48-2B6B2A335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3718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875" b="1">
                <a:solidFill>
                  <a:srgbClr val="17191B"/>
                </a:solidFill>
                <a:latin typeface="Meiryo"/>
                <a:ea typeface="Meiryo"/>
                <a:cs typeface="Meiryo"/>
              </a:rPr>
              <a:t>完成・評価</a:t>
            </a:r>
          </a:p>
        </p:txBody>
      </p:sp>
      <p:sp>
        <p:nvSpPr>
          <p:cNvPr id="36" name="shape-0411">
            <a:extLst xmlns:a="http://schemas.openxmlformats.org/drawingml/2006/main">
              <a:ext uri="{FF2B5EF4-FFF2-40B4-BE49-F238E27FC236}">
                <a16:creationId xmlns:a16="http://schemas.microsoft.com/office/drawing/2014/main" id="{A9A85EDD-1B61-4802-BD6D-843E0FA6E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0481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8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text-0412">
            <a:extLst xmlns:a="http://schemas.openxmlformats.org/drawingml/2006/main">
              <a:ext uri="{FF2B5EF4-FFF2-40B4-BE49-F238E27FC236}">
                <a16:creationId xmlns:a16="http://schemas.microsoft.com/office/drawing/2014/main" id="{1B272116-3943-436B-BD7E-89B0C4CD8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94335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UI・VFX・効果音</a:t>
            </a:r>
          </a:p>
        </p:txBody>
      </p:sp>
      <p:sp>
        <p:nvSpPr>
          <p:cNvPr id="38" name="shape-0413">
            <a:extLst xmlns:a="http://schemas.openxmlformats.org/drawingml/2006/main">
              <a:ext uri="{FF2B5EF4-FFF2-40B4-BE49-F238E27FC236}">
                <a16:creationId xmlns:a16="http://schemas.microsoft.com/office/drawing/2014/main" id="{6C994A87-974D-4DA9-8C3C-30CA79F64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505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8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text-0414">
            <a:extLst xmlns:a="http://schemas.openxmlformats.org/drawingml/2006/main">
              <a:ext uri="{FF2B5EF4-FFF2-40B4-BE49-F238E27FC236}">
                <a16:creationId xmlns:a16="http://schemas.microsoft.com/office/drawing/2014/main" id="{A9C757BC-BE19-44C0-AC3C-E89DE7925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40055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初見プレイテスト</a:t>
            </a:r>
          </a:p>
        </p:txBody>
      </p:sp>
      <p:sp>
        <p:nvSpPr>
          <p:cNvPr id="40" name="shape-0415">
            <a:extLst xmlns:a="http://schemas.openxmlformats.org/drawingml/2006/main">
              <a:ext uri="{FF2B5EF4-FFF2-40B4-BE49-F238E27FC236}">
                <a16:creationId xmlns:a16="http://schemas.microsoft.com/office/drawing/2014/main" id="{545DA120-38F2-4ABC-A2BF-19316A3E1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962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8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text-0416">
            <a:extLst xmlns:a="http://schemas.openxmlformats.org/drawingml/2006/main">
              <a:ext uri="{FF2B5EF4-FFF2-40B4-BE49-F238E27FC236}">
                <a16:creationId xmlns:a16="http://schemas.microsoft.com/office/drawing/2014/main" id="{4CD6F408-3559-4C2A-B14C-386B841F7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85775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17191B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17191B"/>
                </a:solidFill>
                <a:latin typeface="Meiryo"/>
                <a:ea typeface="Meiryo"/>
                <a:cs typeface="Meiryo"/>
              </a:rPr>
              <a:t>分析・報告書・最終発表</a:t>
            </a:r>
          </a:p>
        </p:txBody>
      </p:sp>
      <p:sp>
        <p:nvSpPr>
          <p:cNvPr id="42" name="rule-0417">
            <a:extLst xmlns:a="http://schemas.openxmlformats.org/drawingml/2006/main">
              <a:ext uri="{FF2B5EF4-FFF2-40B4-BE49-F238E27FC236}">
                <a16:creationId xmlns:a16="http://schemas.microsoft.com/office/drawing/2014/main" id="{F1F7DCE5-CAD6-4A13-A286-5D7858EEC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39115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8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text-0418">
            <a:extLst xmlns:a="http://schemas.openxmlformats.org/drawingml/2006/main">
              <a:ext uri="{FF2B5EF4-FFF2-40B4-BE49-F238E27FC236}">
                <a16:creationId xmlns:a16="http://schemas.microsoft.com/office/drawing/2014/main" id="{65E3B293-B6A5-4451-BD00-AD3D758BA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5626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8A85A"/>
                </a:solidFill>
                <a:latin typeface="Meiryo"/>
                <a:ea typeface="Meiryo"/>
                <a:cs typeface="Meiryo"/>
              </a:defRPr>
            </a:pPr>
            <a:r>
              <a:rPr sz="1350" b="1">
                <a:solidFill>
                  <a:srgbClr val="08A85A"/>
                </a:solidFill>
                <a:latin typeface="Meiryo"/>
                <a:ea typeface="Meiryo"/>
                <a:cs typeface="Meiryo"/>
              </a:rPr>
              <a:t>9/15  評価版</a:t>
            </a:r>
          </a:p>
        </p:txBody>
      </p:sp>
    </p:spTree>
    <p:extLst>
      <p:ext uri="{BB962C8B-B14F-4D97-AF65-F5344CB8AC3E}">
        <p14:creationId xmlns:p14="http://schemas.microsoft.com/office/powerpoint/2010/main" val="71018084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719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3edf43dfcb48ee"/>
          <a:srcRect xmlns:a="http://schemas.openxmlformats.org/drawingml/2006/main" l="20139" t="0" r="2013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0" y="0"/>
            <a:ext cx="4095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shape-0420">
            <a:extLst xmlns:a="http://schemas.openxmlformats.org/drawingml/2006/main">
              <a:ext uri="{FF2B5EF4-FFF2-40B4-BE49-F238E27FC236}">
                <a16:creationId xmlns:a16="http://schemas.microsoft.com/office/drawing/2014/main" id="{4F15C2B7-6C0A-42FD-97A0-78176BCF4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0421">
            <a:extLst xmlns:a="http://schemas.openxmlformats.org/drawingml/2006/main">
              <a:ext uri="{FF2B5EF4-FFF2-40B4-BE49-F238E27FC236}">
                <a16:creationId xmlns:a16="http://schemas.microsoft.com/office/drawing/2014/main" id="{507F2EA0-2B51-49E4-A93E-A5FA28236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657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7F6F1"/>
                </a:solidFill>
                <a:latin typeface="Meiryo"/>
                <a:ea typeface="Meiryo"/>
                <a:cs typeface="Meiryo"/>
              </a:defRPr>
            </a:pPr>
            <a:r>
              <a:rPr sz="3750" b="1">
                <a:solidFill>
                  <a:srgbClr val="F7F6F1"/>
                </a:solidFill>
                <a:latin typeface="Meiryo"/>
                <a:ea typeface="Meiryo"/>
                <a:cs typeface="Meiryo"/>
              </a:rPr>
              <a:t>9月に見せるもの</a:t>
            </a:r>
          </a:p>
        </p:txBody>
      </p:sp>
      <p:sp>
        <p:nvSpPr>
          <p:cNvPr id="4" name="shape-0422">
            <a:extLst xmlns:a="http://schemas.openxmlformats.org/drawingml/2006/main">
              <a:ext uri="{FF2B5EF4-FFF2-40B4-BE49-F238E27FC236}">
                <a16:creationId xmlns:a16="http://schemas.microsoft.com/office/drawing/2014/main" id="{7506D15C-341B-45C7-AF8C-C17FF6835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764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5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0423">
            <a:extLst xmlns:a="http://schemas.openxmlformats.org/drawingml/2006/main">
              <a:ext uri="{FF2B5EF4-FFF2-40B4-BE49-F238E27FC236}">
                <a16:creationId xmlns:a16="http://schemas.microsoft.com/office/drawing/2014/main" id="{13E5EAA7-3F14-4193-8150-5823DA19A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628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6F1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F7F6F1"/>
                </a:solidFill>
                <a:latin typeface="Meiryo"/>
                <a:ea typeface="Meiryo"/>
                <a:cs typeface="Meiryo"/>
              </a:rPr>
              <a:t>2人オンラインで1試合を完走</a:t>
            </a:r>
          </a:p>
        </p:txBody>
      </p:sp>
      <p:sp>
        <p:nvSpPr>
          <p:cNvPr id="6" name="shape-0424">
            <a:extLst xmlns:a="http://schemas.openxmlformats.org/drawingml/2006/main">
              <a:ext uri="{FF2B5EF4-FFF2-40B4-BE49-F238E27FC236}">
                <a16:creationId xmlns:a16="http://schemas.microsoft.com/office/drawing/2014/main" id="{E60DC362-5726-4488-B13C-C80BED703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8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0425">
            <a:extLst xmlns:a="http://schemas.openxmlformats.org/drawingml/2006/main">
              <a:ext uri="{FF2B5EF4-FFF2-40B4-BE49-F238E27FC236}">
                <a16:creationId xmlns:a16="http://schemas.microsoft.com/office/drawing/2014/main" id="{3BC196F8-1E94-4D4C-B6C6-D6963931F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52700"/>
            <a:ext cx="628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6F1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F7F6F1"/>
                </a:solidFill>
                <a:latin typeface="Meiryo"/>
                <a:ea typeface="Meiryo"/>
                <a:cs typeface="Meiryo"/>
              </a:rPr>
              <a:t>縮む島 + 3スキル</a:t>
            </a:r>
          </a:p>
        </p:txBody>
      </p:sp>
      <p:sp>
        <p:nvSpPr>
          <p:cNvPr id="8" name="shape-0426">
            <a:extLst xmlns:a="http://schemas.openxmlformats.org/drawingml/2006/main">
              <a:ext uri="{FF2B5EF4-FFF2-40B4-BE49-F238E27FC236}">
                <a16:creationId xmlns:a16="http://schemas.microsoft.com/office/drawing/2014/main" id="{0AED8A66-89A7-4776-B4CC-9B3CAC756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623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0427">
            <a:extLst xmlns:a="http://schemas.openxmlformats.org/drawingml/2006/main">
              <a:ext uri="{FF2B5EF4-FFF2-40B4-BE49-F238E27FC236}">
                <a16:creationId xmlns:a16="http://schemas.microsoft.com/office/drawing/2014/main" id="{DEB6FBE4-6289-4B27-AE11-42099B4C7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95650"/>
            <a:ext cx="628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6F1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F7F6F1"/>
                </a:solidFill>
                <a:latin typeface="Meiryo"/>
                <a:ea typeface="Meiryo"/>
                <a:cs typeface="Meiryo"/>
              </a:rPr>
              <a:t>プレイテストの数値と改善履歴</a:t>
            </a:r>
          </a:p>
        </p:txBody>
      </p:sp>
      <p:sp>
        <p:nvSpPr>
          <p:cNvPr id="10" name="shape-0428">
            <a:extLst xmlns:a="http://schemas.openxmlformats.org/drawingml/2006/main">
              <a:ext uri="{FF2B5EF4-FFF2-40B4-BE49-F238E27FC236}">
                <a16:creationId xmlns:a16="http://schemas.microsoft.com/office/drawing/2014/main" id="{D32220AC-7FA9-49D5-80AE-95B50D4DE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052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0429">
            <a:extLst xmlns:a="http://schemas.openxmlformats.org/drawingml/2006/main">
              <a:ext uri="{FF2B5EF4-FFF2-40B4-BE49-F238E27FC236}">
                <a16:creationId xmlns:a16="http://schemas.microsoft.com/office/drawing/2014/main" id="{E4CBD823-A98F-426F-A68B-885320DF9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38600"/>
            <a:ext cx="628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6F1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F7F6F1"/>
                </a:solidFill>
                <a:latin typeface="Meiryo"/>
                <a:ea typeface="Meiryo"/>
                <a:cs typeface="Meiryo"/>
              </a:rPr>
              <a:t>AIと人の役割分担を追える制作記録</a:t>
            </a:r>
          </a:p>
        </p:txBody>
      </p:sp>
      <p:sp>
        <p:nvSpPr>
          <p:cNvPr id="12" name="rule-0430">
            <a:extLst xmlns:a="http://schemas.openxmlformats.org/drawingml/2006/main">
              <a:ext uri="{FF2B5EF4-FFF2-40B4-BE49-F238E27FC236}">
                <a16:creationId xmlns:a16="http://schemas.microsoft.com/office/drawing/2014/main" id="{5FC70475-0723-4150-AD66-34D38D2C7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0"/>
            <a:ext cx="657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4A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0431">
            <a:extLst xmlns:a="http://schemas.openxmlformats.org/drawingml/2006/main">
              <a:ext uri="{FF2B5EF4-FFF2-40B4-BE49-F238E27FC236}">
                <a16:creationId xmlns:a16="http://schemas.microsoft.com/office/drawing/2014/main" id="{E34BD3B7-04E1-4B2A-8883-41F81AB14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57800"/>
            <a:ext cx="657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F7F6F1"/>
                </a:solidFill>
                <a:latin typeface="Meiryo"/>
                <a:ea typeface="Meiryo"/>
                <a:cs typeface="Meiryo"/>
              </a:defRPr>
            </a:pPr>
            <a:r>
              <a:rPr sz="2550" b="1">
                <a:solidFill>
                  <a:srgbClr val="F7F6F1"/>
                </a:solidFill>
                <a:latin typeface="Meiryo"/>
                <a:ea typeface="Meiryo"/>
                <a:cs typeface="Meiryo"/>
              </a:rPr>
              <a:t>遊びと制作方法の両方を、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F7F6F1"/>
                </a:solidFill>
                <a:latin typeface="Meiryo"/>
                <a:ea typeface="Meiryo"/>
                <a:cs typeface="Meiryo"/>
              </a:defRPr>
            </a:pPr>
            <a:r>
              <a:rPr sz="2550" b="1">
                <a:solidFill>
                  <a:srgbClr val="F7F6F1"/>
                </a:solidFill>
                <a:latin typeface="Meiryo"/>
                <a:ea typeface="Meiryo"/>
                <a:cs typeface="Meiryo"/>
              </a:rPr>
              <a:t>実物と数字で示す。</a:t>
            </a:r>
          </a:p>
        </p:txBody>
      </p:sp>
      <p:sp>
        <p:nvSpPr>
          <p:cNvPr id="14" name="rule-0432">
            <a:extLst xmlns:a="http://schemas.openxmlformats.org/drawingml/2006/main">
              <a:ext uri="{FF2B5EF4-FFF2-40B4-BE49-F238E27FC236}">
                <a16:creationId xmlns:a16="http://schemas.microsoft.com/office/drawing/2014/main" id="{F8FB1918-C1BA-4B47-A35C-E19517A83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E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0433">
            <a:extLst xmlns:a="http://schemas.openxmlformats.org/drawingml/2006/main">
              <a:ext uri="{FF2B5EF4-FFF2-40B4-BE49-F238E27FC236}">
                <a16:creationId xmlns:a16="http://schemas.microsoft.com/office/drawing/2014/main" id="{0AC50D4C-1A7D-476E-859B-FD5B5A8F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62725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AA0A6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9AA0A6"/>
                </a:solidFill>
                <a:latin typeface="Meiryo"/>
                <a:ea typeface="Meiryo"/>
                <a:cs typeface="Meiryo"/>
              </a:rPr>
              <a:t>ChaosDraftParty / 島田 泰成</a:t>
            </a:r>
          </a:p>
        </p:txBody>
      </p:sp>
      <p:sp>
        <p:nvSpPr>
          <p:cNvPr id="16" name="text-0434">
            <a:extLst xmlns:a="http://schemas.openxmlformats.org/drawingml/2006/main">
              <a:ext uri="{FF2B5EF4-FFF2-40B4-BE49-F238E27FC236}">
                <a16:creationId xmlns:a16="http://schemas.microsoft.com/office/drawing/2014/main" id="{AA98102F-E41F-433C-9A45-0BAF8F951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436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8A85A"/>
                </a:solidFill>
                <a:latin typeface="Meiryo"/>
                <a:ea typeface="Meiryo"/>
                <a:cs typeface="Meiryo"/>
              </a:defRPr>
            </a:pPr>
            <a:r>
              <a:rPr sz="975" b="1">
                <a:solidFill>
                  <a:srgbClr val="08A85A"/>
                </a:solidFill>
                <a:latin typeface="Meiryo"/>
                <a:ea typeface="Meiryo"/>
                <a:cs typeface="Meiryo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6998089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2026-07-14T05:23:08.9630000Z</dcterms:created>
  <dcterms:modified xsi:type="dcterms:W3CDTF">2026-07-14T05:23:08.9630000Z</dcterms:modified>
</coreProperties>
</file>