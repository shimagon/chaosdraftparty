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BIZ UDPGothic" panose="020B0400000000000000" pitchFamily="50" charset="-128"/>
      <p:regular r:id="rId12"/>
      <p:bold r:id="rId13"/>
    </p:embeddedFont>
    <p:embeddedFont>
      <p:font typeface="DotGothic16" panose="02020900000000000000" pitchFamily="18" charset="-128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246120" cy="32461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8229600" y="4773168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自作キャラ「EGGYBOT」</a:t>
            </a:r>
          </a:p>
          <a:p>
            <a:pPr algn="ctr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企画・モデル・シェーダまで AI と共同制作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091672" y="1078992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224260" y="1078992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1356848" y="1078992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82296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卒業プロジェクト1 中間発表 / 2026.07.14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722376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AIエージェントとつくる、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3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ひとりのゲーム開発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6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― エディタ(開発ツール)をほぼ触らずに、どこまで作れるか 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4000499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制作タイトル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986783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ChaosDraftParty</a:t>
            </a:r>
            <a:r>
              <a:rPr sz="12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2.5D 対戦アクション(Unreal Engine 5.8)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6858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 泰成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東海大学 情報理工学部 情報メディア学科 小坂研究室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研究背景 ― ゲーム開発は「チームの仕事」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1/9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一般的な商業ゲーム開発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01168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13055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企画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07208" y="201168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07208" y="213055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プログラム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65776" y="201168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65776" y="213055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3Dアート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24344" y="201168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24344" y="213055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レベルデザイン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82912" y="2011680"/>
            <a:ext cx="2048256" cy="5669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82912" y="2130552"/>
            <a:ext cx="2048256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QA・テスト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2642615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通常は数人〜数十人のチームで分担 ― 個人開発では全役職を 1 人で抱えることに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48959" y="3081528"/>
            <a:ext cx="493776" cy="457200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794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転機: AI エージェントの登場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178808"/>
            <a:ext cx="11094415" cy="11887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4361688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対話で指示するだけで、コードを書き、開発ツール(エディタ)まで直接操作する AI が実用段階に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→ 「チームの仕事」を AI エージェントのチームで置き換えられる可能性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109441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図1 ゲーム開発の分業と AI エージェント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研究目的 ― エディタをほぼ触らないゲーム開発の検証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2/9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45920"/>
            <a:ext cx="11094415" cy="137160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1874519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エージェントとの分業だけで、遊べるゲームを 1 人で完成させる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検証条件: 人間の役割は「決める・遊ぶ・判断」の 3 つに限定、実装・エディタ操作は複数の AI が分担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429000"/>
            <a:ext cx="5440680" cy="10058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77240" y="364845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367131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61188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への指示だけで、遊べるゲームを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どこまで完成させられるか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429000"/>
            <a:ext cx="5440680" cy="10058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428232" y="3648456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1316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問い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34072" y="3611880"/>
            <a:ext cx="39776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複数の AI をどう使い分ければ、</a:t>
            </a:r>
            <a:b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</a:b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 人開発でも品質を保てるか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892040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9 月の成果物: </a:t>
            </a: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遊べるゲーム本体 + AI 分業の制作記録(どの作業を AI に任せられたかの数値)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制作するゲーム ― ChaosDraftParty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3/9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5544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5773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ジャンル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1581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2.5D 対戦アクション(横から見る視点)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0116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20345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プレイ人数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20391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まず 1 人用(CPU の敵と対戦) ― 将来オンライン対戦へ拡張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2468880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491740"/>
            <a:ext cx="13258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24963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約 30 秒 ― 短く繰り返し遊ぶ構造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85292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遊び方は 5 語で説明できる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00400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3291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3291840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選ぶ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31012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強化スキルを 3 択から選択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767328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38587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385876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走る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3877056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足場を横移動・ジャンプ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4334256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442569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4425696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消える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44398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足場が崩れて舞台が縮小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4901184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49926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4992624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ぶつかる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01091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押し合い・吹き飛ばし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468112"/>
            <a:ext cx="5989320" cy="47548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555955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34440" y="5559552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生き残る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55778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最後まで残れば勝ち</a:t>
            </a:r>
          </a:p>
        </p:txBody>
      </p:sp>
      <p:pic>
        <p:nvPicPr>
          <p:cNvPr id="50" name="Picture 49" descr="island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554480"/>
            <a:ext cx="4736592" cy="2660904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1" name="TextBox 50"/>
          <p:cNvSpPr txBox="1"/>
          <p:nvPr/>
        </p:nvSpPr>
        <p:spPr>
          <a:xfrm>
            <a:off x="6903720" y="4261104"/>
            <a:ext cx="4736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図2 ステージ「縮む島」(Unity 試作版・俯瞰視点)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　現在 2.5D 横視点で UE5.8 に再構築中(図7)</a:t>
            </a:r>
          </a:p>
        </p:txBody>
      </p:sp>
      <p:pic>
        <p:nvPicPr>
          <p:cNvPr id="52" name="Picture 51" descr="eggybot_b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4709160"/>
            <a:ext cx="1417320" cy="14173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53" name="TextBox 52"/>
          <p:cNvSpPr txBox="1"/>
          <p:nvPr/>
        </p:nvSpPr>
        <p:spPr>
          <a:xfrm>
            <a:off x="8503920" y="5029200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図3 操作キャラ「EGGYBOT」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　企画から 3D モデルまで AI と制作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設計の根拠 ―『フィールドスマッシュ』の構造と弱点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4/9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60020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参考: 大乱闘スマッシュブラザーズ for 3DS のひとり用モード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965960"/>
            <a:ext cx="5257800" cy="77724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208483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① 5 分間の探索 ― 敵を倒して強化を収集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3012948" y="2788920"/>
            <a:ext cx="329184" cy="274320"/>
          </a:xfrm>
          <a:prstGeom prst="downArrow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48640" y="3118104"/>
            <a:ext cx="5257800" cy="777240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236976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② 最終決戦 ― 探索の成果がそのまま強さに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977640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図4 フィールドスマッシュの基本構造</a:t>
            </a:r>
          </a:p>
        </p:txBody>
      </p:sp>
      <p:pic>
        <p:nvPicPr>
          <p:cNvPr id="27" name="Picture 26" descr="smashrun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940" y="4270248"/>
            <a:ext cx="2743200" cy="164592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28" name="TextBox 27"/>
          <p:cNvSpPr txBox="1"/>
          <p:nvPr/>
        </p:nvSpPr>
        <p:spPr>
          <a:xfrm>
            <a:off x="548640" y="5971032"/>
            <a:ext cx="5257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図5 敵撃破で強化アイテムを入手 [1]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1600200"/>
            <a:ext cx="5379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弱点(本研究での分析)と、本作の解決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1965960"/>
            <a:ext cx="5379415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37960" y="2103120"/>
            <a:ext cx="4830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弱点1  </a:t>
            </a: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決戦形式がランダム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決戦ルールを固定 ― 鍛えた力が必ず有効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63640" y="3136392"/>
            <a:ext cx="5379415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3273552"/>
            <a:ext cx="4830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弱点2  </a:t>
            </a: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強化が運まかせの拾い集め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ドラフト選択制 ― 毎回 3 択から意思決定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306824"/>
            <a:ext cx="5379415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443984"/>
            <a:ext cx="4830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弱点3  </a:t>
            </a: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オンライン非対応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　→ </a:t>
            </a:r>
            <a:r>
              <a:rPr sz="12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マルチ拡張前提の設計 ― 実装は来期(卒プロ2)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577839"/>
            <a:ext cx="5379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対戦相手がいなくても成立する構造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　→ 「まず 1 人用」で作る本作に最適な骨格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199632"/>
            <a:ext cx="10515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[1] 任天堂:大乱闘スマッシュブラザーズ for Nintendo 3DS 公式サイト(オンライン)，入手先〈https://www.smashbros.com/〉(参照 2026-07-14)．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制作方法 ― 人間 1 人 + AI エージェントのチーム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5/9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2514600"/>
            <a:ext cx="2514600" cy="210312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2743200"/>
            <a:ext cx="205740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島田(人間)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決める・遊ぶ・判断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何を作るかの決定、実際にプレイ、面白いかどうかの最終判断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3154680" y="3429000"/>
            <a:ext cx="457200" cy="310896"/>
          </a:xfrm>
          <a:prstGeom prst="rightArrow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749040" y="169164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logo_claude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947672"/>
            <a:ext cx="457200" cy="4572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663440" y="192938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Claude Code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設計・実装の主担当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65176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C++/Blueprint のコード実装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シーン構築などエディタ操作も担当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40" y="3657600"/>
            <a:ext cx="3291840" cy="173736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8" name="Picture 27" descr="logo_openai_sy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913632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663440" y="3895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OpenAI Codex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並列作業・別視点チェック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4617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資料・データの量産</a:t>
            </a:r>
            <a:b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Claude の実装を別視点でレビュー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178040" y="3429000"/>
            <a:ext cx="457200" cy="310896"/>
          </a:xfrm>
          <a:prstGeom prst="rightArrow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123176" y="3840480"/>
            <a:ext cx="621792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23176" y="3863340"/>
            <a:ext cx="62179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MCP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0" y="2514600"/>
            <a:ext cx="3870655" cy="2103120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5" name="Picture 34" descr="logo_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247" y="2743200"/>
            <a:ext cx="754577" cy="8229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955280" y="3566159"/>
            <a:ext cx="35048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3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Unreal Engine 5.8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配置・実行・確認まで AI がエディタを直接操作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MCP = AI とエディタをつなぐ接続規格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図6 制作体制の全体像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相互レビュー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同士の相互レビュー後に採用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29768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2628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記録を残す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作業ログで別の AI が続行可能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5486400"/>
            <a:ext cx="3566160" cy="713232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75320" y="5577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実行して確認  </a:t>
            </a: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AI の「できた」は画面とログで検証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現在の進捗 ― 7 月中間時点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6/9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203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コミット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実装の積み上げ量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ほぼ全て AI が記述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74136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374136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3日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キャラが動くまで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UE 導入 3 日で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自作キャラが動作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99632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ほぼ0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632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エディタ手作業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現時点は体感値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9 月に計測値で報告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25128" y="1600200"/>
            <a:ext cx="2606040" cy="16916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25128" y="180136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9/9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25128" y="2468880"/>
            <a:ext cx="2606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自動テスト合格</a:t>
            </a:r>
          </a:p>
          <a:p>
            <a:pPr algn="ctr">
              <a:lnSpc>
                <a:spcPct val="115000"/>
              </a:lnSpc>
              <a:spcAft>
                <a:spcPts val="300"/>
              </a:spcAft>
            </a:pP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移動など基本動作 9 項目</a:t>
            </a:r>
            <a:b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9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項目は人間がレビューして採用</a:t>
            </a:r>
          </a:p>
        </p:txBody>
      </p:sp>
      <p:pic>
        <p:nvPicPr>
          <p:cNvPr id="32" name="Picture 31" descr="ue_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11880"/>
            <a:ext cx="4224528" cy="2377440"/>
          </a:xfrm>
          <a:prstGeom prst="rect">
            <a:avLst/>
          </a:prstGeom>
          <a:ln w="12700">
            <a:solidFill>
              <a:srgbClr val="E2E7EE"/>
            </a:solidFill>
          </a:ln>
          <a:effectLst/>
        </p:spPr>
      </p:pic>
      <p:sp>
        <p:nvSpPr>
          <p:cNvPr id="33" name="TextBox 32"/>
          <p:cNvSpPr txBox="1"/>
          <p:nvPr/>
        </p:nvSpPr>
        <p:spPr>
          <a:xfrm>
            <a:off x="548640" y="6044184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図7 AI が構築した 2.5D アリーナ(UE5.8)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3794760"/>
            <a:ext cx="640080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実機で確認できた操作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2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A / D → 左右移動 / Space → ジャンプ / E → ダッシュ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吹き飛ばし処理・ジャンプの入力猶予も C++ で実装済み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1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AI の「完了」報告は、画面とログで必ず検証</a:t>
            </a:r>
          </a:p>
          <a:p>
            <a:pPr algn="l">
              <a:lnSpc>
                <a:spcPct val="125000"/>
              </a:lnSpc>
              <a:spcAft>
                <a:spcPts val="900"/>
              </a:spcAft>
            </a:pPr>
            <a:r>
              <a:rPr sz="1000" b="0">
                <a:solidFill>
                  <a:srgbClr val="9AA3B2"/>
                </a:solidFill>
                <a:latin typeface="BIZ UDPGothic"/>
                <a:ea typeface="BIZ UDPGothic"/>
                <a:cs typeface="BIZ UDPGothic"/>
              </a:rPr>
              <a:t>※ 4〜6 月は Unity で試作、7 月に AI 連携を公式サポートする UE5.8 へ移行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評価方法 ― 面白さと開発効率を別々に計測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7/9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E3F4F6"/>
          </a:solidFill>
          <a:ln w="9525">
            <a:solidFill>
              <a:srgbClr val="18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ゲームの評価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25237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10 秒テスト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59" y="2487168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初見の学生 5 人以上・10 秒観て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ルールを説明できれば合格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6941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接触回数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59" y="36576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30 秒中に敵・相手との接触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 回以上で「対戦成立」と判定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納得感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59" y="482803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プレイ直後の聞き取りで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「負けた理由」を説明できれば合格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9632" y="1600200"/>
            <a:ext cx="5440680" cy="566928"/>
          </a:xfrm>
          <a:prstGeom prst="roundRect">
            <a:avLst>
              <a:gd name="adj" fmla="val 5500"/>
            </a:avLst>
          </a:prstGeom>
          <a:solidFill>
            <a:srgbClr val="FBE9EE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1719072"/>
            <a:ext cx="5440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制作方法の評価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2377440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73952" y="2523744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速度と手戻り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4151" y="2487168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機能ごとの完成時間と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やり直し回数を全作業で記録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9632" y="3547872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73952" y="3694176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再現性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74151" y="3657600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作業記録のみで別の AI が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続行できるかを計測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99632" y="4718304"/>
            <a:ext cx="5440680" cy="1024128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73952" y="4864608"/>
            <a:ext cx="15544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手作業率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4151" y="4828032"/>
            <a:ext cx="32918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エディタ手動操作 ÷ 全作業回数</a:t>
            </a:r>
            <a:b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</a:b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低いほど良い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9 月の最終発表で両方の数値を報告</a:t>
            </a: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問い 2(AI の使い分け)には再現性と作業ログの分類で回答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今後の計画 ― まず 1 人で遊べる形、それからマルチ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8/9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91640"/>
            <a:ext cx="11094415" cy="146304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48640" y="1691640"/>
            <a:ext cx="1554480" cy="146304"/>
          </a:xfrm>
          <a:prstGeom prst="roundRect">
            <a:avLst>
              <a:gd name="adj" fmla="val 50000"/>
            </a:avLst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91640" y="1325880"/>
            <a:ext cx="2194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E86E8A"/>
                </a:solidFill>
                <a:latin typeface="DotGothic16"/>
                <a:ea typeface="DotGothic16"/>
                <a:cs typeface="DotGothic16"/>
              </a:rPr>
              <a:t>▼ いまここ(7月中旬)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86E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7月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1人で遊べる核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2.5D 移動・ダッシュ・KO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縮む足場ステージ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1 ラウンド完走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7200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E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8月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ゲームループ完成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選ぶ→生き残るの 1 ループ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ドラフト(3 択)とスキル 3 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189AA8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第 1 回プレイテスト(評価の予行)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2148840"/>
            <a:ext cx="3566160" cy="3291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321040" y="2423160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C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21040" y="244602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9月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292608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完成・評価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3611880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UI・音・見た目の仕上げ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087368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評価の本計測(初見テスト)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562856"/>
            <a:ext cx="3017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E08E1B"/>
                </a:solidFill>
                <a:latin typeface="BIZ UDPGothic"/>
                <a:ea typeface="BIZ UDPGothic"/>
                <a:cs typeface="BIZ UDPGothic"/>
              </a:rPr>
              <a:t>■ 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最終発表(マルチ化はここから着手)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マルチ化は来期(卒プロ2)</a:t>
            </a: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  ― シングルで確認した仕組みをそのままオンラインへ拡張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91440" cy="91440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1228" y="384048"/>
            <a:ext cx="91440" cy="91440"/>
          </a:xfrm>
          <a:prstGeom prst="rect">
            <a:avLst/>
          </a:prstGeom>
          <a:solidFill>
            <a:srgbClr val="189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13816" y="384048"/>
            <a:ext cx="91440" cy="91440"/>
          </a:xfrm>
          <a:prstGeom prst="rect">
            <a:avLst/>
          </a:prstGeom>
          <a:solidFill>
            <a:srgbClr val="E08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89AA8"/>
                </a:solidFill>
                <a:latin typeface="DotGothic16"/>
                <a:ea typeface="DotGothic16"/>
                <a:cs typeface="DotGothic16"/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"/>
            <a:ext cx="1109441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まとめ ― 9 月に、実物と数字で回答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170432"/>
            <a:ext cx="11094415" cy="9525"/>
          </a:xfrm>
          <a:prstGeom prst="rect">
            <a:avLst/>
          </a:prstGeom>
          <a:solidFill>
            <a:srgbClr val="E2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CHAOS DRAFT PARTY / 卒業プロジェクト1 中間発表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5258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26231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37203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48176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91495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701223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0810951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920679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030407" y="6510528"/>
            <a:ext cx="77724" cy="77724"/>
          </a:xfrm>
          <a:prstGeom prst="rect">
            <a:avLst/>
          </a:prstGeom>
          <a:solidFill>
            <a:srgbClr val="E86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67567" y="6455664"/>
            <a:ext cx="475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9AA3B2"/>
                </a:solidFill>
                <a:latin typeface="DotGothic16"/>
                <a:ea typeface="DotGothic16"/>
                <a:cs typeface="DotGothic16"/>
              </a:rPr>
              <a:t>9/9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645920"/>
            <a:ext cx="11094415" cy="123444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1828800"/>
            <a:ext cx="1027145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目的: エディタをほぼ触らずに、AI との分業でゲームを完成させる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開発 3 ヶ月半で手応えあり ― 残り 2 ヶ月で完成予定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9 月の最終発表で見せるもの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遊べる実物</a:t>
            </a:r>
            <a:r>
              <a:rPr sz="11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  問い 1 に回答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2.5D 対戦アクション(1 人用)をその場で実演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657600"/>
            <a:ext cx="5440680" cy="1097280"/>
          </a:xfrm>
          <a:prstGeom prst="roundRect">
            <a:avLst>
              <a:gd name="adj" fmla="val 5500"/>
            </a:avLst>
          </a:prstGeom>
          <a:solidFill>
            <a:srgbClr val="F5F7FA"/>
          </a:solidFill>
          <a:ln w="9525">
            <a:solidFill>
              <a:srgbClr val="E2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9672" y="384048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制作の全記録</a:t>
            </a:r>
            <a:r>
              <a:rPr sz="1100" b="1">
                <a:solidFill>
                  <a:srgbClr val="E86E8A"/>
                </a:solidFill>
                <a:latin typeface="BIZ UDPGothic"/>
                <a:ea typeface="BIZ UDPGothic"/>
                <a:cs typeface="BIZ UDPGothic"/>
              </a:rPr>
              <a:t>  問い 2 に回答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　AI ごとの担当作業の分類と、再現性テストの結果を数値で報告</a:t>
            </a:r>
          </a:p>
        </p:txBody>
      </p:sp>
      <p:pic>
        <p:nvPicPr>
          <p:cNvPr id="27" name="Picture 26" descr="eggybot_br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0" y="4892040"/>
            <a:ext cx="1417320" cy="1417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48640" y="52578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D2433"/>
                </a:solidFill>
                <a:latin typeface="BIZ UDPGothic"/>
                <a:ea typeface="BIZ UDPGothic"/>
                <a:cs typeface="BIZ UDPGothic"/>
              </a:rPr>
              <a:t>ご清聴ありがとうございました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55F70"/>
                </a:solidFill>
                <a:latin typeface="BIZ UDPGothic"/>
                <a:ea typeface="BIZ UDPGothic"/>
                <a:cs typeface="BIZ UDPGothic"/>
              </a:rPr>
              <a:t>島田 泰成 / 東海大学 情報メディア学科 小坂研究室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776</Words>
  <Application>Microsoft Office PowerPoint</Application>
  <PresentationFormat>ワイド画面</PresentationFormat>
  <Paragraphs>182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Arial</vt:lpstr>
      <vt:lpstr>BIZ UDPGothic</vt:lpstr>
      <vt:lpstr>Calibri</vt:lpstr>
      <vt:lpstr>DotGothic16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3CDN2218</cp:lastModifiedBy>
  <cp:revision>2</cp:revision>
  <dcterms:created xsi:type="dcterms:W3CDTF">2013-01-27T09:14:16Z</dcterms:created>
  <dcterms:modified xsi:type="dcterms:W3CDTF">2026-07-20T16:08:35Z</dcterms:modified>
  <cp:category/>
</cp:coreProperties>
</file>