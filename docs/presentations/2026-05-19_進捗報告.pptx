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120" y="6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046720" cy="6858000"/>
          </a:xfrm>
          <a:prstGeom prst="rect">
            <a:avLst/>
          </a:prstGeom>
          <a:solidFill>
            <a:srgbClr val="2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C23C"/>
                </a:solidFill>
                <a:latin typeface="Yu Gothic UI"/>
              </a:rPr>
              <a:t>卒業制作 進捗報告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731520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>
                <a:solidFill>
                  <a:srgbClr val="FFFFFF"/>
                </a:solidFill>
                <a:latin typeface="Yu Gothic UI"/>
              </a:rPr>
              <a:t>カオスドラフトパーティー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73152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FFFFF"/>
                </a:solidFill>
                <a:latin typeface="Yu Gothic UI"/>
              </a:rPr>
              <a:t>— 2 〜 4 人で遊ぶ オンライン 3D パーティゲーム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91840"/>
            <a:ext cx="7132320" cy="777240"/>
          </a:xfrm>
          <a:prstGeom prst="roundRect">
            <a:avLst>
              <a:gd name="adj" fmla="val 30000"/>
            </a:avLst>
          </a:prstGeom>
          <a:solidFill>
            <a:srgbClr val="FF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685800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Yu Gothic UI"/>
              </a:rPr>
              <a:t>1 試合 8 分 / 4 ラウンド × 90 秒 / ラウンド毎にスキルを「ドラフト」して育てる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51960"/>
            <a:ext cx="73152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C23C"/>
                </a:solidFill>
                <a:latin typeface="Yu Gothic UI"/>
              </a:rPr>
              <a:t>今日のテーマ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731520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Yu Gothic UI"/>
              </a:rPr>
              <a:t>卵キャラが、オンラインで、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Yu Gothic UI"/>
              </a:rPr>
              <a:t>自然に動くようになった話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72200"/>
            <a:ext cx="7315200" cy="26340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888899"/>
                </a:solidFill>
                <a:latin typeface="Yu Gothic UI"/>
              </a:rPr>
              <a:t>2026 年 5 月 19 日   /   島田</a:t>
            </a:r>
            <a:r>
              <a:rPr lang="ja-JP" altLang="en-US" sz="1400" b="0" dirty="0">
                <a:solidFill>
                  <a:srgbClr val="888899"/>
                </a:solidFill>
                <a:latin typeface="Yu Gothic UI"/>
              </a:rPr>
              <a:t>　３</a:t>
            </a:r>
            <a:r>
              <a:rPr lang="en-US" altLang="ja-JP" sz="1400" b="0" dirty="0">
                <a:solidFill>
                  <a:srgbClr val="888899"/>
                </a:solidFill>
                <a:latin typeface="Yu Gothic UI"/>
              </a:rPr>
              <a:t>CDN</a:t>
            </a:r>
            <a:r>
              <a:rPr lang="ja-JP" altLang="en-US" sz="1400" b="0" dirty="0">
                <a:solidFill>
                  <a:srgbClr val="888899"/>
                </a:solidFill>
                <a:latin typeface="Yu Gothic UI"/>
              </a:rPr>
              <a:t>２２１８</a:t>
            </a:r>
            <a:r>
              <a:rPr sz="1400" b="0" dirty="0">
                <a:solidFill>
                  <a:srgbClr val="888899"/>
                </a:solidFill>
                <a:latin typeface="Yu Gothic UI"/>
              </a:rPr>
              <a:t>   /   </a:t>
            </a:r>
            <a:r>
              <a:rPr sz="1400" b="0" dirty="0" err="1">
                <a:solidFill>
                  <a:srgbClr val="888899"/>
                </a:solidFill>
                <a:latin typeface="Yu Gothic UI"/>
              </a:rPr>
              <a:t>小坂研究室</a:t>
            </a:r>
            <a:r>
              <a:rPr sz="1400" b="0" dirty="0">
                <a:solidFill>
                  <a:srgbClr val="888899"/>
                </a:solidFill>
                <a:latin typeface="Yu Gothic UI"/>
              </a:rPr>
              <a:t>   /   M1 </a:t>
            </a:r>
            <a:r>
              <a:rPr sz="1400" b="0" dirty="0" err="1">
                <a:solidFill>
                  <a:srgbClr val="888899"/>
                </a:solidFill>
                <a:latin typeface="Yu Gothic UI"/>
              </a:rPr>
              <a:t>完了</a:t>
            </a:r>
            <a:r>
              <a:rPr sz="1400" b="0" dirty="0">
                <a:solidFill>
                  <a:srgbClr val="888899"/>
                </a:solidFill>
                <a:latin typeface="Yu Gothic UI"/>
              </a:rPr>
              <a:t> + M2 </a:t>
            </a:r>
            <a:r>
              <a:rPr sz="1400" b="0" dirty="0" err="1">
                <a:solidFill>
                  <a:srgbClr val="888899"/>
                </a:solidFill>
                <a:latin typeface="Yu Gothic UI"/>
              </a:rPr>
              <a:t>中盤</a:t>
            </a:r>
            <a:endParaRPr sz="1400" b="0" dirty="0">
              <a:solidFill>
                <a:srgbClr val="888899"/>
              </a:solidFill>
              <a:latin typeface="Yu Gothic UI"/>
            </a:endParaRPr>
          </a:p>
        </p:txBody>
      </p:sp>
      <p:pic>
        <p:nvPicPr>
          <p:cNvPr id="12" name="Picture 11" descr="eggybot_view_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914400"/>
            <a:ext cx="3840480" cy="3840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0" y="4892040"/>
            <a:ext cx="38404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F1F2E"/>
                </a:solidFill>
                <a:latin typeface="Yu Gothic UI"/>
              </a:rPr>
              <a:t>「EGGYBOT (エッグボット)」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349240"/>
            <a:ext cx="38404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555566"/>
                </a:solidFill>
                <a:latin typeface="Yu Gothic UI"/>
              </a:rPr>
              <a:t>本作の操作キャラ (4 色展開)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852160"/>
            <a:ext cx="731520" cy="411480"/>
          </a:xfrm>
          <a:prstGeom prst="roundRect">
            <a:avLst>
              <a:gd name="adj" fmla="val 50000"/>
            </a:avLst>
          </a:prstGeom>
          <a:solidFill>
            <a:srgbClr val="FF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281159" y="5852160"/>
            <a:ext cx="731520" cy="411480"/>
          </a:xfrm>
          <a:prstGeom prst="roundRect">
            <a:avLst>
              <a:gd name="adj" fmla="val 50000"/>
            </a:avLst>
          </a:prstGeom>
          <a:solidFill>
            <a:srgbClr val="4A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49840" y="5852160"/>
            <a:ext cx="731520" cy="411480"/>
          </a:xfrm>
          <a:prstGeom prst="roundRect">
            <a:avLst>
              <a:gd name="adj" fmla="val 50000"/>
            </a:avLst>
          </a:prstGeom>
          <a:solidFill>
            <a:srgbClr val="6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1018519" y="5852160"/>
            <a:ext cx="731520" cy="411480"/>
          </a:xfrm>
          <a:prstGeom prst="roundRect">
            <a:avLst>
              <a:gd name="adj" fmla="val 50000"/>
            </a:avLst>
          </a:prstGeom>
          <a:solidFill>
            <a:srgbClr val="FFC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338560" y="6565392"/>
            <a:ext cx="777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8899"/>
                </a:solidFill>
                <a:latin typeface="Yu Gothic U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Yu Gothic UI"/>
              </a:rPr>
              <a:t>どんなゲーム?  ―  「見た目カオスでも勝つのは上手いやつ」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FF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2743200" cy="2286000"/>
          </a:xfrm>
          <a:prstGeom prst="roundRect">
            <a:avLst>
              <a:gd name="adj" fmla="val 10000"/>
            </a:avLst>
          </a:prstGeom>
          <a:solidFill>
            <a:srgbClr val="FF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2743200" cy="10058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FF5C8D"/>
                </a:solidFill>
                <a:latin typeface="Yu Gothic UI"/>
              </a:rPr>
              <a:t>2〜4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27432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1F1F2E"/>
                </a:solidFill>
                <a:latin typeface="Yu Gothic UI"/>
              </a:rPr>
              <a:t>人数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33472"/>
            <a:ext cx="27432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555566"/>
                </a:solidFill>
                <a:latin typeface="Yu Gothic UI"/>
              </a:rPr>
              <a:t>友達とオンライン対戦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555566"/>
                </a:solidFill>
                <a:latin typeface="Yu Gothic UI"/>
              </a:rPr>
              <a:t>(PC・Steam 配信予定)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005840"/>
            <a:ext cx="2743200" cy="2286000"/>
          </a:xfrm>
          <a:prstGeom prst="roundRect">
            <a:avLst>
              <a:gd name="adj" fmla="val 10000"/>
            </a:avLst>
          </a:prstGeom>
          <a:solidFill>
            <a:srgbClr val="EC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46120" y="1143000"/>
            <a:ext cx="2743200" cy="10058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FF5C8D"/>
                </a:solidFill>
                <a:latin typeface="Yu Gothic UI"/>
              </a:rPr>
              <a:t>8 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194560"/>
            <a:ext cx="27432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1F1F2E"/>
                </a:solidFill>
                <a:latin typeface="Yu Gothic UI"/>
              </a:rPr>
              <a:t>1 試合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633472"/>
            <a:ext cx="27432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555566"/>
                </a:solidFill>
                <a:latin typeface="Yu Gothic UI"/>
              </a:rPr>
              <a:t>90 秒 × 4 ラウンド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555566"/>
                </a:solidFill>
                <a:latin typeface="Yu Gothic UI"/>
              </a:rPr>
              <a:t>+ ドラフト + リザルト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005840"/>
            <a:ext cx="2743200" cy="2286000"/>
          </a:xfrm>
          <a:prstGeom prst="roundRect">
            <a:avLst>
              <a:gd name="adj" fmla="val 10000"/>
            </a:avLst>
          </a:prstGeom>
          <a:solidFill>
            <a:srgbClr val="FFF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1143000"/>
            <a:ext cx="2743200" cy="10058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FF5C8D"/>
                </a:solidFill>
                <a:latin typeface="Yu Gothic UI"/>
              </a:rPr>
              <a:t>4 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194560"/>
            <a:ext cx="27432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1F1F2E"/>
                </a:solidFill>
                <a:latin typeface="Yu Gothic UI"/>
              </a:rPr>
              <a:t>ミニゲーム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633472"/>
            <a:ext cx="27432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555566"/>
                </a:solidFill>
                <a:latin typeface="Yu Gothic UI"/>
              </a:rPr>
              <a:t>縮む島 / 爆弾鬼 /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555566"/>
                </a:solidFill>
                <a:latin typeface="Yu Gothic UI"/>
              </a:rPr>
              <a:t>しっぽ狩り (バトル/逃走)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005840"/>
            <a:ext cx="2743200" cy="2286000"/>
          </a:xfrm>
          <a:prstGeom prst="roundRect">
            <a:avLst>
              <a:gd name="adj" fmla="val 10000"/>
            </a:avLst>
          </a:prstGeom>
          <a:solidFill>
            <a:srgbClr val="FF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06840" y="1143000"/>
            <a:ext cx="2743200" cy="10058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FF5C8D"/>
                </a:solidFill>
                <a:latin typeface="Yu Gothic UI"/>
              </a:rPr>
              <a:t>10 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194560"/>
            <a:ext cx="27432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1F1F2E"/>
                </a:solidFill>
                <a:latin typeface="Yu Gothic UI"/>
              </a:rPr>
              <a:t>スキル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633472"/>
            <a:ext cx="27432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555566"/>
                </a:solidFill>
                <a:latin typeface="Yu Gothic UI"/>
              </a:rPr>
              <a:t>ダッシュ / 爆弾 / 盾 など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555566"/>
                </a:solidFill>
                <a:latin typeface="Yu Gothic UI"/>
              </a:rPr>
              <a:t>ドラフトで選んで重ねがけ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474720"/>
            <a:ext cx="11475720" cy="1280160"/>
          </a:xfrm>
          <a:prstGeom prst="roundRect">
            <a:avLst>
              <a:gd name="adj" fmla="val 5000"/>
            </a:avLst>
          </a:prstGeom>
          <a:solidFill>
            <a:srgbClr val="2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566160"/>
            <a:ext cx="29260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C23C"/>
                </a:solidFill>
                <a:latin typeface="Yu Gothic UI"/>
              </a:rPr>
              <a:t>「ドラフト」とは?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977639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FFFFFF"/>
                </a:solidFill>
                <a:latin typeface="Yu Gothic UI"/>
              </a:rPr>
              <a:t>ラウンドが終わるたびに「次に使うスキル」を 5 秒で 1 つ選ぶ。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FFFFFF"/>
                </a:solidFill>
                <a:latin typeface="Yu Gothic UI"/>
              </a:rPr>
              <a:t>同じスキルを重ねると効果アップ。組み合わせで「コンボ」も発動 → 毎試合違うビルドが組める。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937760"/>
            <a:ext cx="7589520" cy="1554480"/>
          </a:xfrm>
          <a:prstGeom prst="roundRect">
            <a:avLst>
              <a:gd name="adj" fmla="val 5000"/>
            </a:avLst>
          </a:prstGeom>
          <a:solidFill>
            <a:srgbClr val="FF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029200"/>
            <a:ext cx="73152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5C8D"/>
                </a:solidFill>
                <a:latin typeface="Yu Gothic UI"/>
              </a:rPr>
              <a:t>開発体制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440680"/>
            <a:ext cx="73152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1F2E"/>
                </a:solidFill>
                <a:latin typeface="Yu Gothic UI"/>
              </a:rPr>
              <a:t>1 人開発  /  2026 年 4 月 〜 9 月  /  Unity というゲームエンジン使用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1F2E"/>
                </a:solidFill>
                <a:latin typeface="Yu Gothic UI"/>
              </a:rPr>
              <a:t>実装サポート = Claude (AI アシスタント) と二人三脚で進行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4937760"/>
            <a:ext cx="3749039" cy="1554480"/>
          </a:xfrm>
          <a:prstGeom prst="roundRect">
            <a:avLst>
              <a:gd name="adj" fmla="val 5000"/>
            </a:avLst>
          </a:prstGeom>
          <a:solidFill>
            <a:srgbClr val="FF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0" y="5029200"/>
            <a:ext cx="3566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C23C"/>
                </a:solidFill>
                <a:latin typeface="Yu Gothic UI"/>
              </a:rPr>
              <a:t>今ここ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440680"/>
            <a:ext cx="3566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Yu Gothic UI"/>
              </a:rPr>
              <a:t>M2 中盤 (5 月)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943600"/>
            <a:ext cx="3566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Yu Gothic UI"/>
              </a:rPr>
              <a:t>M1 (4月: 基盤) 完了 → M2 で操作とカメラを磨く段階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565392"/>
            <a:ext cx="777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8899"/>
                </a:solidFill>
                <a:latin typeface="Yu Gothic U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Yu Gothic UI"/>
              </a:rPr>
              <a:t>今月できたこと  ―  ひとことで言うと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FF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11475720" cy="1280160"/>
          </a:xfrm>
          <a:prstGeom prst="roundRect">
            <a:avLst>
              <a:gd name="adj" fmla="val 5000"/>
            </a:avLst>
          </a:prstGeom>
          <a:solidFill>
            <a:srgbClr val="FF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75720" cy="12801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 UI"/>
              </a:rPr>
              <a:t>卵キャラがオンラインで、自然に、可愛く動くようになった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468880"/>
            <a:ext cx="3749039" cy="3383280"/>
          </a:xfrm>
          <a:prstGeom prst="roundRect">
            <a:avLst>
              <a:gd name="adj" fmla="val 8000"/>
            </a:avLst>
          </a:prstGeom>
          <a:solidFill>
            <a:srgbClr val="FF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FF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77724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Yu Gothic UI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697480"/>
            <a:ext cx="2377439" cy="685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F1F2E"/>
                </a:solidFill>
                <a:latin typeface="Yu Gothic UI"/>
              </a:rPr>
              <a:t>オンラインで</a:t>
            </a:r>
          </a:p>
          <a:p>
            <a:pPr algn="l">
              <a:lnSpc>
                <a:spcPct val="110000"/>
              </a:lnSpc>
            </a:pPr>
            <a:r>
              <a:rPr sz="2100" b="1">
                <a:solidFill>
                  <a:srgbClr val="1F1F2E"/>
                </a:solidFill>
                <a:latin typeface="Yu Gothic UI"/>
              </a:rPr>
              <a:t>繋がるようになった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3246119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1F2E"/>
                </a:solidFill>
                <a:latin typeface="Yu Gothic UI"/>
              </a:rPr>
              <a:t>友達と同じ部屋に入って、互いのキャラが画面に表示されて動く。</a:t>
            </a:r>
          </a:p>
          <a:p>
            <a:pPr algn="l">
              <a:lnSpc>
                <a:spcPct val="145000"/>
              </a:lnSpc>
            </a:pPr>
            <a:endParaRPr sz="1500" b="0">
              <a:solidFill>
                <a:srgbClr val="1F1F2E"/>
              </a:solidFill>
              <a:latin typeface="Yu Gothic UI"/>
            </a:endParaRP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1F2E"/>
                </a:solidFill>
                <a:latin typeface="Yu Gothic UI"/>
              </a:rPr>
              <a:t>「縮む島」というミニゲームの試作版が動き、床が消えて落ちると同期して落下する。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468880"/>
            <a:ext cx="3749039" cy="3383280"/>
          </a:xfrm>
          <a:prstGeom prst="roundRect">
            <a:avLst>
              <a:gd name="adj" fmla="val 8000"/>
            </a:avLst>
          </a:prstGeom>
          <a:solidFill>
            <a:srgbClr val="EC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26280" y="265176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FF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2651760"/>
            <a:ext cx="77724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Yu Gothic UI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697480"/>
            <a:ext cx="2377439" cy="685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F1F2E"/>
                </a:solidFill>
                <a:latin typeface="Yu Gothic UI"/>
              </a:rPr>
              <a:t>キャラを</a:t>
            </a:r>
          </a:p>
          <a:p>
            <a:pPr algn="l">
              <a:lnSpc>
                <a:spcPct val="110000"/>
              </a:lnSpc>
            </a:pPr>
            <a:r>
              <a:rPr sz="2100" b="1">
                <a:solidFill>
                  <a:srgbClr val="1F1F2E"/>
                </a:solidFill>
                <a:latin typeface="Yu Gothic UI"/>
              </a:rPr>
              <a:t>ちゃんと動かせる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611880"/>
            <a:ext cx="3246119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1F2E"/>
                </a:solidFill>
                <a:latin typeface="Yu Gothic UI"/>
              </a:rPr>
              <a:t>キーボード・マウスでの操作を一通り作った: 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1F2E"/>
                </a:solidFill>
                <a:latin typeface="Yu Gothic UI"/>
              </a:rPr>
              <a:t>移動 / ジャンプ / ダッシュ / しゃがみ。</a:t>
            </a:r>
          </a:p>
          <a:p>
            <a:pPr algn="l">
              <a:lnSpc>
                <a:spcPct val="145000"/>
              </a:lnSpc>
            </a:pPr>
            <a:endParaRPr sz="1500" b="0">
              <a:solidFill>
                <a:srgbClr val="1F1F2E"/>
              </a:solidFill>
              <a:latin typeface="Yu Gothic UI"/>
            </a:endParaRP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1F2E"/>
                </a:solidFill>
                <a:latin typeface="Yu Gothic UI"/>
              </a:rPr>
              <a:t>カプセル形のキャラがしゃがむと、蓋が開いて頭がぴょこっと出る可愛い動き付き。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468880"/>
            <a:ext cx="3749039" cy="3383280"/>
          </a:xfrm>
          <a:prstGeom prst="roundRect">
            <a:avLst>
              <a:gd name="adj" fmla="val 8000"/>
            </a:avLst>
          </a:prstGeom>
          <a:solidFill>
            <a:srgbClr val="FFF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0" y="265176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FF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2651760"/>
            <a:ext cx="77724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Yu Gothic UI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697480"/>
            <a:ext cx="2377439" cy="685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F1F2E"/>
                </a:solidFill>
                <a:latin typeface="Yu Gothic UI"/>
              </a:rPr>
              <a:t>カメラに</a:t>
            </a:r>
          </a:p>
          <a:p>
            <a:pPr algn="l">
              <a:lnSpc>
                <a:spcPct val="110000"/>
              </a:lnSpc>
            </a:pPr>
            <a:r>
              <a:rPr sz="2100" b="1">
                <a:solidFill>
                  <a:srgbClr val="1F1F2E"/>
                </a:solidFill>
                <a:latin typeface="Yu Gothic UI"/>
              </a:rPr>
              <a:t>変な動きが無くなった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611880"/>
            <a:ext cx="3246119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1F2E"/>
                </a:solidFill>
                <a:latin typeface="Yu Gothic UI"/>
              </a:rPr>
              <a:t>カメラが床や壁に潜らない。狭い所でしゃがんで天井があると立てない。</a:t>
            </a:r>
          </a:p>
          <a:p>
            <a:pPr algn="l">
              <a:lnSpc>
                <a:spcPct val="145000"/>
              </a:lnSpc>
            </a:pPr>
            <a:endParaRPr sz="1500" b="0">
              <a:solidFill>
                <a:srgbClr val="1F1F2E"/>
              </a:solidFill>
              <a:latin typeface="Yu Gothic UI"/>
            </a:endParaRP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1F2E"/>
                </a:solidFill>
                <a:latin typeface="Yu Gothic UI"/>
              </a:rPr>
              <a:t>キャラが壁の裏に隠れたら半透明で透ける(原神とかと同じ仕組み)。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989320"/>
            <a:ext cx="11475720" cy="640080"/>
          </a:xfrm>
          <a:prstGeom prst="roundRect">
            <a:avLst>
              <a:gd name="adj" fmla="val 5000"/>
            </a:avLst>
          </a:prstGeom>
          <a:solidFill>
            <a:srgbClr val="2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5989320"/>
            <a:ext cx="1147572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C23C"/>
                </a:solidFill>
                <a:latin typeface="Yu Gothic UI"/>
              </a:rPr>
              <a:t>↓ 次のページから動画で実物を見せます (3 本)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565392"/>
            <a:ext cx="777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8899"/>
                </a:solidFill>
                <a:latin typeface="Yu Gothic U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Yu Gothic UI"/>
              </a:rPr>
              <a:t>デモ ①  ―  キーボード・マウスでキャラを動かす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FF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02_movement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5760" y="960120"/>
            <a:ext cx="7498079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217920"/>
            <a:ext cx="7498079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888899"/>
                </a:solidFill>
                <a:latin typeface="Yu Gothic UI"/>
              </a:rPr>
              <a:t>移動・ジャンプ・ダッシュの 30 秒デモ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005840"/>
            <a:ext cx="38404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5C8D"/>
                </a:solidFill>
                <a:latin typeface="Yu Gothic UI"/>
              </a:rPr>
              <a:t>何ができる?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508760"/>
            <a:ext cx="1371600" cy="457200"/>
          </a:xfrm>
          <a:prstGeom prst="roundRect">
            <a:avLst>
              <a:gd name="adj" fmla="val 30000"/>
            </a:avLst>
          </a:prstGeom>
          <a:solidFill>
            <a:srgbClr val="FF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92440" y="1508760"/>
            <a:ext cx="13716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Yu Gothic UI"/>
              </a:rPr>
              <a:t>WASD キー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508760"/>
            <a:ext cx="237744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F1F2E"/>
                </a:solidFill>
                <a:latin typeface="Yu Gothic UI"/>
              </a:rPr>
              <a:t>前後左右に走る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103120"/>
            <a:ext cx="1371600" cy="457200"/>
          </a:xfrm>
          <a:prstGeom prst="roundRect">
            <a:avLst>
              <a:gd name="adj" fmla="val 30000"/>
            </a:avLst>
          </a:prstGeom>
          <a:solidFill>
            <a:srgbClr val="FF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2103120"/>
            <a:ext cx="13716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Yu Gothic UI"/>
              </a:rPr>
              <a:t>マウス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103120"/>
            <a:ext cx="237744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F1F2E"/>
                </a:solidFill>
                <a:latin typeface="Yu Gothic UI"/>
              </a:rPr>
              <a:t>カメラを回す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697479"/>
            <a:ext cx="1371600" cy="457200"/>
          </a:xfrm>
          <a:prstGeom prst="roundRect">
            <a:avLst>
              <a:gd name="adj" fmla="val 30000"/>
            </a:avLst>
          </a:prstGeom>
          <a:solidFill>
            <a:srgbClr val="FF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2697479"/>
            <a:ext cx="13716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Yu Gothic UI"/>
              </a:rPr>
              <a:t>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697479"/>
            <a:ext cx="237744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F1F2E"/>
                </a:solidFill>
                <a:latin typeface="Yu Gothic UI"/>
              </a:rPr>
              <a:t>ジャンプ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3291839"/>
            <a:ext cx="1371600" cy="457200"/>
          </a:xfrm>
          <a:prstGeom prst="roundRect">
            <a:avLst>
              <a:gd name="adj" fmla="val 30000"/>
            </a:avLst>
          </a:prstGeom>
          <a:solidFill>
            <a:srgbClr val="FF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92440" y="3291839"/>
            <a:ext cx="13716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Yu Gothic UI"/>
              </a:rPr>
              <a:t>Ctrl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291839"/>
            <a:ext cx="237744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F1F2E"/>
                </a:solidFill>
                <a:latin typeface="Yu Gothic UI"/>
              </a:rPr>
              <a:t>ダッシュ (速くなる)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886200"/>
            <a:ext cx="1371600" cy="457200"/>
          </a:xfrm>
          <a:prstGeom prst="roundRect">
            <a:avLst>
              <a:gd name="adj" fmla="val 30000"/>
            </a:avLst>
          </a:prstGeom>
          <a:solidFill>
            <a:srgbClr val="FF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92440" y="3886200"/>
            <a:ext cx="13716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Yu Gothic UI"/>
              </a:rPr>
              <a:t>Shift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886200"/>
            <a:ext cx="237744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F1F2E"/>
                </a:solidFill>
                <a:latin typeface="Yu Gothic UI"/>
              </a:rPr>
              <a:t>しゃがむ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4709160"/>
            <a:ext cx="3840480" cy="1783080"/>
          </a:xfrm>
          <a:prstGeom prst="roundRect">
            <a:avLst>
              <a:gd name="adj" fmla="val 5000"/>
            </a:avLst>
          </a:prstGeom>
          <a:solidFill>
            <a:srgbClr val="FF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4754880"/>
            <a:ext cx="3657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5C8D"/>
                </a:solidFill>
                <a:latin typeface="Yu Gothic UI"/>
              </a:rPr>
              <a:t>裏で工夫したこと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120640"/>
            <a:ext cx="365760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1F2E"/>
                </a:solidFill>
                <a:latin typeface="Yu Gothic UI"/>
              </a:rPr>
              <a:t>走っても卵がフラフラしない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1F2E"/>
                </a:solidFill>
                <a:latin typeface="Yu Gothic UI"/>
              </a:rPr>
              <a:t>(腕や体のブレを抑える仕組みを自作)</a:t>
            </a:r>
          </a:p>
          <a:p>
            <a:pPr algn="l">
              <a:lnSpc>
                <a:spcPct val="140000"/>
              </a:lnSpc>
            </a:pPr>
            <a:endParaRPr sz="1200" b="0">
              <a:solidFill>
                <a:srgbClr val="1F1F2E"/>
              </a:solidFill>
              <a:latin typeface="Yu Gothic UI"/>
            </a:endParaRP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1F2E"/>
                </a:solidFill>
                <a:latin typeface="Yu Gothic UI"/>
              </a:rPr>
              <a:t>カメラの向きと連動して進む方向が変わる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565392"/>
            <a:ext cx="777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8899"/>
                </a:solidFill>
                <a:latin typeface="Yu Gothic UI"/>
              </a:rPr>
              <a:t>4 / 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Yu Gothic UI"/>
              </a:rPr>
              <a:t>デモ ②  ―  しゃがみ &amp; 立ち上がり (蓋の開閉アニメ)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FF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01_crouch_stand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5760" y="960120"/>
            <a:ext cx="7498079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217920"/>
            <a:ext cx="7498079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888899"/>
                </a:solidFill>
                <a:latin typeface="Yu Gothic UI"/>
              </a:rPr>
              <a:t>Shift キーでしゃがむ / 離すと立ち上がる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005840"/>
            <a:ext cx="38404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5C8D"/>
                </a:solidFill>
                <a:latin typeface="Yu Gothic UI"/>
              </a:rPr>
              <a:t>カプセル開閉ギミック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554480"/>
            <a:ext cx="384048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1F2E"/>
                </a:solidFill>
                <a:latin typeface="Yu Gothic UI"/>
              </a:rPr>
              <a:t>カプセル型 (ガチャポン) のキャラ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1F2E"/>
                </a:solidFill>
                <a:latin typeface="Yu Gothic UI"/>
              </a:rPr>
              <a:t>なので「蓋を開けて頭が出る」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1F2E"/>
                </a:solidFill>
                <a:latin typeface="Yu Gothic UI"/>
              </a:rPr>
              <a:t>アニメを自作。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926080"/>
            <a:ext cx="3840480" cy="3200400"/>
          </a:xfrm>
          <a:prstGeom prst="roundRect">
            <a:avLst>
              <a:gd name="adj" fmla="val 5000"/>
            </a:avLst>
          </a:prstGeom>
          <a:solidFill>
            <a:srgbClr val="EC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2971800"/>
            <a:ext cx="3657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5C8D"/>
                </a:solidFill>
                <a:latin typeface="Yu Gothic UI"/>
              </a:rPr>
              <a:t>しゃがみの動き 4 段階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3832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338328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Yu Gothic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3383280"/>
            <a:ext cx="306324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1F2E"/>
                </a:solidFill>
                <a:latin typeface="Yu Gothic UI"/>
              </a:rPr>
              <a:t>ぴょん!  頭が上に飛ぶ + 蓋オープン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023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40233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Yu Gothic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4023360"/>
            <a:ext cx="306324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1F2E"/>
                </a:solidFill>
                <a:latin typeface="Yu Gothic UI"/>
              </a:rPr>
              <a:t>頂点でちょっと止まる (タメ)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663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466344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Yu Gothic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4663440"/>
            <a:ext cx="306324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1F2E"/>
                </a:solidFill>
                <a:latin typeface="Yu Gothic UI"/>
              </a:rPr>
              <a:t>スポン!  頭が落ちる + 蓋同時に閉まる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5303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530352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Yu Gothic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5303520"/>
            <a:ext cx="306324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1F2E"/>
                </a:solidFill>
                <a:latin typeface="Yu Gothic UI"/>
              </a:rPr>
              <a:t>蓋がバウンドして反動 (-8° → +5° → 0°)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565392"/>
            <a:ext cx="777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8899"/>
                </a:solidFill>
                <a:latin typeface="Yu Gothic UI"/>
              </a:rPr>
              <a:t>5 / 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Yu Gothic UI"/>
              </a:rPr>
              <a:t>デモ ③  ―  カメラの工夫 (床に潜らない・天井で頭ぶつける)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FF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03_camera_ceiling_block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5760" y="960120"/>
            <a:ext cx="7498079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217920"/>
            <a:ext cx="7498079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888899"/>
                </a:solidFill>
                <a:latin typeface="Yu Gothic UI"/>
              </a:rPr>
              <a:t>カメラを下に向けると床手前で止まる / 天井下でしゃがむと立てない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005840"/>
            <a:ext cx="38404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5C8D"/>
                </a:solidFill>
                <a:latin typeface="Yu Gothic UI"/>
              </a:rPr>
              <a:t>3 つの仕組み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554480"/>
            <a:ext cx="3840480" cy="1508760"/>
          </a:xfrm>
          <a:prstGeom prst="roundRect">
            <a:avLst>
              <a:gd name="adj" fmla="val 5000"/>
            </a:avLst>
          </a:prstGeom>
          <a:solidFill>
            <a:srgbClr val="FF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0" y="1645920"/>
            <a:ext cx="502920" cy="502920"/>
          </a:xfrm>
          <a:prstGeom prst="roundRect">
            <a:avLst>
              <a:gd name="adj" fmla="val 40000"/>
            </a:avLst>
          </a:prstGeom>
          <a:solidFill>
            <a:srgbClr val="FF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5029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Yu Gothic U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645920"/>
            <a:ext cx="30175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1F2E"/>
                </a:solidFill>
                <a:latin typeface="Yu Gothic UI"/>
              </a:rPr>
              <a:t>床に潜らない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40280"/>
            <a:ext cx="365760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F1F2E"/>
                </a:solidFill>
                <a:latin typeface="Yu Gothic UI"/>
              </a:rPr>
              <a:t>カメラを下に向けすぎても、床に当たる手前で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1F1F2E"/>
                </a:solidFill>
                <a:latin typeface="Yu Gothic UI"/>
              </a:rPr>
              <a:t>自動的に止まる (常時計算)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3182112"/>
            <a:ext cx="3840480" cy="1508760"/>
          </a:xfrm>
          <a:prstGeom prst="roundRect">
            <a:avLst>
              <a:gd name="adj" fmla="val 5000"/>
            </a:avLst>
          </a:prstGeom>
          <a:solidFill>
            <a:srgbClr val="FF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0" y="3273552"/>
            <a:ext cx="502920" cy="502920"/>
          </a:xfrm>
          <a:prstGeom prst="roundRect">
            <a:avLst>
              <a:gd name="adj" fmla="val 40000"/>
            </a:avLst>
          </a:prstGeom>
          <a:solidFill>
            <a:srgbClr val="FF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3273552"/>
            <a:ext cx="5029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Yu Gothic U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273552"/>
            <a:ext cx="30175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1F2E"/>
                </a:solidFill>
                <a:latin typeface="Yu Gothic UI"/>
              </a:rPr>
              <a:t>壁裏で半透明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867912"/>
            <a:ext cx="365760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F1F2E"/>
                </a:solidFill>
                <a:latin typeface="Yu Gothic UI"/>
              </a:rPr>
              <a:t>壁の向こうにキャラが行ったら、ドット柄で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1F1F2E"/>
                </a:solidFill>
                <a:latin typeface="Yu Gothic UI"/>
              </a:rPr>
              <a:t>透けて見える (原神・モンハンと同じ仕組み)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4809744"/>
            <a:ext cx="3840480" cy="1508760"/>
          </a:xfrm>
          <a:prstGeom prst="roundRect">
            <a:avLst>
              <a:gd name="adj" fmla="val 5000"/>
            </a:avLst>
          </a:prstGeom>
          <a:solidFill>
            <a:srgbClr val="FF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29600" y="4901183"/>
            <a:ext cx="502920" cy="502920"/>
          </a:xfrm>
          <a:prstGeom prst="roundRect">
            <a:avLst>
              <a:gd name="adj" fmla="val 40000"/>
            </a:avLst>
          </a:prstGeom>
          <a:solidFill>
            <a:srgbClr val="FF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4901183"/>
            <a:ext cx="5029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Yu Gothic U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901183"/>
            <a:ext cx="30175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1F2E"/>
                </a:solidFill>
                <a:latin typeface="Yu Gothic UI"/>
              </a:rPr>
              <a:t>天井で頭ぶつけ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495544"/>
            <a:ext cx="365760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F1F2E"/>
                </a:solidFill>
                <a:latin typeface="Yu Gothic UI"/>
              </a:rPr>
              <a:t>低い天井の下でしゃがんで、立ち上がろうと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1F1F2E"/>
                </a:solidFill>
                <a:latin typeface="Yu Gothic UI"/>
              </a:rPr>
              <a:t>したら頭が当たって立てない (反動付き)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565392"/>
            <a:ext cx="777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8899"/>
                </a:solidFill>
                <a:latin typeface="Yu Gothic UI"/>
              </a:rPr>
              <a:t>6 / 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Yu Gothic UI"/>
              </a:rPr>
              <a:t>良かったこと  ―  5 月「やってよかった」5 つ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FF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75720" cy="1078992"/>
          </a:xfrm>
          <a:prstGeom prst="rect">
            <a:avLst/>
          </a:prstGeom>
          <a:solidFill>
            <a:srgbClr val="FF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005840" cy="1078992"/>
          </a:xfrm>
          <a:prstGeom prst="rect">
            <a:avLst/>
          </a:prstGeom>
          <a:solidFill>
            <a:srgbClr val="3C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005840" cy="10789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033272"/>
            <a:ext cx="10058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F1F2E"/>
                </a:solidFill>
                <a:latin typeface="Yu Gothic UI"/>
              </a:rPr>
              <a:t>オンライン対戦の基盤が出来た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63040"/>
            <a:ext cx="1005840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566"/>
                </a:solidFill>
                <a:latin typeface="Yu Gothic UI"/>
              </a:rPr>
              <a:t>ネット越しに 2 人が同じ画面で遊べるところまで完成。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566"/>
                </a:solidFill>
                <a:latin typeface="Yu Gothic UI"/>
              </a:rPr>
              <a:t>業界標準のやり方 (まずローカル → 後でネット越し) で着実に進めた。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75688"/>
            <a:ext cx="11475720" cy="1078992"/>
          </a:xfrm>
          <a:prstGeom prst="rect">
            <a:avLst/>
          </a:prstGeom>
          <a:solidFill>
            <a:srgbClr val="FF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075688"/>
            <a:ext cx="1005840" cy="1078992"/>
          </a:xfrm>
          <a:prstGeom prst="rect">
            <a:avLst/>
          </a:prstGeom>
          <a:solidFill>
            <a:srgbClr val="3C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075688"/>
            <a:ext cx="1005840" cy="10789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148840"/>
            <a:ext cx="10058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F1F2E"/>
                </a:solidFill>
                <a:latin typeface="Yu Gothic UI"/>
              </a:rPr>
              <a:t>カメラの質を AAA タイトル並みに前倒し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578608"/>
            <a:ext cx="1005840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566"/>
                </a:solidFill>
                <a:latin typeface="Yu Gothic UI"/>
              </a:rPr>
              <a:t>本来 6 月予定だった「キャラが壁裏で透ける」仕組みを 5 月に実装。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566"/>
                </a:solidFill>
                <a:latin typeface="Yu Gothic UI"/>
              </a:rPr>
              <a:t>原神・モンハン・FF14 と同じやり方 (ドット柄での半透明) を採用。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91256"/>
            <a:ext cx="11475720" cy="1078992"/>
          </a:xfrm>
          <a:prstGeom prst="rect">
            <a:avLst/>
          </a:prstGeom>
          <a:solidFill>
            <a:srgbClr val="FF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191256"/>
            <a:ext cx="1005840" cy="1078992"/>
          </a:xfrm>
          <a:prstGeom prst="rect">
            <a:avLst/>
          </a:prstGeom>
          <a:solidFill>
            <a:srgbClr val="3C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3191256"/>
            <a:ext cx="1005840" cy="10789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264408"/>
            <a:ext cx="10058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F1F2E"/>
                </a:solidFill>
                <a:latin typeface="Yu Gothic UI"/>
              </a:rPr>
              <a:t>「失敗しないための知識ベース」を作った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694176"/>
            <a:ext cx="1005840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566"/>
                </a:solidFill>
                <a:latin typeface="Yu Gothic UI"/>
              </a:rPr>
              <a:t>今までの試行錯誤を文書化 (レシピ / 落とし穴 / コード雛形)。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566"/>
                </a:solidFill>
                <a:latin typeface="Yu Gothic UI"/>
              </a:rPr>
              <a:t>次のプロジェクトでも同じ手順で AI に作業させられるようになった。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306824"/>
            <a:ext cx="11475720" cy="1078992"/>
          </a:xfrm>
          <a:prstGeom prst="rect">
            <a:avLst/>
          </a:prstGeom>
          <a:solidFill>
            <a:srgbClr val="FF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4306824"/>
            <a:ext cx="1005840" cy="1078992"/>
          </a:xfrm>
          <a:prstGeom prst="rect">
            <a:avLst/>
          </a:prstGeom>
          <a:solidFill>
            <a:srgbClr val="3C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4306824"/>
            <a:ext cx="1005840" cy="10789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379976"/>
            <a:ext cx="10058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F1F2E"/>
                </a:solidFill>
                <a:latin typeface="Yu Gothic UI"/>
              </a:rPr>
              <a:t>AI 同士でコードレビューする仕組み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09744"/>
            <a:ext cx="1005840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566"/>
                </a:solidFill>
                <a:latin typeface="Yu Gothic UI"/>
              </a:rPr>
              <a:t>コードを書いたら、別の AI に「ここダメじゃない?」とチェックさせる。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566"/>
                </a:solidFill>
                <a:latin typeface="Yu Gothic UI"/>
              </a:rPr>
              <a:t>人の目を通さずに、commit 前に品質を上げる流れを定着。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422392"/>
            <a:ext cx="11475720" cy="1078992"/>
          </a:xfrm>
          <a:prstGeom prst="rect">
            <a:avLst/>
          </a:prstGeom>
          <a:solidFill>
            <a:srgbClr val="FF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5422392"/>
            <a:ext cx="1005840" cy="1078992"/>
          </a:xfrm>
          <a:prstGeom prst="rect">
            <a:avLst/>
          </a:prstGeom>
          <a:solidFill>
            <a:srgbClr val="3C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5422392"/>
            <a:ext cx="1005840" cy="10789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 U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495544"/>
            <a:ext cx="10058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F1F2E"/>
                </a:solidFill>
                <a:latin typeface="Yu Gothic UI"/>
              </a:rPr>
              <a:t>「気持ちいい動き」の作り方を一般化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925312"/>
            <a:ext cx="1005840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566"/>
                </a:solidFill>
                <a:latin typeface="Yu Gothic UI"/>
              </a:rPr>
              <a:t>一瞬パッと反応 + その後ぬるっと、という普遍ルールを発見。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566"/>
                </a:solidFill>
                <a:latin typeface="Yu Gothic UI"/>
              </a:rPr>
              <a:t>ダメージ表示・カメラ揺れ・ボタン押し全てに応用可能。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565392"/>
            <a:ext cx="777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8899"/>
                </a:solidFill>
                <a:latin typeface="Yu Gothic U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Yu Gothic UI"/>
              </a:rPr>
              <a:t>反省  ―  うまくいかなかった 5 つ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FF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75720" cy="1078992"/>
          </a:xfrm>
          <a:prstGeom prst="rect">
            <a:avLst/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005840" cy="1078992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005840" cy="10789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033272"/>
            <a:ext cx="10058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F1F2E"/>
                </a:solidFill>
                <a:latin typeface="Yu Gothic UI"/>
              </a:rPr>
              <a:t>キャラの黒い縁取り、2 回失敗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63040"/>
            <a:ext cx="1005840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566"/>
                </a:solidFill>
                <a:latin typeface="Yu Gothic UI"/>
              </a:rPr>
              <a:t>アニメ調にする「黒の輪郭線」を 2 種類の方法で試したが両方失敗。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566"/>
                </a:solidFill>
                <a:latin typeface="Yu Gothic UI"/>
              </a:rPr>
              <a:t>1 回目: 線の濃さ調整が AI 単独で詰められず。2 回目: 拾った OSS が Unity 6 で動かず。明日 3 度目の挑戦予定。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75688"/>
            <a:ext cx="11475720" cy="1078992"/>
          </a:xfrm>
          <a:prstGeom prst="rect">
            <a:avLst/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075688"/>
            <a:ext cx="1005840" cy="1078992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075688"/>
            <a:ext cx="1005840" cy="10789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148840"/>
            <a:ext cx="10058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F1F2E"/>
                </a:solidFill>
                <a:latin typeface="Yu Gothic UI"/>
              </a:rPr>
              <a:t>Unity 6.4 (最新版) の仕様変更に翻弄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578608"/>
            <a:ext cx="1005840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566"/>
                </a:solidFill>
                <a:latin typeface="Yu Gothic UI"/>
              </a:rPr>
              <a:t>最新 Unity で、これまで動いてた拡張機能が動かないケース複数。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566"/>
                </a:solidFill>
                <a:latin typeface="Yu Gothic UI"/>
              </a:rPr>
              <a:t>古い書き方をしてる OSS は軒並み Unity 6 で死んでた。罠を文書化して次回回避。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91256"/>
            <a:ext cx="11475720" cy="1078992"/>
          </a:xfrm>
          <a:prstGeom prst="rect">
            <a:avLst/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191256"/>
            <a:ext cx="1005840" cy="1078992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3191256"/>
            <a:ext cx="1005840" cy="10789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264408"/>
            <a:ext cx="10058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F1F2E"/>
                </a:solidFill>
                <a:latin typeface="Yu Gothic UI"/>
              </a:rPr>
              <a:t>効果音 / BGM が後回しに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694176"/>
            <a:ext cx="1005840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566"/>
                </a:solidFill>
                <a:latin typeface="Yu Gothic UI"/>
              </a:rPr>
              <a:t>カメラ酔い対策を優先したので、音周りが手付かず。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566"/>
                </a:solidFill>
                <a:latin typeface="Yu Gothic UI"/>
              </a:rPr>
              <a:t>素材リスト・接続手順は記録済、来週着手予定。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306824"/>
            <a:ext cx="11475720" cy="1078992"/>
          </a:xfrm>
          <a:prstGeom prst="rect">
            <a:avLst/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4306824"/>
            <a:ext cx="1005840" cy="1078992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4306824"/>
            <a:ext cx="1005840" cy="10789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379976"/>
            <a:ext cx="10058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F1F2E"/>
                </a:solidFill>
                <a:latin typeface="Yu Gothic UI"/>
              </a:rPr>
              <a:t>開発ルール (並列調査 / AI レビュー) を 2 回端折った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09744"/>
            <a:ext cx="1005840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566"/>
                </a:solidFill>
                <a:latin typeface="Yu Gothic UI"/>
              </a:rPr>
              <a:t>急いで実装に走った時に「ちゃんと調べてから」と本人 (User) に 2 回指摘された。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566"/>
                </a:solidFill>
                <a:latin typeface="Yu Gothic UI"/>
              </a:rPr>
              <a:t>ルール忘れを防ぐため、作業前のチェック step を作業フローに組み込み中。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422392"/>
            <a:ext cx="11475720" cy="1078992"/>
          </a:xfrm>
          <a:prstGeom prst="rect">
            <a:avLst/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5422392"/>
            <a:ext cx="1005840" cy="1078992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5422392"/>
            <a:ext cx="1005840" cy="10789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 U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495544"/>
            <a:ext cx="10058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F1F2E"/>
                </a:solidFill>
                <a:latin typeface="Yu Gothic UI"/>
              </a:rPr>
              <a:t>カメラ感度の調整に時間溶かした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925312"/>
            <a:ext cx="1005840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566"/>
                </a:solidFill>
                <a:latin typeface="Yu Gothic UI"/>
              </a:rPr>
              <a:t>「マウスをゆっくり動かすと感度が高い、早く動かすと遅い」現象。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5566"/>
                </a:solidFill>
                <a:latin typeface="Yu Gothic UI"/>
              </a:rPr>
              <a:t>調整を盛り過ぎてた → 全部外したらキレイになった。「シンプル is best」を再確認。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565392"/>
            <a:ext cx="777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8899"/>
                </a:solidFill>
                <a:latin typeface="Yu Gothic U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Yu Gothic UI"/>
              </a:rPr>
              <a:t>数字で見る 5 月  &amp;  次のステップ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FF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56692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5C8D"/>
                </a:solidFill>
                <a:latin typeface="Yu Gothic UI"/>
              </a:rPr>
              <a:t>5 月の活動を数字で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1828800" cy="1325880"/>
          </a:xfrm>
          <a:prstGeom prst="roundRect">
            <a:avLst>
              <a:gd name="adj" fmla="val 8000"/>
            </a:avLst>
          </a:prstGeom>
          <a:solidFill>
            <a:srgbClr val="FF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82880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5C8D"/>
                </a:solidFill>
                <a:latin typeface="Yu Gothic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18288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F1F2E"/>
                </a:solidFill>
                <a:latin typeface="Yu Gothic UI"/>
              </a:rPr>
              <a:t>コミット数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417320"/>
            <a:ext cx="1828800" cy="1325880"/>
          </a:xfrm>
          <a:prstGeom prst="roundRect">
            <a:avLst>
              <a:gd name="adj" fmla="val 8000"/>
            </a:avLst>
          </a:prstGeom>
          <a:solidFill>
            <a:srgbClr val="FF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0" y="1463040"/>
            <a:ext cx="182880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5C8D"/>
                </a:solidFill>
                <a:latin typeface="Yu Gothic U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240280"/>
            <a:ext cx="18288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F1F2E"/>
                </a:solidFill>
                <a:latin typeface="Yu Gothic UI"/>
              </a:rPr>
              <a:t>試行回数 (カメラ半透明)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417320"/>
            <a:ext cx="1828800" cy="1325880"/>
          </a:xfrm>
          <a:prstGeom prst="roundRect">
            <a:avLst>
              <a:gd name="adj" fmla="val 8000"/>
            </a:avLst>
          </a:prstGeom>
          <a:solidFill>
            <a:srgbClr val="FF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06240" y="1463040"/>
            <a:ext cx="182880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5C8D"/>
                </a:solidFill>
                <a:latin typeface="Yu Gothic U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240280"/>
            <a:ext cx="18288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F1F2E"/>
                </a:solidFill>
                <a:latin typeface="Yu Gothic UI"/>
              </a:rPr>
              <a:t>日報の本数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834640"/>
            <a:ext cx="1828800" cy="1325880"/>
          </a:xfrm>
          <a:prstGeom prst="roundRect">
            <a:avLst>
              <a:gd name="adj" fmla="val 8000"/>
            </a:avLst>
          </a:prstGeom>
          <a:solidFill>
            <a:srgbClr val="FF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2880360"/>
            <a:ext cx="182880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5C8D"/>
                </a:solidFill>
                <a:latin typeface="Yu Gothic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657600"/>
            <a:ext cx="18288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F1F2E"/>
                </a:solidFill>
                <a:latin typeface="Yu Gothic UI"/>
              </a:rPr>
              <a:t>今日撮った動画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2834640"/>
            <a:ext cx="1828800" cy="1325880"/>
          </a:xfrm>
          <a:prstGeom prst="roundRect">
            <a:avLst>
              <a:gd name="adj" fmla="val 8000"/>
            </a:avLst>
          </a:prstGeom>
          <a:solidFill>
            <a:srgbClr val="FF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86000" y="2880360"/>
            <a:ext cx="182880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5C8D"/>
                </a:solidFill>
                <a:latin typeface="Yu Gothic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657600"/>
            <a:ext cx="18288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F1F2E"/>
                </a:solidFill>
                <a:latin typeface="Yu Gothic UI"/>
              </a:rPr>
              <a:t>失敗 (黒輪郭)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2834640"/>
            <a:ext cx="1828800" cy="1325880"/>
          </a:xfrm>
          <a:prstGeom prst="roundRect">
            <a:avLst>
              <a:gd name="adj" fmla="val 8000"/>
            </a:avLst>
          </a:prstGeom>
          <a:solidFill>
            <a:srgbClr val="FF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06240" y="2880360"/>
            <a:ext cx="182880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5C8D"/>
                </a:solidFill>
                <a:latin typeface="Yu Gothic U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657600"/>
            <a:ext cx="18288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F1F2E"/>
                </a:solidFill>
                <a:latin typeface="Yu Gothic UI"/>
              </a:rPr>
              <a:t>目標未達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914400"/>
            <a:ext cx="5532120" cy="3291840"/>
          </a:xfrm>
          <a:prstGeom prst="roundRect">
            <a:avLst>
              <a:gd name="adj" fmla="val 8000"/>
            </a:avLst>
          </a:prstGeom>
          <a:solidFill>
            <a:srgbClr val="EC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1005840"/>
            <a:ext cx="52120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5C8D"/>
                </a:solidFill>
                <a:latin typeface="Yu Gothic UI"/>
              </a:rPr>
              <a:t>今週〜来週やること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508760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200"/>
              </a:spcAft>
            </a:pPr>
            <a:r>
              <a:rPr sz="1500" b="1">
                <a:solidFill>
                  <a:srgbClr val="FF5C8D"/>
                </a:solidFill>
                <a:latin typeface="Yu Gothic UI"/>
              </a:rPr>
              <a:t>● </a:t>
            </a:r>
            <a:r>
              <a:rPr sz="1500">
                <a:solidFill>
                  <a:srgbClr val="1F1F2E"/>
                </a:solidFill>
                <a:latin typeface="Yu Gothic UI"/>
              </a:rPr>
              <a:t>キャラの黒い輪郭 (3 度目の挑戦)</a:t>
            </a:r>
          </a:p>
          <a:p>
            <a:pPr>
              <a:lnSpc>
                <a:spcPct val="140000"/>
              </a:lnSpc>
              <a:spcAft>
                <a:spcPts val="200"/>
              </a:spcAft>
            </a:pPr>
            <a:r>
              <a:rPr sz="1500" b="1">
                <a:solidFill>
                  <a:srgbClr val="FF5C8D"/>
                </a:solidFill>
                <a:latin typeface="Yu Gothic UI"/>
              </a:rPr>
              <a:t>● </a:t>
            </a:r>
            <a:r>
              <a:rPr sz="1500">
                <a:solidFill>
                  <a:srgbClr val="1F1F2E"/>
                </a:solidFill>
                <a:latin typeface="Yu Gothic UI"/>
              </a:rPr>
              <a:t>走る時の砂埃・着地の輪・足跡</a:t>
            </a:r>
          </a:p>
          <a:p>
            <a:pPr>
              <a:lnSpc>
                <a:spcPct val="140000"/>
              </a:lnSpc>
              <a:spcAft>
                <a:spcPts val="200"/>
              </a:spcAft>
            </a:pPr>
            <a:r>
              <a:rPr sz="1500" b="1">
                <a:solidFill>
                  <a:srgbClr val="FF5C8D"/>
                </a:solidFill>
                <a:latin typeface="Yu Gothic UI"/>
              </a:rPr>
              <a:t>● </a:t>
            </a:r>
            <a:r>
              <a:rPr sz="1500">
                <a:solidFill>
                  <a:srgbClr val="1F1F2E"/>
                </a:solidFill>
                <a:latin typeface="Yu Gothic UI"/>
              </a:rPr>
              <a:t>ダッシュ時の演出 (画面が引き伸び)</a:t>
            </a:r>
          </a:p>
          <a:p>
            <a:pPr>
              <a:lnSpc>
                <a:spcPct val="140000"/>
              </a:lnSpc>
              <a:spcAft>
                <a:spcPts val="200"/>
              </a:spcAft>
            </a:pPr>
            <a:r>
              <a:rPr sz="1500" b="1">
                <a:solidFill>
                  <a:srgbClr val="FF5C8D"/>
                </a:solidFill>
                <a:latin typeface="Yu Gothic UI"/>
              </a:rPr>
              <a:t>● </a:t>
            </a:r>
            <a:r>
              <a:rPr sz="1500">
                <a:solidFill>
                  <a:srgbClr val="1F1F2E"/>
                </a:solidFill>
                <a:latin typeface="Yu Gothic UI"/>
              </a:rPr>
              <a:t>効果音 / BGM の組み込み</a:t>
            </a:r>
          </a:p>
          <a:p>
            <a:pPr>
              <a:lnSpc>
                <a:spcPct val="140000"/>
              </a:lnSpc>
              <a:spcAft>
                <a:spcPts val="200"/>
              </a:spcAft>
            </a:pPr>
            <a:r>
              <a:rPr sz="1500" b="1">
                <a:solidFill>
                  <a:srgbClr val="FF5C8D"/>
                </a:solidFill>
                <a:latin typeface="Yu Gothic UI"/>
              </a:rPr>
              <a:t>● </a:t>
            </a:r>
            <a:r>
              <a:rPr sz="1500">
                <a:solidFill>
                  <a:srgbClr val="1F1F2E"/>
                </a:solidFill>
                <a:latin typeface="Yu Gothic UI"/>
              </a:rPr>
              <a:t>キャラが押される時の伸び縮み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297680"/>
            <a:ext cx="5532120" cy="2194560"/>
          </a:xfrm>
          <a:prstGeom prst="roundRect">
            <a:avLst>
              <a:gd name="adj" fmla="val 8000"/>
            </a:avLst>
          </a:prstGeom>
          <a:solidFill>
            <a:srgbClr val="FFF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4389120"/>
            <a:ext cx="52120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5C8D"/>
                </a:solidFill>
                <a:latin typeface="Yu Gothic UI"/>
              </a:rPr>
              <a:t>来月 (6 月) からやること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89204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200"/>
              </a:spcAft>
            </a:pPr>
            <a:r>
              <a:rPr sz="1500" b="1">
                <a:solidFill>
                  <a:srgbClr val="FF5C8D"/>
                </a:solidFill>
                <a:latin typeface="Yu Gothic UI"/>
              </a:rPr>
              <a:t>● </a:t>
            </a:r>
            <a:r>
              <a:rPr sz="1500">
                <a:solidFill>
                  <a:srgbClr val="1F1F2E"/>
                </a:solidFill>
                <a:latin typeface="Yu Gothic UI"/>
              </a:rPr>
              <a:t>スキル 3 種実装 (ダッシュ / 弾 / 盾)</a:t>
            </a:r>
          </a:p>
          <a:p>
            <a:pPr>
              <a:lnSpc>
                <a:spcPct val="140000"/>
              </a:lnSpc>
              <a:spcAft>
                <a:spcPts val="200"/>
              </a:spcAft>
            </a:pPr>
            <a:r>
              <a:rPr sz="1500" b="1">
                <a:solidFill>
                  <a:srgbClr val="FF5C8D"/>
                </a:solidFill>
                <a:latin typeface="Yu Gothic UI"/>
              </a:rPr>
              <a:t>● </a:t>
            </a:r>
            <a:r>
              <a:rPr sz="1500">
                <a:solidFill>
                  <a:srgbClr val="1F1F2E"/>
                </a:solidFill>
                <a:latin typeface="Yu Gothic UI"/>
              </a:rPr>
              <a:t>ドラフト画面 (5 秒で選ぶ)</a:t>
            </a:r>
          </a:p>
          <a:p>
            <a:pPr>
              <a:lnSpc>
                <a:spcPct val="140000"/>
              </a:lnSpc>
              <a:spcAft>
                <a:spcPts val="200"/>
              </a:spcAft>
            </a:pPr>
            <a:r>
              <a:rPr sz="1500" b="1">
                <a:solidFill>
                  <a:srgbClr val="FF5C8D"/>
                </a:solidFill>
                <a:latin typeface="Yu Gothic UI"/>
              </a:rPr>
              <a:t>● </a:t>
            </a:r>
            <a:r>
              <a:rPr sz="1500">
                <a:solidFill>
                  <a:srgbClr val="1F1F2E"/>
                </a:solidFill>
                <a:latin typeface="Yu Gothic UI"/>
              </a:rPr>
              <a:t>4 ラウンド構造の確立</a:t>
            </a:r>
          </a:p>
          <a:p>
            <a:pPr>
              <a:lnSpc>
                <a:spcPct val="140000"/>
              </a:lnSpc>
              <a:spcAft>
                <a:spcPts val="200"/>
              </a:spcAft>
            </a:pPr>
            <a:r>
              <a:rPr sz="1500" b="1">
                <a:solidFill>
                  <a:srgbClr val="FF5C8D"/>
                </a:solidFill>
                <a:latin typeface="Yu Gothic UI"/>
              </a:rPr>
              <a:t>● </a:t>
            </a:r>
            <a:r>
              <a:rPr sz="1500">
                <a:solidFill>
                  <a:srgbClr val="1F1F2E"/>
                </a:solidFill>
                <a:latin typeface="Yu Gothic UI"/>
              </a:rPr>
              <a:t>ミニゲーム +2 種追加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6537960"/>
            <a:ext cx="1147572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C23C"/>
                </a:solidFill>
                <a:latin typeface="Yu Gothic UI"/>
              </a:rPr>
              <a:t>9 月の完成 (Steam 配信 + 外部テスト) に向けて順調に進行中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565392"/>
            <a:ext cx="777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8899"/>
                </a:solidFill>
                <a:latin typeface="Yu Gothic U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714</Words>
  <Application>Microsoft Office PowerPoint</Application>
  <PresentationFormat>ワイド画面</PresentationFormat>
  <Paragraphs>183</Paragraphs>
  <Slides>9</Slides>
  <Notes>0</Notes>
  <HiddenSlides>0</HiddenSlides>
  <MMClips>3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Yu Gothic UI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3CDN2218</cp:lastModifiedBy>
  <cp:revision>2</cp:revision>
  <dcterms:created xsi:type="dcterms:W3CDTF">2013-01-27T09:14:16Z</dcterms:created>
  <dcterms:modified xsi:type="dcterms:W3CDTF">2026-05-19T12:13:39Z</dcterms:modified>
  <cp:category/>
</cp:coreProperties>
</file>