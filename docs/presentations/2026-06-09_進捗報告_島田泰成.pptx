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E47"/>
                </a:solidFill>
                <a:latin typeface="Yu Gothic"/>
              </a:rPr>
              <a:t>ChaosDraftParty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858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AEE"/>
                </a:solidFill>
                <a:latin typeface="Yu Gothic"/>
              </a:rPr>
              <a:t>進捗報告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0D3"/>
                </a:solidFill>
                <a:latin typeface="Yu Gothic"/>
              </a:rPr>
              <a:t>2026年6月9日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492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pic>
        <p:nvPicPr>
          <p:cNvPr id="6" name="Picture 5" descr="codex_progress_2026-06-09_game_view.png"/>
          <p:cNvPicPr>
            <a:picLocks noChangeAspect="1"/>
          </p:cNvPicPr>
          <p:nvPr/>
        </p:nvPicPr>
        <p:blipFill>
          <a:blip r:embed="rId2"/>
          <a:srcRect l="24061" r="24061"/>
          <a:stretch>
            <a:fillRect/>
          </a:stretch>
        </p:blipFill>
        <p:spPr>
          <a:xfrm>
            <a:off x="5897880" y="0"/>
            <a:ext cx="6291072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0"/>
            <a:ext cx="1645920" cy="6858000"/>
          </a:xfrm>
          <a:prstGeom prst="rect">
            <a:avLst/>
          </a:prstGeom>
          <a:solidFill>
            <a:srgbClr val="1E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E47"/>
                </a:solidFill>
                <a:latin typeface="Yu Gothic"/>
              </a:rPr>
              <a:t>TODAY'S CLAIM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914400" cy="27432"/>
          </a:xfrm>
          <a:prstGeom prst="rect">
            <a:avLst/>
          </a:prstGeom>
          <a:solidFill>
            <a:srgbClr val="E87E47"/>
          </a:solidFill>
          <a:ln>
            <a:solidFill>
              <a:srgbClr val="E87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232A"/>
                </a:solidFill>
                <a:latin typeface="Yu Gothic"/>
              </a:rPr>
              <a:t>M2 の足回りを締め、M3 の遊び検証へ進める状態にした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3737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B56"/>
                </a:solidFill>
                <a:latin typeface="Yu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5166360" cy="1481328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8562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E47"/>
                </a:solidFill>
                <a:latin typeface="Yu Gothic"/>
              </a:rPr>
              <a:t>プレイ体感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25856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A"/>
                </a:solidFill>
                <a:latin typeface="Yu Gothic"/>
              </a:rPr>
              <a:t>足・顔・移動・カメラの違和感を実測ベースで修正。酔いやすい camera 演出は撤退。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3368" y="1691640"/>
            <a:ext cx="5166360" cy="1481328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2824" y="18562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E47"/>
                </a:solidFill>
                <a:latin typeface="Yu Gothic"/>
              </a:rPr>
              <a:t>縮む島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2824" y="225856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A"/>
                </a:solidFill>
                <a:latin typeface="Yu Gothic"/>
              </a:rPr>
              <a:t>平面 8x8 から、四隅・橋・中央圧力・復帰 launcher の構造へ再設計。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749039"/>
            <a:ext cx="5166360" cy="1481328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913631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E47"/>
                </a:solidFill>
                <a:latin typeface="Yu Gothic"/>
              </a:rPr>
              <a:t>見た目とVFX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1596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A"/>
                </a:solidFill>
                <a:latin typeface="Yu Gothic"/>
              </a:rPr>
              <a:t>砂埃、警告、fade、launcher、sky/post を Unity 臭が出にくい方向へ更新。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3368" y="3749039"/>
            <a:ext cx="5166360" cy="1481328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3913631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E47"/>
                </a:solidFill>
                <a:latin typeface="Yu Gothic"/>
              </a:rPr>
              <a:t>品質管理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431596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32A"/>
                </a:solidFill>
                <a:latin typeface="Yu Gothic"/>
              </a:rPr>
              <a:t>AI review loop と Codex handoff を導入。誤診の原因を RULES / docs に残した。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806440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5B56"/>
                </a:solidFill>
                <a:latin typeface="Yu Gothic"/>
              </a:rPr>
              <a:t>今日の報告では、実装量よりも「遊べる理由」と「直した理由」が伝わる構成にする。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E47"/>
                </a:solidFill>
                <a:latin typeface="Yu Gothic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914400" cy="27432"/>
          </a:xfrm>
          <a:prstGeom prst="rect">
            <a:avLst/>
          </a:prstGeom>
          <a:solidFill>
            <a:srgbClr val="E87E47"/>
          </a:solidFill>
          <a:ln>
            <a:solidFill>
              <a:srgbClr val="E87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232A"/>
                </a:solidFill>
                <a:latin typeface="Yu Gothic"/>
              </a:rPr>
              <a:t>5月後半は “見た目・操作・縮む島” の土台作りに集中した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3737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B56"/>
                </a:solidFill>
                <a:latin typeface="Yu Gothic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E87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5568" y="1915667"/>
            <a:ext cx="1499616" cy="22860"/>
          </a:xfrm>
          <a:prstGeom prst="rect">
            <a:avLst/>
          </a:prstGeom>
          <a:solidFill>
            <a:srgbClr val="CAB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E47"/>
                </a:solidFill>
                <a:latin typeface="Yu Gothic"/>
              </a:rPr>
              <a:t>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946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32A"/>
                </a:solidFill>
                <a:latin typeface="Yu Gothic"/>
              </a:rPr>
              <a:t>Foot v3e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1600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B56"/>
                </a:solidFill>
                <a:latin typeface="Yu Gothic"/>
              </a:rPr>
              <a:t>LateUpdate world clamp で足めり込みを動的解決</a:t>
            </a:r>
          </a:p>
        </p:txBody>
      </p:sp>
      <p:sp>
        <p:nvSpPr>
          <p:cNvPr id="11" name="Oval 10"/>
          <p:cNvSpPr/>
          <p:nvPr/>
        </p:nvSpPr>
        <p:spPr>
          <a:xfrm>
            <a:off x="2679191" y="1783080"/>
            <a:ext cx="292608" cy="292608"/>
          </a:xfrm>
          <a:prstGeom prst="ellipse">
            <a:avLst/>
          </a:prstGeom>
          <a:solidFill>
            <a:srgbClr val="43A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799" y="1915667"/>
            <a:ext cx="1499616" cy="22860"/>
          </a:xfrm>
          <a:prstGeom prst="rect">
            <a:avLst/>
          </a:prstGeom>
          <a:solidFill>
            <a:srgbClr val="CAB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24028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AAB1"/>
                </a:solidFill>
                <a:latin typeface="Yu Gothic"/>
              </a:rPr>
              <a:t>5/23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56946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32A"/>
                </a:solidFill>
                <a:latin typeface="Yu Gothic"/>
              </a:rPr>
              <a:t>Camera / Dust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880360"/>
            <a:ext cx="1600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B56"/>
                </a:solidFill>
                <a:latin typeface="Yu Gothic"/>
              </a:rPr>
              <a:t>ダッシュ揺れ真因を特定、砂埃を Kenney puff ベースへ</a:t>
            </a:r>
          </a:p>
        </p:txBody>
      </p:sp>
      <p:sp>
        <p:nvSpPr>
          <p:cNvPr id="16" name="Oval 15"/>
          <p:cNvSpPr/>
          <p:nvPr/>
        </p:nvSpPr>
        <p:spPr>
          <a:xfrm>
            <a:off x="4535424" y="1783080"/>
            <a:ext cx="292608" cy="292608"/>
          </a:xfrm>
          <a:prstGeom prst="ellipse">
            <a:avLst/>
          </a:prstGeom>
          <a:solidFill>
            <a:srgbClr val="43A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28032" y="1915667"/>
            <a:ext cx="1499616" cy="22860"/>
          </a:xfrm>
          <a:prstGeom prst="rect">
            <a:avLst/>
          </a:prstGeom>
          <a:solidFill>
            <a:srgbClr val="CAB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224028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AAB1"/>
                </a:solidFill>
                <a:latin typeface="Yu Gothic"/>
              </a:rPr>
              <a:t>5/24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256946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32A"/>
                </a:solidFill>
                <a:latin typeface="Yu Gothic"/>
              </a:rPr>
              <a:t>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880360"/>
            <a:ext cx="1600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B56"/>
                </a:solidFill>
                <a:latin typeface="Yu Gothic"/>
              </a:rPr>
              <a:t>Always Run + Walk modifier、半自動カメラ、カメラ reset</a:t>
            </a:r>
          </a:p>
        </p:txBody>
      </p:sp>
      <p:sp>
        <p:nvSpPr>
          <p:cNvPr id="21" name="Oval 20"/>
          <p:cNvSpPr/>
          <p:nvPr/>
        </p:nvSpPr>
        <p:spPr>
          <a:xfrm>
            <a:off x="6391656" y="1783080"/>
            <a:ext cx="292608" cy="292608"/>
          </a:xfrm>
          <a:prstGeom prst="ellipse">
            <a:avLst/>
          </a:prstGeom>
          <a:solidFill>
            <a:srgbClr val="E87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84264" y="1915667"/>
            <a:ext cx="1499616" cy="22860"/>
          </a:xfrm>
          <a:prstGeom prst="rect">
            <a:avLst/>
          </a:prstGeom>
          <a:solidFill>
            <a:srgbClr val="CAB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24028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E47"/>
                </a:solidFill>
                <a:latin typeface="Yu Gothic"/>
              </a:rPr>
              <a:t>5/25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56946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32A"/>
                </a:solidFill>
                <a:latin typeface="Yu Gothic"/>
              </a:rPr>
              <a:t>Shrinking Island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880360"/>
            <a:ext cx="1600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B56"/>
                </a:solidFill>
                <a:latin typeface="Yu Gothic"/>
              </a:rPr>
              <a:t>四隅・橋・中央・復帰 launcher の遊び構造へ再設計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1783080"/>
            <a:ext cx="292608" cy="292608"/>
          </a:xfrm>
          <a:prstGeom prst="ellipse">
            <a:avLst/>
          </a:prstGeom>
          <a:solidFill>
            <a:srgbClr val="43A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40496" y="1915667"/>
            <a:ext cx="1499616" cy="22860"/>
          </a:xfrm>
          <a:prstGeom prst="rect">
            <a:avLst/>
          </a:prstGeom>
          <a:solidFill>
            <a:srgbClr val="CAB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7" y="224028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AAB1"/>
                </a:solidFill>
                <a:latin typeface="Yu Gothic"/>
              </a:rPr>
              <a:t>6/02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7" y="256946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32A"/>
                </a:solidFill>
                <a:latin typeface="Yu Gothic"/>
              </a:rPr>
              <a:t>VFX 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7" y="2880360"/>
            <a:ext cx="1600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B56"/>
                </a:solidFill>
                <a:latin typeface="Yu Gothic"/>
              </a:rPr>
              <a:t>BouncePad / Tile warning / dissolve の実装引継ぎ</a:t>
            </a:r>
          </a:p>
        </p:txBody>
      </p:sp>
      <p:sp>
        <p:nvSpPr>
          <p:cNvPr id="31" name="Oval 30"/>
          <p:cNvSpPr/>
          <p:nvPr/>
        </p:nvSpPr>
        <p:spPr>
          <a:xfrm>
            <a:off x="10104119" y="1783080"/>
            <a:ext cx="292608" cy="292608"/>
          </a:xfrm>
          <a:prstGeom prst="ellipse">
            <a:avLst/>
          </a:prstGeom>
          <a:solidFill>
            <a:srgbClr val="E87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399" y="224028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E47"/>
                </a:solidFill>
                <a:latin typeface="Yu Gothic"/>
              </a:rPr>
              <a:t>6/09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9" y="256946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32A"/>
                </a:solidFill>
                <a:latin typeface="Yu Gothic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9" y="2880360"/>
            <a:ext cx="1600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B56"/>
                </a:solidFill>
                <a:latin typeface="Yu Gothic"/>
              </a:rPr>
              <a:t>今日の発表用にストーリー化、写真差し替え枠を確定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212080"/>
            <a:ext cx="10744200" cy="566928"/>
          </a:xfrm>
          <a:prstGeom prst="rect">
            <a:avLst/>
          </a:prstGeom>
          <a:solidFill>
            <a:srgbClr val="FFF6E8"/>
          </a:solidFill>
          <a:ln w="10160">
            <a:solidFill>
              <a:srgbClr val="E87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376672"/>
            <a:ext cx="9875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32A"/>
                </a:solidFill>
                <a:latin typeface="Yu Gothic"/>
              </a:rPr>
              <a:t>学び: 視覚・カメラ・VFX は “軽く足す” ほど危ない。AAA 事例調査と実測を先に置く。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E47"/>
                </a:solidFill>
                <a:latin typeface="Yu Gothic"/>
              </a:rPr>
              <a:t>SHRINKING ISLAND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914400" cy="27432"/>
          </a:xfrm>
          <a:prstGeom prst="rect">
            <a:avLst/>
          </a:prstGeom>
          <a:solidFill>
            <a:srgbClr val="E87E47"/>
          </a:solidFill>
          <a:ln>
            <a:solidFill>
              <a:srgbClr val="E87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232A"/>
                </a:solidFill>
                <a:latin typeface="Yu Gothic"/>
              </a:rPr>
              <a:t>縮む島は、ただ逃げる床から “衝突が起きるコース” へ変えた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3737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B56"/>
                </a:solidFill>
                <a:latin typeface="Yu Gothic"/>
              </a:rPr>
              <a:t>4</a:t>
            </a:r>
          </a:p>
        </p:txBody>
      </p:sp>
      <p:pic>
        <p:nvPicPr>
          <p:cNvPr id="6" name="Picture 5" descr="codex_progress_2026-06-09_game_view.png"/>
          <p:cNvPicPr>
            <a:picLocks noChangeAspect="1"/>
          </p:cNvPicPr>
          <p:nvPr/>
        </p:nvPicPr>
        <p:blipFill>
          <a:blip r:embed="rId2"/>
          <a:srcRect l="8099" r="8099"/>
          <a:stretch>
            <a:fillRect/>
          </a:stretch>
        </p:blipFill>
        <p:spPr>
          <a:xfrm>
            <a:off x="658368" y="1444752"/>
            <a:ext cx="745236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66760" y="1444752"/>
            <a:ext cx="3154680" cy="5029200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828800"/>
            <a:ext cx="2514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32A"/>
                </a:solidFill>
                <a:latin typeface="Yu Gothic"/>
              </a:defRPr>
            </a:pPr>
            <a:r>
              <a:t>• 四隅の島: 序盤の安全地帯</a:t>
            </a:r>
          </a:p>
          <a:p>
            <a:pPr>
              <a:spcAft>
                <a:spcPts val="500"/>
              </a:spcAft>
              <a:defRPr sz="1400">
                <a:solidFill>
                  <a:srgbClr val="23232A"/>
                </a:solidFill>
                <a:latin typeface="Yu Gothic"/>
              </a:defRPr>
            </a:pPr>
            <a:r>
              <a:t>• 細い橋: 交差・body block・dash 判断</a:t>
            </a:r>
          </a:p>
          <a:p>
            <a:pPr>
              <a:spcAft>
                <a:spcPts val="500"/>
              </a:spcAft>
              <a:defRPr sz="1400">
                <a:solidFill>
                  <a:srgbClr val="23232A"/>
                </a:solidFill>
                <a:latin typeface="Yu Gothic"/>
              </a:defRPr>
            </a:pPr>
            <a:r>
              <a:t>• 中央 2x2: 終盤の衝突圧力</a:t>
            </a:r>
          </a:p>
          <a:p>
            <a:pPr>
              <a:spcAft>
                <a:spcPts val="500"/>
              </a:spcAft>
              <a:defRPr sz="1400">
                <a:solidFill>
                  <a:srgbClr val="23232A"/>
                </a:solidFill>
                <a:latin typeface="Yu Gothic"/>
              </a:defRPr>
            </a:pPr>
            <a:r>
              <a:t>• 復帰 launcher: 落下後も中心へ戻る導線</a:t>
            </a:r>
          </a:p>
          <a:p>
            <a:pPr>
              <a:spcAft>
                <a:spcPts val="500"/>
              </a:spcAft>
              <a:defRPr sz="1400">
                <a:solidFill>
                  <a:srgbClr val="23232A"/>
                </a:solidFill>
                <a:latin typeface="Yu Gothic"/>
              </a:defRPr>
            </a:pPr>
            <a:r>
              <a:t>• 低い blocker: 押し合いと回り込みを発生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3648" y="5742432"/>
            <a:ext cx="242316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7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23376" y="5811012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E47"/>
                </a:solidFill>
                <a:latin typeface="Yu Gothic"/>
              </a:rPr>
              <a:t>差し替え候補: 2人Play中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E47"/>
                </a:solidFill>
                <a:latin typeface="Yu Gothic"/>
              </a:rPr>
              <a:t>GAMEPLAY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914400" cy="27432"/>
          </a:xfrm>
          <a:prstGeom prst="rect">
            <a:avLst/>
          </a:prstGeom>
          <a:solidFill>
            <a:srgbClr val="E87E47"/>
          </a:solidFill>
          <a:ln>
            <a:solidFill>
              <a:srgbClr val="E87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232A"/>
                </a:solidFill>
                <a:latin typeface="Yu Gothic"/>
              </a:rPr>
              <a:t>安全へ走るほど、他プレイヤーとぶつかる設計に寄せた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3737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B56"/>
                </a:solidFill>
                <a:latin typeface="Yu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2240280" cy="2057400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7E47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9339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A"/>
                </a:solidFill>
                <a:latin typeface="Yu Gothic"/>
              </a:rPr>
              <a:t>Corner Islands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78608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5B56"/>
                </a:solidFill>
                <a:latin typeface="Yu Gothic"/>
              </a:rPr>
              <a:t>まず安全に動ける
ただし早く消える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578608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3AAB1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240280" cy="2057400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9933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7E47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99339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A"/>
                </a:solidFill>
                <a:latin typeface="Yu Gothic"/>
              </a:rPr>
              <a:t>Risk Bridges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578608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5B56"/>
                </a:solidFill>
                <a:latin typeface="Yu Gothic"/>
              </a:rPr>
              <a:t>最短ルートだが狭い
接触・押し出しが起きる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2578608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3AAB1"/>
                </a:solidFill>
                <a:latin typeface="Y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1828800"/>
            <a:ext cx="2240280" cy="2057400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7" y="19933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7E47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199339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A"/>
                </a:solidFill>
                <a:latin typeface="Yu Gothic"/>
              </a:rPr>
              <a:t>Final Center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578608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5B56"/>
                </a:solidFill>
                <a:latin typeface="Yu Gothic"/>
              </a:rPr>
              <a:t>最後は逃げ場が小さい
中心 camping を防ぐ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7" y="2578608"/>
            <a:ext cx="3840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3AAB1"/>
                </a:solidFill>
                <a:latin typeface="Y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3999" y="1828800"/>
            <a:ext cx="2240280" cy="2057400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7" y="199339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7E47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199" y="199339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32A"/>
                </a:solidFill>
                <a:latin typeface="Yu Gothic"/>
              </a:rPr>
              <a:t>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578608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5B56"/>
                </a:solidFill>
                <a:latin typeface="Yu Gothic"/>
              </a:rPr>
              <a:t>launcher で復帰
また中央へ戻される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709160"/>
            <a:ext cx="10287000" cy="685800"/>
          </a:xfrm>
          <a:prstGeom prst="rect">
            <a:avLst/>
          </a:prstGeom>
          <a:solidFill>
            <a:srgbClr val="FFF6E8"/>
          </a:solidFill>
          <a:ln w="10160">
            <a:solidFill>
              <a:srgbClr val="E87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93776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32A"/>
                </a:solidFill>
                <a:latin typeface="Yu Gothic"/>
              </a:rPr>
              <a:t>評価質問: 10秒以内に目的が伝わるか / 1ラウンドで事故が2回以上起きるか / KOが納得できるか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E47"/>
                </a:solidFill>
                <a:latin typeface="Yu Gothic"/>
              </a:rPr>
              <a:t>CHARACTER FEEL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914400" cy="27432"/>
          </a:xfrm>
          <a:prstGeom prst="rect">
            <a:avLst/>
          </a:prstGeom>
          <a:solidFill>
            <a:srgbClr val="E87E47"/>
          </a:solidFill>
          <a:ln>
            <a:solidFill>
              <a:srgbClr val="E87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232A"/>
                </a:solidFill>
                <a:latin typeface="Yu Gothic"/>
              </a:rPr>
              <a:t>EGGYBOT は足・表情・カメラの違和感を減らして、操作の土台を固めた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3737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B56"/>
                </a:solidFill>
                <a:latin typeface="Yu Gothic"/>
              </a:rPr>
              <a:t>6</a:t>
            </a:r>
          </a:p>
        </p:txBody>
      </p:sp>
      <p:pic>
        <p:nvPicPr>
          <p:cNvPr id="6" name="Picture 5" descr="eggybot_capture_final.png"/>
          <p:cNvPicPr>
            <a:picLocks noChangeAspect="1"/>
          </p:cNvPicPr>
          <p:nvPr/>
        </p:nvPicPr>
        <p:blipFill>
          <a:blip r:embed="rId2"/>
          <a:srcRect l="10811" r="10811"/>
          <a:stretch>
            <a:fillRect/>
          </a:stretch>
        </p:blipFill>
        <p:spPr>
          <a:xfrm>
            <a:off x="658368" y="1325880"/>
            <a:ext cx="3977639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74920" y="1426464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E47"/>
                </a:solidFill>
                <a:latin typeface="Yu Gothic"/>
              </a:rPr>
              <a:t>Foot v3e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426464"/>
            <a:ext cx="4572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A"/>
                </a:solidFill>
                <a:latin typeface="Yu Gothic"/>
              </a:rPr>
              <a:t>固定 offset ではなく、毎フレ foot bottom を床で clamp。Animator 揺れに耐える。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505456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3AAB1"/>
                </a:solidFill>
                <a:latin typeface="Yu Gothic"/>
              </a:rPr>
              <a:t>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05456"/>
            <a:ext cx="4572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A"/>
                </a:solidFill>
                <a:latin typeface="Yu Gothic"/>
              </a:rPr>
              <a:t>停止 / 歩き / ダッシュ / ジャンプで口を切替。移動状態が見た目で伝わる。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584448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E47"/>
                </a:solidFill>
                <a:latin typeface="Yu Gothic"/>
              </a:rPr>
              <a:t>Camera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584448"/>
            <a:ext cx="4572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A"/>
                </a:solidFill>
                <a:latin typeface="Yu Gothic"/>
              </a:rPr>
              <a:t>FOV punch と impulse は撤退。速度感は camera ではなく VFX + animation で出す。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4663440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3AAB1"/>
                </a:solidFill>
                <a:latin typeface="Yu Gothic"/>
              </a:rPr>
              <a:t>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663440"/>
            <a:ext cx="4572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32A"/>
                </a:solidFill>
                <a:latin typeface="Yu Gothic"/>
              </a:rPr>
              <a:t>Always Run + Walk modifier。通常移動の入力負荷を下げ、TPS 操作に寄せる。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E47"/>
                </a:solidFill>
                <a:latin typeface="Yu Gothic"/>
              </a:rPr>
              <a:t>QUALITY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914400" cy="27432"/>
          </a:xfrm>
          <a:prstGeom prst="rect">
            <a:avLst/>
          </a:prstGeom>
          <a:solidFill>
            <a:srgbClr val="E87E47"/>
          </a:solidFill>
          <a:ln>
            <a:solidFill>
              <a:srgbClr val="E87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232A"/>
                </a:solidFill>
                <a:latin typeface="Yu Gothic"/>
              </a:rPr>
              <a:t>直した理由を docs / review に残し、同じ誤診を減らした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3737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B56"/>
                </a:solidFill>
                <a:latin typeface="Yu Gothic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5257800" cy="4407408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55648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E47"/>
                </a:solidFill>
                <a:latin typeface="Yu Gothic"/>
              </a:rPr>
              <a:t>発見した罠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526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32A"/>
                </a:solidFill>
                <a:latin typeface="Yu Gothic"/>
              </a:defRPr>
            </a:pPr>
            <a:r>
              <a:t>• enabled=false でも public method 呼出は止まらない</a:t>
            </a:r>
          </a:p>
          <a:p>
            <a:pPr>
              <a:spcAft>
                <a:spcPts val="500"/>
              </a:spcAft>
              <a:defRPr sz="1300">
                <a:solidFill>
                  <a:srgbClr val="23232A"/>
                </a:solidFill>
                <a:latin typeface="Yu Gothic"/>
              </a:defRPr>
            </a:pPr>
            <a:r>
              <a:t>• Cinemachine は edit-mode の Camera transform を上書きする</a:t>
            </a:r>
          </a:p>
          <a:p>
            <a:pPr>
              <a:spcAft>
                <a:spcPts val="500"/>
              </a:spcAft>
              <a:defRPr sz="1300">
                <a:solidFill>
                  <a:srgbClr val="23232A"/>
                </a:solidFill>
                <a:latin typeface="Yu Gothic"/>
              </a:defRPr>
            </a:pPr>
            <a:r>
              <a:t>• Tile の MaterialPropertyBlock は reload 後に stale になり得る</a:t>
            </a:r>
          </a:p>
          <a:p>
            <a:pPr>
              <a:spcAft>
                <a:spcPts val="500"/>
              </a:spcAft>
              <a:defRPr sz="1300">
                <a:solidFill>
                  <a:srgbClr val="23232A"/>
                </a:solidFill>
                <a:latin typeface="Yu Gothic"/>
              </a:defRPr>
            </a:pPr>
            <a:r>
              <a:t>• rounded mesh は低角度で side face が崩れる場合がある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9088" y="1481328"/>
            <a:ext cx="4736592" cy="4407408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1755648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3AAB1"/>
                </a:solidFill>
                <a:latin typeface="Yu Gothic"/>
              </a:rPr>
              <a:t>品質管理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2212848"/>
            <a:ext cx="4160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32A"/>
                </a:solidFill>
                <a:latin typeface="Yu Gothic"/>
              </a:defRPr>
            </a:pPr>
            <a:r>
              <a:t>• AI review loop: HIGH/MEDIUM を commit 前に潰す</a:t>
            </a:r>
          </a:p>
          <a:p>
            <a:pPr>
              <a:spcAft>
                <a:spcPts val="500"/>
              </a:spcAft>
              <a:defRPr sz="1300">
                <a:solidFill>
                  <a:srgbClr val="23232A"/>
                </a:solidFill>
                <a:latin typeface="Yu Gothic"/>
              </a:defRPr>
            </a:pPr>
            <a:r>
              <a:t>• R1/R2: visual / camera / VFX は AAA deep dive 先行</a:t>
            </a:r>
          </a:p>
          <a:p>
            <a:pPr>
              <a:spcAft>
                <a:spcPts val="500"/>
              </a:spcAft>
              <a:defRPr sz="1300">
                <a:solidFill>
                  <a:srgbClr val="23232A"/>
                </a:solidFill>
                <a:latin typeface="Yu Gothic"/>
              </a:defRPr>
            </a:pPr>
            <a:r>
              <a:t>• Codex handoff: Editor 作業と commit 判断を分離</a:t>
            </a:r>
          </a:p>
          <a:p>
            <a:pPr>
              <a:spcAft>
                <a:spcPts val="500"/>
              </a:spcAft>
              <a:defRPr sz="1300">
                <a:solidFill>
                  <a:srgbClr val="23232A"/>
                </a:solidFill>
                <a:latin typeface="Yu Gothic"/>
              </a:defRPr>
            </a:pPr>
            <a:r>
              <a:t>• User Play test: 視覚・体感の最終判断を明確化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6080760"/>
            <a:ext cx="9966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F5B56"/>
                </a:solidFill>
                <a:latin typeface="Yu Gothic"/>
              </a:rPr>
              <a:t>結果: 速く作るより、失敗の再発条件を潰す方針に切り替えた。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E47"/>
                </a:solidFill>
                <a:latin typeface="Yu Gothic"/>
              </a:rPr>
              <a:t>NEXT SPRINT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914400" cy="27432"/>
          </a:xfrm>
          <a:prstGeom prst="rect">
            <a:avLst/>
          </a:prstGeom>
          <a:solidFill>
            <a:srgbClr val="E87E47"/>
          </a:solidFill>
          <a:ln>
            <a:solidFill>
              <a:srgbClr val="E87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3232A"/>
                </a:solidFill>
                <a:latin typeface="Yu Gothic"/>
              </a:rPr>
              <a:t>次は M3: スキル 3 種とドラフト UI を、縮む島の遊びに接続する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3737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5B56"/>
                </a:solidFill>
                <a:latin typeface="Yu Gothi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08760"/>
            <a:ext cx="384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87E47"/>
                </a:solidFill>
                <a:latin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32A"/>
                </a:solidFill>
                <a:latin typeface="Yu Gothic"/>
              </a:rPr>
              <a:t>Skill 3 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508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5B56"/>
                </a:solidFill>
                <a:latin typeface="Yu Gothic"/>
              </a:rPr>
              <a:t>dash / jump_boost / pulse を ShrinkingIsland の接触・復帰・押し出しに接続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43200"/>
            <a:ext cx="384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87E47"/>
                </a:solidFill>
                <a:latin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43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32A"/>
                </a:solidFill>
                <a:latin typeface="Yu Gothic"/>
              </a:rPr>
              <a:t>Draft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743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5B56"/>
                </a:solidFill>
                <a:latin typeface="Yu Gothic"/>
              </a:rPr>
              <a:t>短時間で選べる見た目、2人以上で同じ進行が見える同期設計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77639"/>
            <a:ext cx="384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87E47"/>
                </a:solidFill>
                <a:latin typeface="Yu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7763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32A"/>
                </a:solidFill>
                <a:latin typeface="Yu Gothic"/>
              </a:rPr>
              <a:t>Playtest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977639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5B56"/>
                </a:solidFill>
                <a:latin typeface="Yu Gothic"/>
              </a:rPr>
              <a:t>2人 ParrelSync で “事故が起きるか” と “納得できるKOか” を確認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5230368"/>
            <a:ext cx="4846320" cy="914400"/>
          </a:xfrm>
          <a:prstGeom prst="rect">
            <a:avLst/>
          </a:prstGeom>
          <a:solidFill>
            <a:srgbClr val="FFFBF2"/>
          </a:solidFill>
          <a:ln w="10160">
            <a:solidFill>
              <a:srgbClr val="CAB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546811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7E47"/>
                </a:solidFill>
                <a:latin typeface="Yu Gothic"/>
              </a:rPr>
              <a:t>写真差し替え優先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5468112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5B56"/>
                </a:solidFill>
                <a:latin typeface="Yu Gothic"/>
              </a:rPr>
              <a:t>Play中の warning / 2人テスト / BouncePad 接触の3枚があると発表が強い。</a:t>
            </a:r>
          </a:p>
        </p:txBody>
      </p:sp>
      <p:pic>
        <p:nvPicPr>
          <p:cNvPr id="18" name="Picture 17" descr="preview.png"/>
          <p:cNvPicPr>
            <a:picLocks noChangeAspect="1"/>
          </p:cNvPicPr>
          <p:nvPr/>
        </p:nvPicPr>
        <p:blipFill>
          <a:blip r:embed="rId2"/>
          <a:srcRect t="6452" b="6452"/>
          <a:stretch>
            <a:fillRect/>
          </a:stretch>
        </p:blipFill>
        <p:spPr>
          <a:xfrm>
            <a:off x="8961120" y="4828032"/>
            <a:ext cx="1417320" cy="1234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69880" y="5230368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F5B56"/>
                </a:solidFill>
                <a:latin typeface="Yu Gothic"/>
              </a:rPr>
              <a:t>Meshy beacon
検証中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